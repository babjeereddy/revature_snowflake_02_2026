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16B9-AB61-E4E0-B3E3-7BD51A732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Bigquery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EF3D1-7F5D-5A36-21F4-3FC9A6BDEA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79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D3DCC1-1B4E-8CC0-D343-45BE941A9217}"/>
              </a:ext>
            </a:extLst>
          </p:cNvPr>
          <p:cNvSpPr txBox="1"/>
          <p:nvPr/>
        </p:nvSpPr>
        <p:spPr>
          <a:xfrm>
            <a:off x="905774" y="1250830"/>
            <a:ext cx="823606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Agenda 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What is </a:t>
            </a:r>
            <a:r>
              <a:rPr lang="en-US" dirty="0" err="1"/>
              <a:t>BigQuery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Architecture + Serverless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Project vs Dataset vs Table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Types of tables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Partitioning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2691819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D3DCC1-1B4E-8CC0-D343-45BE941A9217}"/>
              </a:ext>
            </a:extLst>
          </p:cNvPr>
          <p:cNvSpPr txBox="1"/>
          <p:nvPr/>
        </p:nvSpPr>
        <p:spPr>
          <a:xfrm>
            <a:off x="293298" y="205040"/>
            <a:ext cx="877090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is </a:t>
            </a:r>
            <a:r>
              <a:rPr lang="en-IN" b="1" dirty="0" err="1"/>
              <a:t>BigQuery</a:t>
            </a:r>
            <a:r>
              <a:rPr lang="en-IN" b="1" dirty="0"/>
              <a:t>? (8–10 minutes)</a:t>
            </a:r>
          </a:p>
          <a:p>
            <a:br>
              <a:rPr lang="en-IN" dirty="0"/>
            </a:br>
            <a:r>
              <a:rPr lang="en-IN" dirty="0"/>
              <a:t>“</a:t>
            </a:r>
            <a:r>
              <a:rPr lang="en-IN" dirty="0" err="1"/>
              <a:t>BigQuery</a:t>
            </a:r>
            <a:r>
              <a:rPr lang="en-IN" dirty="0"/>
              <a:t> is Google Cloud’s </a:t>
            </a:r>
            <a:r>
              <a:rPr lang="en-IN" b="1" dirty="0"/>
              <a:t>serverless, fully managed data warehouse</a:t>
            </a:r>
            <a:r>
              <a:rPr lang="en-IN" dirty="0"/>
              <a:t>. It stores huge data and lets you </a:t>
            </a:r>
            <a:r>
              <a:rPr lang="en-IN" dirty="0" err="1"/>
              <a:t>analyze</a:t>
            </a:r>
            <a:r>
              <a:rPr lang="en-IN" dirty="0"/>
              <a:t> it using </a:t>
            </a:r>
            <a:r>
              <a:rPr lang="en-IN" b="1" dirty="0"/>
              <a:t>SQL</a:t>
            </a:r>
            <a:r>
              <a:rPr lang="en-IN" dirty="0"/>
              <a:t> very fast.”</a:t>
            </a:r>
          </a:p>
          <a:p>
            <a:endParaRPr lang="en-IN" b="1" dirty="0"/>
          </a:p>
          <a:p>
            <a:r>
              <a:rPr lang="en-IN" b="1" dirty="0"/>
              <a:t>Where </a:t>
            </a:r>
            <a:r>
              <a:rPr lang="en-IN" b="1" dirty="0" err="1"/>
              <a:t>BigQuery</a:t>
            </a:r>
            <a:r>
              <a:rPr lang="en-IN" b="1" dirty="0"/>
              <a:t> is used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Reporting and dashboards (Power BI/Looker/Tableau)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Ad-hoc SQL analytics (analysts, finance, operations)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Log/event analytics (website/app events)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Data engineering analytics layer (lake → warehouse)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ML feature analytics / aggregations for ML pipelines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US" b="1" dirty="0"/>
              <a:t>Key beginner-friendly points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No servers to manage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Handles </a:t>
            </a:r>
            <a:r>
              <a:rPr lang="en-US" b="1" dirty="0"/>
              <a:t>large-scale data</a:t>
            </a:r>
            <a:r>
              <a:rPr lang="en-US" dirty="0"/>
              <a:t> (GB → TB → PB)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Standard SQL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You pay mainly for: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Storage</a:t>
            </a:r>
            <a:r>
              <a:rPr lang="en-US" dirty="0"/>
              <a:t> (data kept)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Query processing</a:t>
            </a:r>
            <a:r>
              <a:rPr lang="en-US" dirty="0"/>
              <a:t> (data scanned) OR capacity model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52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D3DCC1-1B4E-8CC0-D343-45BE941A9217}"/>
              </a:ext>
            </a:extLst>
          </p:cNvPr>
          <p:cNvSpPr txBox="1"/>
          <p:nvPr/>
        </p:nvSpPr>
        <p:spPr>
          <a:xfrm>
            <a:off x="293298" y="205040"/>
            <a:ext cx="8770907" cy="678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500" b="1" dirty="0" err="1"/>
              <a:t>BigQuery</a:t>
            </a:r>
            <a:r>
              <a:rPr lang="en-IN" sz="1500" b="1" dirty="0"/>
              <a:t> Architecture + “Serverless” </a:t>
            </a:r>
          </a:p>
          <a:p>
            <a:pPr>
              <a:spcBef>
                <a:spcPts val="600"/>
              </a:spcBef>
            </a:pPr>
            <a:r>
              <a:rPr lang="en-IN" sz="1500" dirty="0"/>
              <a:t>“</a:t>
            </a:r>
            <a:r>
              <a:rPr lang="en-IN" sz="1500" dirty="0" err="1"/>
              <a:t>BigQuery</a:t>
            </a:r>
            <a:r>
              <a:rPr lang="en-IN" sz="1500" dirty="0"/>
              <a:t> works like three layers: </a:t>
            </a:r>
            <a:r>
              <a:rPr lang="en-IN" sz="1500" b="1" dirty="0"/>
              <a:t>Storage</a:t>
            </a:r>
            <a:r>
              <a:rPr lang="en-IN" sz="1500" dirty="0"/>
              <a:t>, </a:t>
            </a:r>
            <a:r>
              <a:rPr lang="en-IN" sz="1500" b="1" dirty="0"/>
              <a:t>Compute</a:t>
            </a:r>
            <a:r>
              <a:rPr lang="en-IN" sz="1500" dirty="0"/>
              <a:t>, and </a:t>
            </a:r>
            <a:r>
              <a:rPr lang="en-IN" sz="1500" b="1" dirty="0"/>
              <a:t>Metadata/Control</a:t>
            </a:r>
            <a:r>
              <a:rPr lang="en-IN" sz="1500" dirty="0"/>
              <a:t>.”</a:t>
            </a:r>
          </a:p>
          <a:p>
            <a:pPr>
              <a:spcBef>
                <a:spcPts val="600"/>
              </a:spcBef>
            </a:pPr>
            <a:r>
              <a:rPr lang="en-IN" sz="1500" b="1" dirty="0"/>
              <a:t>A) Storage layer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Data stored in Google’s distributed storage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b="1" dirty="0"/>
              <a:t>Columnar format</a:t>
            </a:r>
            <a:r>
              <a:rPr lang="en-IN" sz="1500" dirty="0"/>
              <a:t> (reads only required columns)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Supports: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 err="1"/>
              <a:t>BigQuery</a:t>
            </a:r>
            <a:r>
              <a:rPr lang="en-IN" sz="1500" dirty="0"/>
              <a:t>-managed tables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External data (e.g., Google Cloud Storage)</a:t>
            </a:r>
          </a:p>
          <a:p>
            <a:pPr>
              <a:spcBef>
                <a:spcPts val="600"/>
              </a:spcBef>
            </a:pPr>
            <a:r>
              <a:rPr lang="en-IN" sz="1500" b="1" dirty="0"/>
              <a:t>B) Compute / Query Engine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Runs SQL queries using distributed execution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It splits a query into many parallel tasks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Fast because: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columnar reads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parallel processing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smart optimization</a:t>
            </a:r>
          </a:p>
          <a:p>
            <a:pPr>
              <a:spcBef>
                <a:spcPts val="600"/>
              </a:spcBef>
            </a:pPr>
            <a:r>
              <a:rPr lang="en-IN" sz="1500" b="1" dirty="0"/>
              <a:t>C) Metadata / Control layer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Manages: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schema (columns, data types)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permissions (IAM)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jobs (query/load/export)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500" dirty="0"/>
              <a:t>partition &amp; clustering metadata</a:t>
            </a:r>
          </a:p>
          <a:p>
            <a:pPr>
              <a:spcBef>
                <a:spcPts val="600"/>
              </a:spcBef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170246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D3DCC1-1B4E-8CC0-D343-45BE941A9217}"/>
              </a:ext>
            </a:extLst>
          </p:cNvPr>
          <p:cNvSpPr txBox="1"/>
          <p:nvPr/>
        </p:nvSpPr>
        <p:spPr>
          <a:xfrm>
            <a:off x="293298" y="205040"/>
            <a:ext cx="8770907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Project vs Dataset vs Table (8–10 minutes)</a:t>
            </a:r>
          </a:p>
          <a:p>
            <a:pPr>
              <a:spcBef>
                <a:spcPts val="600"/>
              </a:spcBef>
            </a:pPr>
            <a:r>
              <a:rPr lang="en-US" dirty="0"/>
              <a:t>“</a:t>
            </a:r>
            <a:r>
              <a:rPr lang="en-US" dirty="0" err="1"/>
              <a:t>BigQuery</a:t>
            </a:r>
            <a:r>
              <a:rPr lang="en-US" dirty="0"/>
              <a:t> data is organized like this:</a:t>
            </a:r>
            <a:br>
              <a:rPr lang="en-US" dirty="0"/>
            </a:br>
            <a:r>
              <a:rPr lang="en-US" b="1" dirty="0"/>
              <a:t>Project → Dataset → Table</a:t>
            </a:r>
            <a:r>
              <a:rPr lang="en-US" dirty="0"/>
              <a:t>”</a:t>
            </a:r>
          </a:p>
          <a:p>
            <a:pPr>
              <a:spcBef>
                <a:spcPts val="600"/>
              </a:spcBef>
            </a:pPr>
            <a:r>
              <a:rPr lang="en-US" b="1" dirty="0"/>
              <a:t>Project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Top-level container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Billing + permissions live here</a:t>
            </a:r>
          </a:p>
          <a:p>
            <a:pPr>
              <a:spcBef>
                <a:spcPts val="600"/>
              </a:spcBef>
            </a:pPr>
            <a:r>
              <a:rPr lang="en-US" b="1" dirty="0"/>
              <a:t>Dataset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Inside a project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Groups related tables/views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Has </a:t>
            </a:r>
            <a:r>
              <a:rPr lang="en-US" b="1" dirty="0"/>
              <a:t>location</a:t>
            </a:r>
            <a:r>
              <a:rPr lang="en-US" dirty="0"/>
              <a:t> (US/EU/region)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Has dataset-level access controls</a:t>
            </a:r>
          </a:p>
          <a:p>
            <a:pPr>
              <a:spcBef>
                <a:spcPts val="600"/>
              </a:spcBef>
            </a:pPr>
            <a:r>
              <a:rPr lang="en-US" b="1" dirty="0"/>
              <a:t>Table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Actual data (rows and columns)</a:t>
            </a:r>
          </a:p>
          <a:p>
            <a:pPr>
              <a:spcBef>
                <a:spcPts val="600"/>
              </a:spcBef>
            </a:pPr>
            <a:r>
              <a:rPr lang="en-US" b="1" dirty="0"/>
              <a:t>Best analogy (simple)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Project</a:t>
            </a:r>
            <a:r>
              <a:rPr lang="en-US" dirty="0"/>
              <a:t> = Company building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Dataset</a:t>
            </a:r>
            <a:r>
              <a:rPr lang="en-US" dirty="0"/>
              <a:t> = Department floor (Sales floor, Finance floor)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Table</a:t>
            </a:r>
            <a:r>
              <a:rPr lang="en-US" dirty="0"/>
              <a:t> = Filing cabinet (Orders, Customers)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443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D3DCC1-1B4E-8CC0-D343-45BE941A9217}"/>
              </a:ext>
            </a:extLst>
          </p:cNvPr>
          <p:cNvSpPr txBox="1"/>
          <p:nvPr/>
        </p:nvSpPr>
        <p:spPr>
          <a:xfrm>
            <a:off x="293298" y="205040"/>
            <a:ext cx="8770907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Tables in </a:t>
            </a:r>
            <a:r>
              <a:rPr lang="en-US" b="1" dirty="0" err="1"/>
              <a:t>BigQuery</a:t>
            </a:r>
            <a:r>
              <a:rPr lang="en-US" b="1" dirty="0"/>
              <a:t> </a:t>
            </a:r>
          </a:p>
          <a:p>
            <a:pPr>
              <a:spcBef>
                <a:spcPts val="600"/>
              </a:spcBef>
            </a:pPr>
            <a:r>
              <a:rPr lang="en-US" dirty="0"/>
              <a:t>“</a:t>
            </a:r>
            <a:r>
              <a:rPr lang="en-US" dirty="0" err="1"/>
              <a:t>BigQuery</a:t>
            </a:r>
            <a:r>
              <a:rPr lang="en-US" dirty="0"/>
              <a:t> supports multiple table-like objects.  Managed table External table”</a:t>
            </a:r>
          </a:p>
          <a:p>
            <a:pPr>
              <a:spcBef>
                <a:spcPts val="600"/>
              </a:spcBef>
            </a:pPr>
            <a:r>
              <a:rPr lang="en-US" b="1" dirty="0"/>
              <a:t>1) Native / Managed table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Stored inside </a:t>
            </a:r>
            <a:r>
              <a:rPr lang="en-US" dirty="0" err="1"/>
              <a:t>BigQuery</a:t>
            </a:r>
            <a:r>
              <a:rPr lang="en-US" dirty="0"/>
              <a:t> storage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Best performance for analytics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partitioning &amp; clustering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dirty="0"/>
              <a:t>CREATE TABLE `training-</a:t>
            </a:r>
            <a:r>
              <a:rPr lang="en-US" sz="1600" dirty="0" err="1"/>
              <a:t>demo.sales.customers</a:t>
            </a:r>
            <a:r>
              <a:rPr lang="en-US" sz="1600" dirty="0"/>
              <a:t>` (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customer_id</a:t>
            </a:r>
            <a:r>
              <a:rPr lang="en-US" sz="1600" dirty="0"/>
              <a:t> INT64,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customer_name</a:t>
            </a:r>
            <a:r>
              <a:rPr lang="en-US" sz="1600" dirty="0"/>
              <a:t> STRING,</a:t>
            </a:r>
          </a:p>
          <a:p>
            <a:r>
              <a:rPr lang="en-US" sz="1600" dirty="0"/>
              <a:t>  city STRING,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created_at</a:t>
            </a:r>
            <a:r>
              <a:rPr lang="en-US" sz="1600" dirty="0"/>
              <a:t> TIMESTAMP );</a:t>
            </a:r>
          </a:p>
          <a:p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External table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stays outside (usually </a:t>
            </a:r>
            <a:r>
              <a:rPr lang="en-US" b="1" dirty="0"/>
              <a:t>Google Cloud Storage</a:t>
            </a:r>
            <a:r>
              <a:rPr lang="en-US" dirty="0"/>
              <a:t>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BigQuery</a:t>
            </a:r>
            <a:r>
              <a:rPr lang="en-US" dirty="0"/>
              <a:t> reads it without loading into native storage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Best file formats: </a:t>
            </a:r>
            <a:r>
              <a:rPr lang="en-US" b="1" dirty="0"/>
              <a:t>Parquet/Avro</a:t>
            </a:r>
            <a:r>
              <a:rPr lang="en-US" dirty="0"/>
              <a:t> (faster than CSV)</a:t>
            </a:r>
          </a:p>
          <a:p>
            <a:endParaRPr lang="en-US" dirty="0"/>
          </a:p>
          <a:p>
            <a:r>
              <a:rPr lang="en-US" sz="1600" dirty="0"/>
              <a:t>CREATE EXTERNAL TABLE `training-</a:t>
            </a:r>
            <a:r>
              <a:rPr lang="en-US" sz="1600" dirty="0" err="1"/>
              <a:t>demo.sales.ext_orders</a:t>
            </a:r>
            <a:r>
              <a:rPr lang="en-US" sz="1600" dirty="0"/>
              <a:t>`</a:t>
            </a:r>
          </a:p>
          <a:p>
            <a:r>
              <a:rPr lang="en-US" sz="1600" dirty="0"/>
              <a:t>OPTIONS (</a:t>
            </a:r>
          </a:p>
          <a:p>
            <a:r>
              <a:rPr lang="en-US" sz="1600" dirty="0"/>
              <a:t>  format = 'PARQUET',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uris</a:t>
            </a:r>
            <a:r>
              <a:rPr lang="en-US" sz="1600" dirty="0"/>
              <a:t> = ['</a:t>
            </a:r>
            <a:r>
              <a:rPr lang="en-US" sz="1600" dirty="0" err="1"/>
              <a:t>gs</a:t>
            </a:r>
            <a:r>
              <a:rPr lang="en-US" sz="1600" dirty="0"/>
              <a:t>://my-bucket/orders/*.parquet’]  );</a:t>
            </a:r>
          </a:p>
          <a:p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96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4C81D9-F3DE-2FAB-C3EA-6B8B4BA760B6}"/>
              </a:ext>
            </a:extLst>
          </p:cNvPr>
          <p:cNvSpPr txBox="1"/>
          <p:nvPr/>
        </p:nvSpPr>
        <p:spPr>
          <a:xfrm>
            <a:off x="163902" y="284672"/>
            <a:ext cx="897794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View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Saved SQL query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Doesn’t store data (reads base tables)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Good for security + reusable logic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dirty="0"/>
              <a:t>CREATE VIEW `training-</a:t>
            </a:r>
            <a:r>
              <a:rPr lang="en-US" sz="1600" dirty="0" err="1"/>
              <a:t>demo.sales.vw_big_orders</a:t>
            </a:r>
            <a:r>
              <a:rPr lang="en-US" sz="1600" dirty="0"/>
              <a:t>` AS</a:t>
            </a:r>
          </a:p>
          <a:p>
            <a:r>
              <a:rPr lang="en-US" sz="1600" dirty="0"/>
              <a:t>SELECT *</a:t>
            </a:r>
          </a:p>
          <a:p>
            <a:r>
              <a:rPr lang="en-US" sz="1600" dirty="0"/>
              <a:t>FROM `training-</a:t>
            </a:r>
            <a:r>
              <a:rPr lang="en-US" sz="1600" dirty="0" err="1"/>
              <a:t>demo.sales.orders</a:t>
            </a:r>
            <a:r>
              <a:rPr lang="en-US" sz="1600" dirty="0"/>
              <a:t>`  WHERE amount &gt; 10000;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Materialized View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Stores precomputed results (like cached aggregation)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Faster for repeated aggregate queries</a:t>
            </a:r>
          </a:p>
          <a:p>
            <a:endParaRPr lang="en-US" dirty="0"/>
          </a:p>
          <a:p>
            <a:r>
              <a:rPr lang="en-US" sz="1600" dirty="0"/>
              <a:t>CREATE MATERIALIZED VIEW `training-</a:t>
            </a:r>
            <a:r>
              <a:rPr lang="en-US" sz="1600" dirty="0" err="1"/>
              <a:t>demo.sales.mv_daily_sales</a:t>
            </a:r>
            <a:r>
              <a:rPr lang="en-US" sz="1600" dirty="0"/>
              <a:t>` AS</a:t>
            </a:r>
          </a:p>
          <a:p>
            <a:r>
              <a:rPr lang="en-US" sz="1600" dirty="0"/>
              <a:t>SELECT </a:t>
            </a:r>
            <a:r>
              <a:rPr lang="en-US" sz="1600" dirty="0" err="1"/>
              <a:t>order_date</a:t>
            </a:r>
            <a:r>
              <a:rPr lang="en-US" sz="1600" dirty="0"/>
              <a:t>, SUM(amount) AS </a:t>
            </a:r>
            <a:r>
              <a:rPr lang="en-US" sz="1600" dirty="0" err="1"/>
              <a:t>total_sales</a:t>
            </a:r>
            <a:endParaRPr lang="en-US" sz="1600" dirty="0"/>
          </a:p>
          <a:p>
            <a:r>
              <a:rPr lang="en-US" sz="1600" dirty="0"/>
              <a:t>FROM `training-</a:t>
            </a:r>
            <a:r>
              <a:rPr lang="en-US" sz="1600" dirty="0" err="1"/>
              <a:t>demo.sales.orders</a:t>
            </a:r>
            <a:r>
              <a:rPr lang="en-US" sz="1600" dirty="0"/>
              <a:t>`  GROUP BY </a:t>
            </a:r>
            <a:r>
              <a:rPr lang="en-US" sz="1600" dirty="0" err="1"/>
              <a:t>order_date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IN" sz="1600" dirty="0"/>
              <a:t>Temporary table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Exists during a session or script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Useful for intermediate steps</a:t>
            </a:r>
          </a:p>
          <a:p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07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4C81D9-F3DE-2FAB-C3EA-6B8B4BA760B6}"/>
              </a:ext>
            </a:extLst>
          </p:cNvPr>
          <p:cNvSpPr txBox="1"/>
          <p:nvPr/>
        </p:nvSpPr>
        <p:spPr>
          <a:xfrm>
            <a:off x="163902" y="284672"/>
            <a:ext cx="10964173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Partitioning 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What is partitioning?</a:t>
            </a:r>
          </a:p>
          <a:p>
            <a:pPr>
              <a:spcBef>
                <a:spcPts val="600"/>
              </a:spcBef>
            </a:pPr>
            <a:r>
              <a:rPr lang="en-US" dirty="0"/>
              <a:t>“Partitioning splits a large table into smaller ‘date buckets’ or ranges. This reduces data scanned → reduces cost and improves speed.”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Why it matters (cost impact)</a:t>
            </a:r>
          </a:p>
          <a:p>
            <a:pPr>
              <a:spcBef>
                <a:spcPts val="600"/>
              </a:spcBef>
            </a:pPr>
            <a:r>
              <a:rPr lang="en-US" dirty="0"/>
              <a:t>	</a:t>
            </a:r>
            <a:r>
              <a:rPr lang="en-US" dirty="0" err="1"/>
              <a:t>BigQuery</a:t>
            </a:r>
            <a:r>
              <a:rPr lang="en-US" dirty="0"/>
              <a:t> charges per data processed in queries (in on-demand model).</a:t>
            </a:r>
            <a:br>
              <a:rPr lang="en-US" dirty="0"/>
            </a:br>
            <a:r>
              <a:rPr lang="en-US" dirty="0"/>
              <a:t>	Partitioning lets </a:t>
            </a:r>
            <a:r>
              <a:rPr lang="en-US" dirty="0" err="1"/>
              <a:t>BigQuery</a:t>
            </a:r>
            <a:r>
              <a:rPr lang="en-US" dirty="0"/>
              <a:t> scan only relevant partitions.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Partitioning types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A) Ingestion-time partitioning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Partitioned by when data is loaded into </a:t>
            </a:r>
            <a:r>
              <a:rPr lang="en-US" dirty="0" err="1"/>
              <a:t>BigQuery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Useful when no reliable date column exists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-- Table partitioned by ingestion time (conceptual)</a:t>
            </a:r>
          </a:p>
          <a:p>
            <a:pPr>
              <a:spcBef>
                <a:spcPts val="600"/>
              </a:spcBef>
            </a:pPr>
            <a:r>
              <a:rPr lang="en-US" dirty="0"/>
              <a:t>-- Queries filter using _PARTITIONDATE or _PARTITIONTIME</a:t>
            </a:r>
          </a:p>
          <a:p>
            <a:pPr>
              <a:spcBef>
                <a:spcPts val="600"/>
              </a:spcBef>
            </a:pPr>
            <a:r>
              <a:rPr lang="en-US" dirty="0"/>
              <a:t>SELECT COUNT(*)</a:t>
            </a:r>
          </a:p>
          <a:p>
            <a:pPr>
              <a:spcBef>
                <a:spcPts val="600"/>
              </a:spcBef>
            </a:pPr>
            <a:r>
              <a:rPr lang="en-US" dirty="0"/>
              <a:t>FROM `</a:t>
            </a:r>
            <a:r>
              <a:rPr lang="en-US" dirty="0" err="1"/>
              <a:t>project.dataset.table</a:t>
            </a:r>
            <a:r>
              <a:rPr lang="en-US" dirty="0"/>
              <a:t>`</a:t>
            </a:r>
          </a:p>
          <a:p>
            <a:pPr>
              <a:spcBef>
                <a:spcPts val="600"/>
              </a:spcBef>
            </a:pPr>
            <a:r>
              <a:rPr lang="en-US" dirty="0"/>
              <a:t>WHERE _PARTITIONDATE = DATE('2026-02-14');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211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4C81D9-F3DE-2FAB-C3EA-6B8B4BA760B6}"/>
              </a:ext>
            </a:extLst>
          </p:cNvPr>
          <p:cNvSpPr txBox="1"/>
          <p:nvPr/>
        </p:nvSpPr>
        <p:spPr>
          <a:xfrm>
            <a:off x="86264" y="94891"/>
            <a:ext cx="10964173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Column-based partitioning (DATE/TIMESTAMP)</a:t>
            </a:r>
          </a:p>
          <a:p>
            <a:pPr>
              <a:spcBef>
                <a:spcPts val="600"/>
              </a:spcBef>
            </a:pPr>
            <a:r>
              <a:rPr lang="en-US" dirty="0"/>
              <a:t>Most common. Partition by a date/timestamp column like </a:t>
            </a:r>
            <a:r>
              <a:rPr lang="en-US" dirty="0" err="1"/>
              <a:t>order_date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dirty="0"/>
              <a:t>CREATE TABLE `training-</a:t>
            </a:r>
            <a:r>
              <a:rPr lang="en-US" dirty="0" err="1"/>
              <a:t>demo.sales.orders_part</a:t>
            </a:r>
            <a:r>
              <a:rPr lang="en-US" dirty="0"/>
              <a:t>`</a:t>
            </a:r>
          </a:p>
          <a:p>
            <a:pPr>
              <a:spcBef>
                <a:spcPts val="600"/>
              </a:spcBef>
            </a:pPr>
            <a:r>
              <a:rPr lang="en-US" dirty="0"/>
              <a:t>(</a:t>
            </a:r>
          </a:p>
          <a:p>
            <a:pPr>
              <a:spcBef>
                <a:spcPts val="600"/>
              </a:spcBef>
            </a:pPr>
            <a:r>
              <a:rPr lang="en-US" dirty="0"/>
              <a:t>  </a:t>
            </a:r>
            <a:r>
              <a:rPr lang="en-US" dirty="0" err="1"/>
              <a:t>order_id</a:t>
            </a:r>
            <a:r>
              <a:rPr lang="en-US" dirty="0"/>
              <a:t> INT64,</a:t>
            </a:r>
          </a:p>
          <a:p>
            <a:pPr>
              <a:spcBef>
                <a:spcPts val="600"/>
              </a:spcBef>
            </a:pPr>
            <a:r>
              <a:rPr lang="en-US" dirty="0"/>
              <a:t>  </a:t>
            </a:r>
            <a:r>
              <a:rPr lang="en-US" dirty="0" err="1"/>
              <a:t>customer_id</a:t>
            </a:r>
            <a:r>
              <a:rPr lang="en-US" dirty="0"/>
              <a:t> INT64,</a:t>
            </a:r>
          </a:p>
          <a:p>
            <a:pPr>
              <a:spcBef>
                <a:spcPts val="600"/>
              </a:spcBef>
            </a:pPr>
            <a:r>
              <a:rPr lang="en-US" dirty="0"/>
              <a:t>  </a:t>
            </a:r>
            <a:r>
              <a:rPr lang="en-US" dirty="0" err="1"/>
              <a:t>order_date</a:t>
            </a:r>
            <a:r>
              <a:rPr lang="en-US" dirty="0"/>
              <a:t> DATE,</a:t>
            </a:r>
          </a:p>
          <a:p>
            <a:pPr>
              <a:spcBef>
                <a:spcPts val="600"/>
              </a:spcBef>
            </a:pPr>
            <a:r>
              <a:rPr lang="en-US" dirty="0"/>
              <a:t>  amount NUMERIC</a:t>
            </a:r>
          </a:p>
          <a:p>
            <a:pPr>
              <a:spcBef>
                <a:spcPts val="600"/>
              </a:spcBef>
            </a:pPr>
            <a:r>
              <a:rPr lang="en-US" dirty="0"/>
              <a:t>)</a:t>
            </a:r>
          </a:p>
          <a:p>
            <a:pPr>
              <a:spcBef>
                <a:spcPts val="600"/>
              </a:spcBef>
            </a:pPr>
            <a:r>
              <a:rPr lang="en-US" dirty="0"/>
              <a:t>PARTITION BY </a:t>
            </a:r>
            <a:r>
              <a:rPr lang="en-US" dirty="0" err="1"/>
              <a:t>order_date</a:t>
            </a:r>
            <a:r>
              <a:rPr lang="en-US" dirty="0"/>
              <a:t>;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IN" dirty="0"/>
              <a:t>Query with partition pruning:</a:t>
            </a:r>
          </a:p>
          <a:p>
            <a:pPr>
              <a:spcBef>
                <a:spcPts val="600"/>
              </a:spcBef>
            </a:pPr>
            <a:r>
              <a:rPr lang="en-US" dirty="0"/>
              <a:t>SELECT SUM(amount) AS </a:t>
            </a:r>
            <a:r>
              <a:rPr lang="en-US" dirty="0" err="1"/>
              <a:t>total_sales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FROM `training-</a:t>
            </a:r>
            <a:r>
              <a:rPr lang="en-US" dirty="0" err="1"/>
              <a:t>demo.sales.orders_part</a:t>
            </a:r>
            <a:r>
              <a:rPr lang="en-US" dirty="0"/>
              <a:t>`</a:t>
            </a:r>
          </a:p>
          <a:p>
            <a:pPr>
              <a:spcBef>
                <a:spcPts val="600"/>
              </a:spcBef>
            </a:pPr>
            <a:r>
              <a:rPr lang="en-US" dirty="0"/>
              <a:t>WHERE </a:t>
            </a:r>
            <a:r>
              <a:rPr lang="en-US" dirty="0" err="1"/>
              <a:t>order_date</a:t>
            </a:r>
            <a:r>
              <a:rPr lang="en-US" dirty="0"/>
              <a:t> BETWEEN DATE('2026-02-01') AND DATE('2026-02-14');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269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4C81D9-F3DE-2FAB-C3EA-6B8B4BA760B6}"/>
              </a:ext>
            </a:extLst>
          </p:cNvPr>
          <p:cNvSpPr txBox="1"/>
          <p:nvPr/>
        </p:nvSpPr>
        <p:spPr>
          <a:xfrm>
            <a:off x="86264" y="94891"/>
            <a:ext cx="10964173" cy="537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Integer range partitioning</a:t>
            </a:r>
          </a:p>
          <a:p>
            <a:r>
              <a:rPr lang="en-US" dirty="0"/>
              <a:t>Useful when partitioning by numeric IDs or ranges (e.g., </a:t>
            </a:r>
            <a:r>
              <a:rPr lang="en-US" dirty="0" err="1"/>
              <a:t>store_id</a:t>
            </a:r>
            <a:r>
              <a:rPr lang="en-US" dirty="0"/>
              <a:t>, </a:t>
            </a:r>
            <a:r>
              <a:rPr lang="en-US" dirty="0" err="1"/>
              <a:t>customer_id</a:t>
            </a:r>
            <a:r>
              <a:rPr lang="en-US" dirty="0"/>
              <a:t> ranges).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sz="1400" dirty="0"/>
              <a:t>CREATE TABLE `training-</a:t>
            </a:r>
            <a:r>
              <a:rPr lang="en-US" sz="1400" dirty="0" err="1"/>
              <a:t>demo.sales.orders_range_part</a:t>
            </a:r>
            <a:r>
              <a:rPr lang="en-US" sz="1400" dirty="0"/>
              <a:t>`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(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</a:t>
            </a:r>
            <a:r>
              <a:rPr lang="en-US" sz="1400" dirty="0" err="1"/>
              <a:t>order_id</a:t>
            </a:r>
            <a:r>
              <a:rPr lang="en-US" sz="1400" dirty="0"/>
              <a:t> INT64,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</a:t>
            </a:r>
            <a:r>
              <a:rPr lang="en-US" sz="1400" dirty="0" err="1"/>
              <a:t>store_id</a:t>
            </a:r>
            <a:r>
              <a:rPr lang="en-US" sz="1400" dirty="0"/>
              <a:t> INT64,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amount NUMERIC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PARTITION BY RANGE_BUCKET(</a:t>
            </a:r>
            <a:r>
              <a:rPr lang="en-US" sz="1400" dirty="0" err="1"/>
              <a:t>store_id</a:t>
            </a:r>
            <a:r>
              <a:rPr lang="en-US" sz="1400" dirty="0"/>
              <a:t>, GENERATE_ARRAY(1, 1000, 50));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r>
              <a:rPr lang="en-US" sz="1400" b="1" dirty="0"/>
              <a:t>When to use partitioning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Very large tables (millions/billions rows)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Queries commonly filter by date/time or range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Log/event data, sales orders, transactions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1467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{6BFCF6F6-5EFA-4FBA-ABD5-73D3F45E9686}TFb5ae2469-0bae-4978-b0e0-39dd046150ff9a115ede-a9c3cc5252b0</Template>
  <TotalTime>61</TotalTime>
  <Words>921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Bigquery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ponnamreddybabjee@outlook.com</dc:creator>
  <cp:lastModifiedBy>ponnamreddybabjee@outlook.com</cp:lastModifiedBy>
  <cp:revision>1</cp:revision>
  <dcterms:created xsi:type="dcterms:W3CDTF">2026-02-14T00:46:19Z</dcterms:created>
  <dcterms:modified xsi:type="dcterms:W3CDTF">2026-02-14T01:47:26Z</dcterms:modified>
</cp:coreProperties>
</file>