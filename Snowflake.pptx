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89"/>
  </p:notesMasterIdLst>
  <p:sldIdLst>
    <p:sldId id="256" r:id="rId2"/>
    <p:sldId id="257" r:id="rId3"/>
    <p:sldId id="258" r:id="rId4"/>
    <p:sldId id="259" r:id="rId5"/>
    <p:sldId id="269" r:id="rId6"/>
    <p:sldId id="264" r:id="rId7"/>
    <p:sldId id="270" r:id="rId8"/>
    <p:sldId id="271" r:id="rId9"/>
    <p:sldId id="272" r:id="rId10"/>
    <p:sldId id="265" r:id="rId11"/>
    <p:sldId id="266" r:id="rId12"/>
    <p:sldId id="268" r:id="rId13"/>
    <p:sldId id="273" r:id="rId14"/>
    <p:sldId id="274" r:id="rId15"/>
    <p:sldId id="275" r:id="rId16"/>
    <p:sldId id="276" r:id="rId17"/>
    <p:sldId id="277" r:id="rId18"/>
    <p:sldId id="278" r:id="rId19"/>
    <p:sldId id="279" r:id="rId20"/>
    <p:sldId id="280" r:id="rId21"/>
    <p:sldId id="267" r:id="rId22"/>
    <p:sldId id="281" r:id="rId23"/>
    <p:sldId id="282" r:id="rId24"/>
    <p:sldId id="283" r:id="rId25"/>
    <p:sldId id="284" r:id="rId26"/>
    <p:sldId id="286" r:id="rId27"/>
    <p:sldId id="285" r:id="rId28"/>
    <p:sldId id="287" r:id="rId29"/>
    <p:sldId id="288" r:id="rId30"/>
    <p:sldId id="289" r:id="rId31"/>
    <p:sldId id="290" r:id="rId32"/>
    <p:sldId id="291" r:id="rId33"/>
    <p:sldId id="292" r:id="rId34"/>
    <p:sldId id="293" r:id="rId35"/>
    <p:sldId id="294" r:id="rId36"/>
    <p:sldId id="295" r:id="rId37"/>
    <p:sldId id="296" r:id="rId38"/>
    <p:sldId id="297" r:id="rId39"/>
    <p:sldId id="298" r:id="rId40"/>
    <p:sldId id="299" r:id="rId41"/>
    <p:sldId id="300" r:id="rId42"/>
    <p:sldId id="301" r:id="rId43"/>
    <p:sldId id="302" r:id="rId44"/>
    <p:sldId id="303" r:id="rId45"/>
    <p:sldId id="305" r:id="rId46"/>
    <p:sldId id="306" r:id="rId47"/>
    <p:sldId id="304" r:id="rId48"/>
    <p:sldId id="307" r:id="rId49"/>
    <p:sldId id="308" r:id="rId50"/>
    <p:sldId id="309" r:id="rId51"/>
    <p:sldId id="310" r:id="rId52"/>
    <p:sldId id="311" r:id="rId53"/>
    <p:sldId id="312" r:id="rId54"/>
    <p:sldId id="313" r:id="rId55"/>
    <p:sldId id="314" r:id="rId56"/>
    <p:sldId id="315" r:id="rId57"/>
    <p:sldId id="336" r:id="rId58"/>
    <p:sldId id="335" r:id="rId59"/>
    <p:sldId id="337" r:id="rId60"/>
    <p:sldId id="338" r:id="rId61"/>
    <p:sldId id="339" r:id="rId62"/>
    <p:sldId id="340" r:id="rId63"/>
    <p:sldId id="341" r:id="rId64"/>
    <p:sldId id="316" r:id="rId65"/>
    <p:sldId id="317" r:id="rId66"/>
    <p:sldId id="318" r:id="rId67"/>
    <p:sldId id="319" r:id="rId68"/>
    <p:sldId id="320" r:id="rId69"/>
    <p:sldId id="321" r:id="rId70"/>
    <p:sldId id="322" r:id="rId71"/>
    <p:sldId id="323" r:id="rId72"/>
    <p:sldId id="324" r:id="rId73"/>
    <p:sldId id="325" r:id="rId74"/>
    <p:sldId id="326" r:id="rId75"/>
    <p:sldId id="327" r:id="rId76"/>
    <p:sldId id="328" r:id="rId77"/>
    <p:sldId id="329" r:id="rId78"/>
    <p:sldId id="330" r:id="rId79"/>
    <p:sldId id="331" r:id="rId80"/>
    <p:sldId id="332" r:id="rId81"/>
    <p:sldId id="333" r:id="rId82"/>
    <p:sldId id="334" r:id="rId83"/>
    <p:sldId id="342" r:id="rId84"/>
    <p:sldId id="343" r:id="rId85"/>
    <p:sldId id="344" r:id="rId86"/>
    <p:sldId id="345" r:id="rId87"/>
    <p:sldId id="346" r:id="rId8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notesMaster" Target="notesMasters/notesMaster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presProps" Target="presProp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theme" Target="theme/theme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onnamreddybabjee@outlook.com" userId="3e261792aa522278" providerId="LiveId" clId="{764AFAE7-0BDF-456A-9B3C-8402A943D376}"/>
    <pc:docChg chg="undo custSel addSld delSld modSld sldOrd">
      <pc:chgData name="ponnamreddybabjee@outlook.com" userId="3e261792aa522278" providerId="LiveId" clId="{764AFAE7-0BDF-456A-9B3C-8402A943D376}" dt="2026-01-03T06:17:03.324" v="619" actId="1035"/>
      <pc:docMkLst>
        <pc:docMk/>
      </pc:docMkLst>
      <pc:sldChg chg="addSp delSp modSp add mod">
        <pc:chgData name="ponnamreddybabjee@outlook.com" userId="3e261792aa522278" providerId="LiveId" clId="{764AFAE7-0BDF-456A-9B3C-8402A943D376}" dt="2025-12-27T10:13:22.166" v="34" actId="948"/>
        <pc:sldMkLst>
          <pc:docMk/>
          <pc:sldMk cId="3784240192" sldId="316"/>
        </pc:sldMkLst>
        <pc:spChg chg="del">
          <ac:chgData name="ponnamreddybabjee@outlook.com" userId="3e261792aa522278" providerId="LiveId" clId="{764AFAE7-0BDF-456A-9B3C-8402A943D376}" dt="2025-12-27T10:09:53.741" v="1" actId="478"/>
          <ac:spMkLst>
            <pc:docMk/>
            <pc:sldMk cId="3784240192" sldId="316"/>
            <ac:spMk id="3" creationId="{37C55B64-9DD9-30BB-9565-07D9BD1EBF20}"/>
          </ac:spMkLst>
        </pc:spChg>
        <pc:spChg chg="mod">
          <ac:chgData name="ponnamreddybabjee@outlook.com" userId="3e261792aa522278" providerId="LiveId" clId="{764AFAE7-0BDF-456A-9B3C-8402A943D376}" dt="2025-12-27T10:11:30.755" v="9"/>
          <ac:spMkLst>
            <pc:docMk/>
            <pc:sldMk cId="3784240192" sldId="316"/>
            <ac:spMk id="6" creationId="{1B12E08B-88C8-3FE8-4BE4-10AF2733B63C}"/>
          </ac:spMkLst>
        </pc:spChg>
        <pc:spChg chg="add mod">
          <ac:chgData name="ponnamreddybabjee@outlook.com" userId="3e261792aa522278" providerId="LiveId" clId="{764AFAE7-0BDF-456A-9B3C-8402A943D376}" dt="2025-12-27T10:13:22.166" v="34" actId="948"/>
          <ac:spMkLst>
            <pc:docMk/>
            <pc:sldMk cId="3784240192" sldId="316"/>
            <ac:spMk id="7" creationId="{6DC19B96-2835-17A4-CFB2-58FEC065D059}"/>
          </ac:spMkLst>
        </pc:spChg>
        <pc:spChg chg="del">
          <ac:chgData name="ponnamreddybabjee@outlook.com" userId="3e261792aa522278" providerId="LiveId" clId="{764AFAE7-0BDF-456A-9B3C-8402A943D376}" dt="2025-12-27T10:10:05.249" v="4" actId="478"/>
          <ac:spMkLst>
            <pc:docMk/>
            <pc:sldMk cId="3784240192" sldId="316"/>
            <ac:spMk id="9" creationId="{5572230D-F1CF-53C2-DB2D-3D1347954179}"/>
          </ac:spMkLst>
        </pc:spChg>
        <pc:spChg chg="add del mod">
          <ac:chgData name="ponnamreddybabjee@outlook.com" userId="3e261792aa522278" providerId="LiveId" clId="{764AFAE7-0BDF-456A-9B3C-8402A943D376}" dt="2025-12-27T10:12:35.151" v="21" actId="22"/>
          <ac:spMkLst>
            <pc:docMk/>
            <pc:sldMk cId="3784240192" sldId="316"/>
            <ac:spMk id="10" creationId="{2815CD9B-4918-E239-9E3C-542FC677303C}"/>
          </ac:spMkLst>
        </pc:spChg>
        <pc:graphicFrameChg chg="del">
          <ac:chgData name="ponnamreddybabjee@outlook.com" userId="3e261792aa522278" providerId="LiveId" clId="{764AFAE7-0BDF-456A-9B3C-8402A943D376}" dt="2025-12-27T10:09:57.391" v="2" actId="478"/>
          <ac:graphicFrameMkLst>
            <pc:docMk/>
            <pc:sldMk cId="3784240192" sldId="316"/>
            <ac:graphicFrameMk id="2" creationId="{57682F7A-3E1C-0963-CC61-ED4DA87B3214}"/>
          </ac:graphicFrameMkLst>
        </pc:graphicFrameChg>
        <pc:graphicFrameChg chg="del">
          <ac:chgData name="ponnamreddybabjee@outlook.com" userId="3e261792aa522278" providerId="LiveId" clId="{764AFAE7-0BDF-456A-9B3C-8402A943D376}" dt="2025-12-27T10:10:01.650" v="3" actId="478"/>
          <ac:graphicFrameMkLst>
            <pc:docMk/>
            <pc:sldMk cId="3784240192" sldId="316"/>
            <ac:graphicFrameMk id="5" creationId="{7971D2F9-941E-7A22-9A3D-0888181CE7F2}"/>
          </ac:graphicFrameMkLst>
        </pc:graphicFrameChg>
      </pc:sldChg>
      <pc:sldChg chg="addSp delSp modSp add mod">
        <pc:chgData name="ponnamreddybabjee@outlook.com" userId="3e261792aa522278" providerId="LiveId" clId="{764AFAE7-0BDF-456A-9B3C-8402A943D376}" dt="2026-01-03T06:17:03.324" v="619" actId="1035"/>
        <pc:sldMkLst>
          <pc:docMk/>
          <pc:sldMk cId="641454217" sldId="317"/>
        </pc:sldMkLst>
        <pc:spChg chg="add">
          <ac:chgData name="ponnamreddybabjee@outlook.com" userId="3e261792aa522278" providerId="LiveId" clId="{764AFAE7-0BDF-456A-9B3C-8402A943D376}" dt="2025-12-27T10:14:19.158" v="37"/>
          <ac:spMkLst>
            <pc:docMk/>
            <pc:sldMk cId="641454217" sldId="317"/>
            <ac:spMk id="2" creationId="{80974920-A599-1B14-8E6D-A6D87A1687B9}"/>
          </ac:spMkLst>
        </pc:spChg>
        <pc:spChg chg="add mod">
          <ac:chgData name="ponnamreddybabjee@outlook.com" userId="3e261792aa522278" providerId="LiveId" clId="{764AFAE7-0BDF-456A-9B3C-8402A943D376}" dt="2025-12-27T10:14:28.259" v="41"/>
          <ac:spMkLst>
            <pc:docMk/>
            <pc:sldMk cId="641454217" sldId="317"/>
            <ac:spMk id="3" creationId="{5FD95CAD-9384-89E0-D1A9-27B2463CFB2B}"/>
          </ac:spMkLst>
        </pc:spChg>
        <pc:spChg chg="del">
          <ac:chgData name="ponnamreddybabjee@outlook.com" userId="3e261792aa522278" providerId="LiveId" clId="{764AFAE7-0BDF-456A-9B3C-8402A943D376}" dt="2025-12-27T10:14:16.297" v="36" actId="478"/>
          <ac:spMkLst>
            <pc:docMk/>
            <pc:sldMk cId="641454217" sldId="317"/>
            <ac:spMk id="7" creationId="{6DC19B96-2835-17A4-CFB2-58FEC065D059}"/>
          </ac:spMkLst>
        </pc:spChg>
        <pc:spChg chg="add mod">
          <ac:chgData name="ponnamreddybabjee@outlook.com" userId="3e261792aa522278" providerId="LiveId" clId="{764AFAE7-0BDF-456A-9B3C-8402A943D376}" dt="2025-12-27T10:22:31.452" v="64" actId="1076"/>
          <ac:spMkLst>
            <pc:docMk/>
            <pc:sldMk cId="641454217" sldId="317"/>
            <ac:spMk id="8" creationId="{B371D336-6F52-3CB0-0AD6-40821B2509F7}"/>
          </ac:spMkLst>
        </pc:spChg>
        <pc:picChg chg="add mod">
          <ac:chgData name="ponnamreddybabjee@outlook.com" userId="3e261792aa522278" providerId="LiveId" clId="{764AFAE7-0BDF-456A-9B3C-8402A943D376}" dt="2026-01-03T06:17:03.324" v="619" actId="1035"/>
          <ac:picMkLst>
            <pc:docMk/>
            <pc:sldMk cId="641454217" sldId="317"/>
            <ac:picMk id="5" creationId="{110BDB72-8311-504C-4A98-939224AD1C66}"/>
          </ac:picMkLst>
        </pc:picChg>
      </pc:sldChg>
      <pc:sldChg chg="addSp delSp modSp add mod">
        <pc:chgData name="ponnamreddybabjee@outlook.com" userId="3e261792aa522278" providerId="LiveId" clId="{764AFAE7-0BDF-456A-9B3C-8402A943D376}" dt="2025-12-27T10:29:23.679" v="84" actId="113"/>
        <pc:sldMkLst>
          <pc:docMk/>
          <pc:sldMk cId="2718995461" sldId="318"/>
        </pc:sldMkLst>
        <pc:spChg chg="add">
          <ac:chgData name="ponnamreddybabjee@outlook.com" userId="3e261792aa522278" providerId="LiveId" clId="{764AFAE7-0BDF-456A-9B3C-8402A943D376}" dt="2025-12-27T10:19:48.657" v="52"/>
          <ac:spMkLst>
            <pc:docMk/>
            <pc:sldMk cId="2718995461" sldId="318"/>
            <ac:spMk id="3" creationId="{565CEEA1-2D7B-DB55-8BBA-97E383CF8151}"/>
          </ac:spMkLst>
        </pc:spChg>
        <pc:spChg chg="add mod">
          <ac:chgData name="ponnamreddybabjee@outlook.com" userId="3e261792aa522278" providerId="LiveId" clId="{764AFAE7-0BDF-456A-9B3C-8402A943D376}" dt="2025-12-27T10:29:23.679" v="84" actId="113"/>
          <ac:spMkLst>
            <pc:docMk/>
            <pc:sldMk cId="2718995461" sldId="318"/>
            <ac:spMk id="7" creationId="{096E077D-0032-01CF-82D6-58E50740CD8E}"/>
          </ac:spMkLst>
        </pc:spChg>
        <pc:spChg chg="add mod">
          <ac:chgData name="ponnamreddybabjee@outlook.com" userId="3e261792aa522278" providerId="LiveId" clId="{764AFAE7-0BDF-456A-9B3C-8402A943D376}" dt="2025-12-27T10:22:44.821" v="68"/>
          <ac:spMkLst>
            <pc:docMk/>
            <pc:sldMk cId="2718995461" sldId="318"/>
            <ac:spMk id="8" creationId="{58E3588A-2331-CA93-67DA-A892B5AF8935}"/>
          </ac:spMkLst>
        </pc:spChg>
        <pc:spChg chg="add">
          <ac:chgData name="ponnamreddybabjee@outlook.com" userId="3e261792aa522278" providerId="LiveId" clId="{764AFAE7-0BDF-456A-9B3C-8402A943D376}" dt="2025-12-27T10:24:15.585" v="69"/>
          <ac:spMkLst>
            <pc:docMk/>
            <pc:sldMk cId="2718995461" sldId="318"/>
            <ac:spMk id="9" creationId="{BCE73FE1-9BD7-128D-1195-1F93FDFD2881}"/>
          </ac:spMkLst>
        </pc:spChg>
        <pc:spChg chg="add">
          <ac:chgData name="ponnamreddybabjee@outlook.com" userId="3e261792aa522278" providerId="LiveId" clId="{764AFAE7-0BDF-456A-9B3C-8402A943D376}" dt="2025-12-27T10:24:15.585" v="69"/>
          <ac:spMkLst>
            <pc:docMk/>
            <pc:sldMk cId="2718995461" sldId="318"/>
            <ac:spMk id="10" creationId="{0B613E22-9215-03BF-FBC2-6555965F20EF}"/>
          </ac:spMkLst>
        </pc:spChg>
        <pc:spChg chg="add">
          <ac:chgData name="ponnamreddybabjee@outlook.com" userId="3e261792aa522278" providerId="LiveId" clId="{764AFAE7-0BDF-456A-9B3C-8402A943D376}" dt="2025-12-27T10:24:15.585" v="69"/>
          <ac:spMkLst>
            <pc:docMk/>
            <pc:sldMk cId="2718995461" sldId="318"/>
            <ac:spMk id="11" creationId="{814AA6D9-2B8A-69C4-E691-9C27EB7BEF94}"/>
          </ac:spMkLst>
        </pc:spChg>
        <pc:spChg chg="add">
          <ac:chgData name="ponnamreddybabjee@outlook.com" userId="3e261792aa522278" providerId="LiveId" clId="{764AFAE7-0BDF-456A-9B3C-8402A943D376}" dt="2025-12-27T10:24:15.585" v="69"/>
          <ac:spMkLst>
            <pc:docMk/>
            <pc:sldMk cId="2718995461" sldId="318"/>
            <ac:spMk id="12" creationId="{CFE9FC63-CD16-93FD-2066-B2DC4A1E3958}"/>
          </ac:spMkLst>
        </pc:spChg>
        <pc:spChg chg="add">
          <ac:chgData name="ponnamreddybabjee@outlook.com" userId="3e261792aa522278" providerId="LiveId" clId="{764AFAE7-0BDF-456A-9B3C-8402A943D376}" dt="2025-12-27T10:24:15.585" v="69"/>
          <ac:spMkLst>
            <pc:docMk/>
            <pc:sldMk cId="2718995461" sldId="318"/>
            <ac:spMk id="13" creationId="{5B0A92BB-33EC-28C1-849C-358B866C2B26}"/>
          </ac:spMkLst>
        </pc:spChg>
        <pc:picChg chg="del">
          <ac:chgData name="ponnamreddybabjee@outlook.com" userId="3e261792aa522278" providerId="LiveId" clId="{764AFAE7-0BDF-456A-9B3C-8402A943D376}" dt="2025-12-27T10:19:47.398" v="51" actId="478"/>
          <ac:picMkLst>
            <pc:docMk/>
            <pc:sldMk cId="2718995461" sldId="318"/>
            <ac:picMk id="5" creationId="{110BDB72-8311-504C-4A98-939224AD1C66}"/>
          </ac:picMkLst>
        </pc:picChg>
      </pc:sldChg>
      <pc:sldChg chg="modSp add mod">
        <pc:chgData name="ponnamreddybabjee@outlook.com" userId="3e261792aa522278" providerId="LiveId" clId="{764AFAE7-0BDF-456A-9B3C-8402A943D376}" dt="2025-12-27T10:42:51.169" v="152" actId="113"/>
        <pc:sldMkLst>
          <pc:docMk/>
          <pc:sldMk cId="1047238042" sldId="319"/>
        </pc:sldMkLst>
        <pc:spChg chg="mod">
          <ac:chgData name="ponnamreddybabjee@outlook.com" userId="3e261792aa522278" providerId="LiveId" clId="{764AFAE7-0BDF-456A-9B3C-8402A943D376}" dt="2025-12-27T10:42:51.169" v="152" actId="113"/>
          <ac:spMkLst>
            <pc:docMk/>
            <pc:sldMk cId="1047238042" sldId="319"/>
            <ac:spMk id="7" creationId="{096E077D-0032-01CF-82D6-58E50740CD8E}"/>
          </ac:spMkLst>
        </pc:spChg>
      </pc:sldChg>
      <pc:sldChg chg="addSp modSp add mod">
        <pc:chgData name="ponnamreddybabjee@outlook.com" userId="3e261792aa522278" providerId="LiveId" clId="{764AFAE7-0BDF-456A-9B3C-8402A943D376}" dt="2025-12-27T10:31:59.075" v="104" actId="12"/>
        <pc:sldMkLst>
          <pc:docMk/>
          <pc:sldMk cId="1763484011" sldId="320"/>
        </pc:sldMkLst>
        <pc:spChg chg="add">
          <ac:chgData name="ponnamreddybabjee@outlook.com" userId="3e261792aa522278" providerId="LiveId" clId="{764AFAE7-0BDF-456A-9B3C-8402A943D376}" dt="2025-12-27T10:30:19.007" v="95"/>
          <ac:spMkLst>
            <pc:docMk/>
            <pc:sldMk cId="1763484011" sldId="320"/>
            <ac:spMk id="3" creationId="{7D327275-208B-2A59-9B2A-421B46255630}"/>
          </ac:spMkLst>
        </pc:spChg>
        <pc:spChg chg="add">
          <ac:chgData name="ponnamreddybabjee@outlook.com" userId="3e261792aa522278" providerId="LiveId" clId="{764AFAE7-0BDF-456A-9B3C-8402A943D376}" dt="2025-12-27T10:30:19.007" v="95"/>
          <ac:spMkLst>
            <pc:docMk/>
            <pc:sldMk cId="1763484011" sldId="320"/>
            <ac:spMk id="4" creationId="{64BFB3A4-0E3B-62B6-3344-DF53E690DAE0}"/>
          </ac:spMkLst>
        </pc:spChg>
        <pc:spChg chg="add">
          <ac:chgData name="ponnamreddybabjee@outlook.com" userId="3e261792aa522278" providerId="LiveId" clId="{764AFAE7-0BDF-456A-9B3C-8402A943D376}" dt="2025-12-27T10:30:19.007" v="95"/>
          <ac:spMkLst>
            <pc:docMk/>
            <pc:sldMk cId="1763484011" sldId="320"/>
            <ac:spMk id="5" creationId="{9BAD4DFC-70CA-2742-E4C0-6D6F8F4CE708}"/>
          </ac:spMkLst>
        </pc:spChg>
        <pc:spChg chg="mod">
          <ac:chgData name="ponnamreddybabjee@outlook.com" userId="3e261792aa522278" providerId="LiveId" clId="{764AFAE7-0BDF-456A-9B3C-8402A943D376}" dt="2025-12-27T10:31:59.075" v="104" actId="12"/>
          <ac:spMkLst>
            <pc:docMk/>
            <pc:sldMk cId="1763484011" sldId="320"/>
            <ac:spMk id="7" creationId="{096E077D-0032-01CF-82D6-58E50740CD8E}"/>
          </ac:spMkLst>
        </pc:spChg>
      </pc:sldChg>
      <pc:sldChg chg="modSp add mod">
        <pc:chgData name="ponnamreddybabjee@outlook.com" userId="3e261792aa522278" providerId="LiveId" clId="{764AFAE7-0BDF-456A-9B3C-8402A943D376}" dt="2025-12-27T10:33:43.554" v="118" actId="113"/>
        <pc:sldMkLst>
          <pc:docMk/>
          <pc:sldMk cId="268146003" sldId="321"/>
        </pc:sldMkLst>
        <pc:spChg chg="mod">
          <ac:chgData name="ponnamreddybabjee@outlook.com" userId="3e261792aa522278" providerId="LiveId" clId="{764AFAE7-0BDF-456A-9B3C-8402A943D376}" dt="2025-12-27T10:33:43.554" v="118" actId="113"/>
          <ac:spMkLst>
            <pc:docMk/>
            <pc:sldMk cId="268146003" sldId="321"/>
            <ac:spMk id="7" creationId="{096E077D-0032-01CF-82D6-58E50740CD8E}"/>
          </ac:spMkLst>
        </pc:spChg>
      </pc:sldChg>
      <pc:sldChg chg="modSp add mod">
        <pc:chgData name="ponnamreddybabjee@outlook.com" userId="3e261792aa522278" providerId="LiveId" clId="{764AFAE7-0BDF-456A-9B3C-8402A943D376}" dt="2025-12-27T10:35:31.747" v="133" actId="113"/>
        <pc:sldMkLst>
          <pc:docMk/>
          <pc:sldMk cId="1305085191" sldId="322"/>
        </pc:sldMkLst>
        <pc:spChg chg="mod">
          <ac:chgData name="ponnamreddybabjee@outlook.com" userId="3e261792aa522278" providerId="LiveId" clId="{764AFAE7-0BDF-456A-9B3C-8402A943D376}" dt="2025-12-27T10:35:31.747" v="133" actId="113"/>
          <ac:spMkLst>
            <pc:docMk/>
            <pc:sldMk cId="1305085191" sldId="322"/>
            <ac:spMk id="7" creationId="{096E077D-0032-01CF-82D6-58E50740CD8E}"/>
          </ac:spMkLst>
        </pc:spChg>
      </pc:sldChg>
      <pc:sldChg chg="addSp delSp modSp add mod">
        <pc:chgData name="ponnamreddybabjee@outlook.com" userId="3e261792aa522278" providerId="LiveId" clId="{764AFAE7-0BDF-456A-9B3C-8402A943D376}" dt="2025-12-27T10:36:10.012" v="139" actId="113"/>
        <pc:sldMkLst>
          <pc:docMk/>
          <pc:sldMk cId="4128361133" sldId="323"/>
        </pc:sldMkLst>
        <pc:spChg chg="del">
          <ac:chgData name="ponnamreddybabjee@outlook.com" userId="3e261792aa522278" providerId="LiveId" clId="{764AFAE7-0BDF-456A-9B3C-8402A943D376}" dt="2025-12-27T10:35:49.933" v="135" actId="478"/>
          <ac:spMkLst>
            <pc:docMk/>
            <pc:sldMk cId="4128361133" sldId="323"/>
            <ac:spMk id="7" creationId="{096E077D-0032-01CF-82D6-58E50740CD8E}"/>
          </ac:spMkLst>
        </pc:spChg>
        <pc:graphicFrameChg chg="add mod modGraphic">
          <ac:chgData name="ponnamreddybabjee@outlook.com" userId="3e261792aa522278" providerId="LiveId" clId="{764AFAE7-0BDF-456A-9B3C-8402A943D376}" dt="2025-12-27T10:36:10.012" v="139" actId="113"/>
          <ac:graphicFrameMkLst>
            <pc:docMk/>
            <pc:sldMk cId="4128361133" sldId="323"/>
            <ac:graphicFrameMk id="3" creationId="{3BD8CE0B-8A92-B929-29A0-8D2590546AC4}"/>
          </ac:graphicFrameMkLst>
        </pc:graphicFrameChg>
      </pc:sldChg>
      <pc:sldChg chg="addSp delSp modSp add mod">
        <pc:chgData name="ponnamreddybabjee@outlook.com" userId="3e261792aa522278" providerId="LiveId" clId="{764AFAE7-0BDF-456A-9B3C-8402A943D376}" dt="2025-12-27T10:44:38.446" v="162" actId="14100"/>
        <pc:sldMkLst>
          <pc:docMk/>
          <pc:sldMk cId="833414240" sldId="324"/>
        </pc:sldMkLst>
        <pc:spChg chg="add mod">
          <ac:chgData name="ponnamreddybabjee@outlook.com" userId="3e261792aa522278" providerId="LiveId" clId="{764AFAE7-0BDF-456A-9B3C-8402A943D376}" dt="2025-12-27T10:44:38.446" v="162" actId="14100"/>
          <ac:spMkLst>
            <pc:docMk/>
            <pc:sldMk cId="833414240" sldId="324"/>
            <ac:spMk id="5" creationId="{CA8C78CF-EC1B-F527-3D52-147911E68BAD}"/>
          </ac:spMkLst>
        </pc:spChg>
        <pc:graphicFrameChg chg="del">
          <ac:chgData name="ponnamreddybabjee@outlook.com" userId="3e261792aa522278" providerId="LiveId" clId="{764AFAE7-0BDF-456A-9B3C-8402A943D376}" dt="2025-12-27T10:41:38.208" v="141" actId="478"/>
          <ac:graphicFrameMkLst>
            <pc:docMk/>
            <pc:sldMk cId="833414240" sldId="324"/>
            <ac:graphicFrameMk id="3" creationId="{3BD8CE0B-8A92-B929-29A0-8D2590546AC4}"/>
          </ac:graphicFrameMkLst>
        </pc:graphicFrameChg>
      </pc:sldChg>
      <pc:sldChg chg="modSp add mod">
        <pc:chgData name="ponnamreddybabjee@outlook.com" userId="3e261792aa522278" providerId="LiveId" clId="{764AFAE7-0BDF-456A-9B3C-8402A943D376}" dt="2025-12-27T10:45:25.626" v="169" actId="948"/>
        <pc:sldMkLst>
          <pc:docMk/>
          <pc:sldMk cId="1383958071" sldId="325"/>
        </pc:sldMkLst>
        <pc:spChg chg="mod">
          <ac:chgData name="ponnamreddybabjee@outlook.com" userId="3e261792aa522278" providerId="LiveId" clId="{764AFAE7-0BDF-456A-9B3C-8402A943D376}" dt="2025-12-27T10:45:25.626" v="169" actId="948"/>
          <ac:spMkLst>
            <pc:docMk/>
            <pc:sldMk cId="1383958071" sldId="325"/>
            <ac:spMk id="5" creationId="{CA8C78CF-EC1B-F527-3D52-147911E68BAD}"/>
          </ac:spMkLst>
        </pc:spChg>
      </pc:sldChg>
      <pc:sldChg chg="addSp modSp add mod">
        <pc:chgData name="ponnamreddybabjee@outlook.com" userId="3e261792aa522278" providerId="LiveId" clId="{764AFAE7-0BDF-456A-9B3C-8402A943D376}" dt="2025-12-27T10:50:29.600" v="200" actId="20577"/>
        <pc:sldMkLst>
          <pc:docMk/>
          <pc:sldMk cId="1384130433" sldId="326"/>
        </pc:sldMkLst>
        <pc:spChg chg="add">
          <ac:chgData name="ponnamreddybabjee@outlook.com" userId="3e261792aa522278" providerId="LiveId" clId="{764AFAE7-0BDF-456A-9B3C-8402A943D376}" dt="2025-12-27T10:49:25.530" v="180"/>
          <ac:spMkLst>
            <pc:docMk/>
            <pc:sldMk cId="1384130433" sldId="326"/>
            <ac:spMk id="3" creationId="{57795D59-BCA5-C2D0-98B8-6D6C2DBCCB33}"/>
          </ac:spMkLst>
        </pc:spChg>
        <pc:spChg chg="add">
          <ac:chgData name="ponnamreddybabjee@outlook.com" userId="3e261792aa522278" providerId="LiveId" clId="{764AFAE7-0BDF-456A-9B3C-8402A943D376}" dt="2025-12-27T10:49:25.530" v="180"/>
          <ac:spMkLst>
            <pc:docMk/>
            <pc:sldMk cId="1384130433" sldId="326"/>
            <ac:spMk id="4" creationId="{43BF015A-E33C-46DD-275F-2AE0886C4859}"/>
          </ac:spMkLst>
        </pc:spChg>
        <pc:spChg chg="mod">
          <ac:chgData name="ponnamreddybabjee@outlook.com" userId="3e261792aa522278" providerId="LiveId" clId="{764AFAE7-0BDF-456A-9B3C-8402A943D376}" dt="2025-12-27T10:50:29.600" v="200" actId="20577"/>
          <ac:spMkLst>
            <pc:docMk/>
            <pc:sldMk cId="1384130433" sldId="326"/>
            <ac:spMk id="5" creationId="{CA8C78CF-EC1B-F527-3D52-147911E68BAD}"/>
          </ac:spMkLst>
        </pc:spChg>
        <pc:spChg chg="add">
          <ac:chgData name="ponnamreddybabjee@outlook.com" userId="3e261792aa522278" providerId="LiveId" clId="{764AFAE7-0BDF-456A-9B3C-8402A943D376}" dt="2025-12-27T10:49:25.530" v="180"/>
          <ac:spMkLst>
            <pc:docMk/>
            <pc:sldMk cId="1384130433" sldId="326"/>
            <ac:spMk id="7" creationId="{BBB9CC8F-0EC2-43E0-55D2-C559B0D8912A}"/>
          </ac:spMkLst>
        </pc:spChg>
      </pc:sldChg>
      <pc:sldChg chg="addSp modSp add mod">
        <pc:chgData name="ponnamreddybabjee@outlook.com" userId="3e261792aa522278" providerId="LiveId" clId="{764AFAE7-0BDF-456A-9B3C-8402A943D376}" dt="2025-12-27T10:55:53.595" v="228" actId="20577"/>
        <pc:sldMkLst>
          <pc:docMk/>
          <pc:sldMk cId="902988184" sldId="327"/>
        </pc:sldMkLst>
        <pc:spChg chg="add">
          <ac:chgData name="ponnamreddybabjee@outlook.com" userId="3e261792aa522278" providerId="LiveId" clId="{764AFAE7-0BDF-456A-9B3C-8402A943D376}" dt="2025-12-27T10:52:27.294" v="203"/>
          <ac:spMkLst>
            <pc:docMk/>
            <pc:sldMk cId="902988184" sldId="327"/>
            <ac:spMk id="3" creationId="{A5A02621-D85F-8D59-09D1-9C35102F6537}"/>
          </ac:spMkLst>
        </pc:spChg>
        <pc:spChg chg="add">
          <ac:chgData name="ponnamreddybabjee@outlook.com" userId="3e261792aa522278" providerId="LiveId" clId="{764AFAE7-0BDF-456A-9B3C-8402A943D376}" dt="2025-12-27T10:53:09.675" v="208"/>
          <ac:spMkLst>
            <pc:docMk/>
            <pc:sldMk cId="902988184" sldId="327"/>
            <ac:spMk id="4" creationId="{BC3ACE37-17C5-2E55-F1A3-B797E8ABED21}"/>
          </ac:spMkLst>
        </pc:spChg>
        <pc:spChg chg="mod">
          <ac:chgData name="ponnamreddybabjee@outlook.com" userId="3e261792aa522278" providerId="LiveId" clId="{764AFAE7-0BDF-456A-9B3C-8402A943D376}" dt="2025-12-27T10:55:53.595" v="228" actId="20577"/>
          <ac:spMkLst>
            <pc:docMk/>
            <pc:sldMk cId="902988184" sldId="327"/>
            <ac:spMk id="5" creationId="{CA8C78CF-EC1B-F527-3D52-147911E68BAD}"/>
          </ac:spMkLst>
        </pc:spChg>
      </pc:sldChg>
      <pc:sldChg chg="addSp delSp modSp add mod">
        <pc:chgData name="ponnamreddybabjee@outlook.com" userId="3e261792aa522278" providerId="LiveId" clId="{764AFAE7-0BDF-456A-9B3C-8402A943D376}" dt="2025-12-27T11:33:33.236" v="237" actId="21"/>
        <pc:sldMkLst>
          <pc:docMk/>
          <pc:sldMk cId="2536956277" sldId="328"/>
        </pc:sldMkLst>
        <pc:spChg chg="del">
          <ac:chgData name="ponnamreddybabjee@outlook.com" userId="3e261792aa522278" providerId="LiveId" clId="{764AFAE7-0BDF-456A-9B3C-8402A943D376}" dt="2025-12-27T11:24:46.458" v="230" actId="478"/>
          <ac:spMkLst>
            <pc:docMk/>
            <pc:sldMk cId="2536956277" sldId="328"/>
            <ac:spMk id="5" creationId="{CA8C78CF-EC1B-F527-3D52-147911E68BAD}"/>
          </ac:spMkLst>
        </pc:spChg>
        <pc:graphicFrameChg chg="add mod modGraphic">
          <ac:chgData name="ponnamreddybabjee@outlook.com" userId="3e261792aa522278" providerId="LiveId" clId="{764AFAE7-0BDF-456A-9B3C-8402A943D376}" dt="2025-12-27T11:33:33.236" v="237" actId="21"/>
          <ac:graphicFrameMkLst>
            <pc:docMk/>
            <pc:sldMk cId="2536956277" sldId="328"/>
            <ac:graphicFrameMk id="3" creationId="{AF4B674E-315B-9440-5609-665C993C345C}"/>
          </ac:graphicFrameMkLst>
        </pc:graphicFrameChg>
      </pc:sldChg>
      <pc:sldChg chg="addSp delSp modSp add mod">
        <pc:chgData name="ponnamreddybabjee@outlook.com" userId="3e261792aa522278" providerId="LiveId" clId="{764AFAE7-0BDF-456A-9B3C-8402A943D376}" dt="2025-12-27T11:35:27.106" v="267" actId="1076"/>
        <pc:sldMkLst>
          <pc:docMk/>
          <pc:sldMk cId="3741254871" sldId="329"/>
        </pc:sldMkLst>
        <pc:spChg chg="add">
          <ac:chgData name="ponnamreddybabjee@outlook.com" userId="3e261792aa522278" providerId="LiveId" clId="{764AFAE7-0BDF-456A-9B3C-8402A943D376}" dt="2025-12-27T11:33:53.457" v="241"/>
          <ac:spMkLst>
            <pc:docMk/>
            <pc:sldMk cId="3741254871" sldId="329"/>
            <ac:spMk id="5" creationId="{97AEBA48-69B1-56E1-EB88-E0B802016A90}"/>
          </ac:spMkLst>
        </pc:spChg>
        <pc:spChg chg="add">
          <ac:chgData name="ponnamreddybabjee@outlook.com" userId="3e261792aa522278" providerId="LiveId" clId="{764AFAE7-0BDF-456A-9B3C-8402A943D376}" dt="2025-12-27T11:33:53.457" v="241"/>
          <ac:spMkLst>
            <pc:docMk/>
            <pc:sldMk cId="3741254871" sldId="329"/>
            <ac:spMk id="7" creationId="{70A3FEF9-B039-062F-C145-1DCD75C6D80C}"/>
          </ac:spMkLst>
        </pc:spChg>
        <pc:spChg chg="add">
          <ac:chgData name="ponnamreddybabjee@outlook.com" userId="3e261792aa522278" providerId="LiveId" clId="{764AFAE7-0BDF-456A-9B3C-8402A943D376}" dt="2025-12-27T11:33:53.457" v="241"/>
          <ac:spMkLst>
            <pc:docMk/>
            <pc:sldMk cId="3741254871" sldId="329"/>
            <ac:spMk id="8" creationId="{02498A31-E1FF-9768-0A8E-40A588DA52DA}"/>
          </ac:spMkLst>
        </pc:spChg>
        <pc:spChg chg="add mod">
          <ac:chgData name="ponnamreddybabjee@outlook.com" userId="3e261792aa522278" providerId="LiveId" clId="{764AFAE7-0BDF-456A-9B3C-8402A943D376}" dt="2025-12-27T11:35:07.732" v="265" actId="948"/>
          <ac:spMkLst>
            <pc:docMk/>
            <pc:sldMk cId="3741254871" sldId="329"/>
            <ac:spMk id="10" creationId="{7EB8CC08-5024-F35B-1FCA-154C2C971B5B}"/>
          </ac:spMkLst>
        </pc:spChg>
        <pc:spChg chg="add mod">
          <ac:chgData name="ponnamreddybabjee@outlook.com" userId="3e261792aa522278" providerId="LiveId" clId="{764AFAE7-0BDF-456A-9B3C-8402A943D376}" dt="2025-12-27T11:35:27.106" v="267" actId="1076"/>
          <ac:spMkLst>
            <pc:docMk/>
            <pc:sldMk cId="3741254871" sldId="329"/>
            <ac:spMk id="12" creationId="{D40A9B1C-F795-C469-7CA4-CB1A78E8273C}"/>
          </ac:spMkLst>
        </pc:spChg>
        <pc:graphicFrameChg chg="del">
          <ac:chgData name="ponnamreddybabjee@outlook.com" userId="3e261792aa522278" providerId="LiveId" clId="{764AFAE7-0BDF-456A-9B3C-8402A943D376}" dt="2025-12-27T11:33:45.763" v="239" actId="478"/>
          <ac:graphicFrameMkLst>
            <pc:docMk/>
            <pc:sldMk cId="3741254871" sldId="329"/>
            <ac:graphicFrameMk id="3" creationId="{AF4B674E-315B-9440-5609-665C993C345C}"/>
          </ac:graphicFrameMkLst>
        </pc:graphicFrameChg>
        <pc:graphicFrameChg chg="add">
          <ac:chgData name="ponnamreddybabjee@outlook.com" userId="3e261792aa522278" providerId="LiveId" clId="{764AFAE7-0BDF-456A-9B3C-8402A943D376}" dt="2025-12-27T11:33:46.877" v="240"/>
          <ac:graphicFrameMkLst>
            <pc:docMk/>
            <pc:sldMk cId="3741254871" sldId="329"/>
            <ac:graphicFrameMk id="4" creationId="{9A925CAB-F8F0-71B1-0C14-DEA323276E48}"/>
          </ac:graphicFrameMkLst>
        </pc:graphicFrameChg>
      </pc:sldChg>
      <pc:sldChg chg="addSp delSp modSp add mod">
        <pc:chgData name="ponnamreddybabjee@outlook.com" userId="3e261792aa522278" providerId="LiveId" clId="{764AFAE7-0BDF-456A-9B3C-8402A943D376}" dt="2025-12-27T15:28:02.063" v="284" actId="1076"/>
        <pc:sldMkLst>
          <pc:docMk/>
          <pc:sldMk cId="293975909" sldId="330"/>
        </pc:sldMkLst>
        <pc:spChg chg="add del">
          <ac:chgData name="ponnamreddybabjee@outlook.com" userId="3e261792aa522278" providerId="LiveId" clId="{764AFAE7-0BDF-456A-9B3C-8402A943D376}" dt="2025-12-27T15:24:47.665" v="271" actId="21"/>
          <ac:spMkLst>
            <pc:docMk/>
            <pc:sldMk cId="293975909" sldId="330"/>
            <ac:spMk id="3" creationId="{68896708-E887-7917-1E40-824B45DD5D0F}"/>
          </ac:spMkLst>
        </pc:spChg>
        <pc:spChg chg="add mod">
          <ac:chgData name="ponnamreddybabjee@outlook.com" userId="3e261792aa522278" providerId="LiveId" clId="{764AFAE7-0BDF-456A-9B3C-8402A943D376}" dt="2025-12-27T15:26:58.502" v="281" actId="12"/>
          <ac:spMkLst>
            <pc:docMk/>
            <pc:sldMk cId="293975909" sldId="330"/>
            <ac:spMk id="5" creationId="{55F2BC4C-529C-16F0-586D-E94DB632D471}"/>
          </ac:spMkLst>
        </pc:spChg>
        <pc:spChg chg="del mod">
          <ac:chgData name="ponnamreddybabjee@outlook.com" userId="3e261792aa522278" providerId="LiveId" clId="{764AFAE7-0BDF-456A-9B3C-8402A943D376}" dt="2025-12-27T15:24:47.665" v="271" actId="21"/>
          <ac:spMkLst>
            <pc:docMk/>
            <pc:sldMk cId="293975909" sldId="330"/>
            <ac:spMk id="10" creationId="{7EB8CC08-5024-F35B-1FCA-154C2C971B5B}"/>
          </ac:spMkLst>
        </pc:spChg>
        <pc:spChg chg="mod">
          <ac:chgData name="ponnamreddybabjee@outlook.com" userId="3e261792aa522278" providerId="LiveId" clId="{764AFAE7-0BDF-456A-9B3C-8402A943D376}" dt="2025-12-27T15:28:02.063" v="284" actId="1076"/>
          <ac:spMkLst>
            <pc:docMk/>
            <pc:sldMk cId="293975909" sldId="330"/>
            <ac:spMk id="12" creationId="{D40A9B1C-F795-C469-7CA4-CB1A78E8273C}"/>
          </ac:spMkLst>
        </pc:spChg>
      </pc:sldChg>
      <pc:sldChg chg="addSp delSp modSp add mod">
        <pc:chgData name="ponnamreddybabjee@outlook.com" userId="3e261792aa522278" providerId="LiveId" clId="{764AFAE7-0BDF-456A-9B3C-8402A943D376}" dt="2025-12-27T15:29:08.088" v="294" actId="113"/>
        <pc:sldMkLst>
          <pc:docMk/>
          <pc:sldMk cId="3974031837" sldId="331"/>
        </pc:sldMkLst>
        <pc:spChg chg="del">
          <ac:chgData name="ponnamreddybabjee@outlook.com" userId="3e261792aa522278" providerId="LiveId" clId="{764AFAE7-0BDF-456A-9B3C-8402A943D376}" dt="2025-12-27T15:28:31.731" v="287" actId="478"/>
          <ac:spMkLst>
            <pc:docMk/>
            <pc:sldMk cId="3974031837" sldId="331"/>
            <ac:spMk id="5" creationId="{55F2BC4C-529C-16F0-586D-E94DB632D471}"/>
          </ac:spMkLst>
        </pc:spChg>
        <pc:spChg chg="mod">
          <ac:chgData name="ponnamreddybabjee@outlook.com" userId="3e261792aa522278" providerId="LiveId" clId="{764AFAE7-0BDF-456A-9B3C-8402A943D376}" dt="2025-12-27T15:29:08.088" v="294" actId="113"/>
          <ac:spMkLst>
            <pc:docMk/>
            <pc:sldMk cId="3974031837" sldId="331"/>
            <ac:spMk id="6" creationId="{1B12E08B-88C8-3FE8-4BE4-10AF2733B63C}"/>
          </ac:spMkLst>
        </pc:spChg>
        <pc:spChg chg="del">
          <ac:chgData name="ponnamreddybabjee@outlook.com" userId="3e261792aa522278" providerId="LiveId" clId="{764AFAE7-0BDF-456A-9B3C-8402A943D376}" dt="2025-12-27T15:28:27.151" v="286" actId="478"/>
          <ac:spMkLst>
            <pc:docMk/>
            <pc:sldMk cId="3974031837" sldId="331"/>
            <ac:spMk id="12" creationId="{D40A9B1C-F795-C469-7CA4-CB1A78E8273C}"/>
          </ac:spMkLst>
        </pc:spChg>
        <pc:graphicFrameChg chg="add mod">
          <ac:chgData name="ponnamreddybabjee@outlook.com" userId="3e261792aa522278" providerId="LiveId" clId="{764AFAE7-0BDF-456A-9B3C-8402A943D376}" dt="2025-12-27T15:28:43.937" v="290"/>
          <ac:graphicFrameMkLst>
            <pc:docMk/>
            <pc:sldMk cId="3974031837" sldId="331"/>
            <ac:graphicFrameMk id="3" creationId="{A915B99C-67BC-0A25-296B-53C1BA113D0C}"/>
          </ac:graphicFrameMkLst>
        </pc:graphicFrameChg>
      </pc:sldChg>
      <pc:sldChg chg="addSp delSp modSp add mod">
        <pc:chgData name="ponnamreddybabjee@outlook.com" userId="3e261792aa522278" providerId="LiveId" clId="{764AFAE7-0BDF-456A-9B3C-8402A943D376}" dt="2025-12-28T09:41:13.641" v="314" actId="6549"/>
        <pc:sldMkLst>
          <pc:docMk/>
          <pc:sldMk cId="959084818" sldId="332"/>
        </pc:sldMkLst>
        <pc:spChg chg="add">
          <ac:chgData name="ponnamreddybabjee@outlook.com" userId="3e261792aa522278" providerId="LiveId" clId="{764AFAE7-0BDF-456A-9B3C-8402A943D376}" dt="2025-12-28T09:39:38.944" v="300"/>
          <ac:spMkLst>
            <pc:docMk/>
            <pc:sldMk cId="959084818" sldId="332"/>
            <ac:spMk id="4" creationId="{E3D41BFD-063C-DCE7-961E-14560F6C2B2E}"/>
          </ac:spMkLst>
        </pc:spChg>
        <pc:spChg chg="add">
          <ac:chgData name="ponnamreddybabjee@outlook.com" userId="3e261792aa522278" providerId="LiveId" clId="{764AFAE7-0BDF-456A-9B3C-8402A943D376}" dt="2025-12-28T09:39:38.944" v="300"/>
          <ac:spMkLst>
            <pc:docMk/>
            <pc:sldMk cId="959084818" sldId="332"/>
            <ac:spMk id="5" creationId="{0ED80F2B-E29E-3395-0524-D6C5EF6F806E}"/>
          </ac:spMkLst>
        </pc:spChg>
        <pc:spChg chg="del mod">
          <ac:chgData name="ponnamreddybabjee@outlook.com" userId="3e261792aa522278" providerId="LiveId" clId="{764AFAE7-0BDF-456A-9B3C-8402A943D376}" dt="2025-12-28T09:39:41.716" v="302"/>
          <ac:spMkLst>
            <pc:docMk/>
            <pc:sldMk cId="959084818" sldId="332"/>
            <ac:spMk id="6" creationId="{1B12E08B-88C8-3FE8-4BE4-10AF2733B63C}"/>
          </ac:spMkLst>
        </pc:spChg>
        <pc:spChg chg="add">
          <ac:chgData name="ponnamreddybabjee@outlook.com" userId="3e261792aa522278" providerId="LiveId" clId="{764AFAE7-0BDF-456A-9B3C-8402A943D376}" dt="2025-12-28T09:39:38.944" v="300"/>
          <ac:spMkLst>
            <pc:docMk/>
            <pc:sldMk cId="959084818" sldId="332"/>
            <ac:spMk id="7" creationId="{32F54149-5CC7-A39B-DFEA-8C413920AE44}"/>
          </ac:spMkLst>
        </pc:spChg>
        <pc:spChg chg="add">
          <ac:chgData name="ponnamreddybabjee@outlook.com" userId="3e261792aa522278" providerId="LiveId" clId="{764AFAE7-0BDF-456A-9B3C-8402A943D376}" dt="2025-12-28T09:39:42.524" v="303"/>
          <ac:spMkLst>
            <pc:docMk/>
            <pc:sldMk cId="959084818" sldId="332"/>
            <ac:spMk id="8" creationId="{12E3B23D-3EF8-E4B1-4CB7-2B3C39E3CF90}"/>
          </ac:spMkLst>
        </pc:spChg>
        <pc:spChg chg="add">
          <ac:chgData name="ponnamreddybabjee@outlook.com" userId="3e261792aa522278" providerId="LiveId" clId="{764AFAE7-0BDF-456A-9B3C-8402A943D376}" dt="2025-12-28T09:39:42.524" v="303"/>
          <ac:spMkLst>
            <pc:docMk/>
            <pc:sldMk cId="959084818" sldId="332"/>
            <ac:spMk id="9" creationId="{E8C889BE-009B-162B-B2DF-CE2BC3DB44DB}"/>
          </ac:spMkLst>
        </pc:spChg>
        <pc:spChg chg="add">
          <ac:chgData name="ponnamreddybabjee@outlook.com" userId="3e261792aa522278" providerId="LiveId" clId="{764AFAE7-0BDF-456A-9B3C-8402A943D376}" dt="2025-12-28T09:39:42.524" v="303"/>
          <ac:spMkLst>
            <pc:docMk/>
            <pc:sldMk cId="959084818" sldId="332"/>
            <ac:spMk id="10" creationId="{F23267FD-9133-AF9E-1482-BADDC226EDED}"/>
          </ac:spMkLst>
        </pc:spChg>
        <pc:spChg chg="add mod">
          <ac:chgData name="ponnamreddybabjee@outlook.com" userId="3e261792aa522278" providerId="LiveId" clId="{764AFAE7-0BDF-456A-9B3C-8402A943D376}" dt="2025-12-28T09:41:13.641" v="314" actId="6549"/>
          <ac:spMkLst>
            <pc:docMk/>
            <pc:sldMk cId="959084818" sldId="332"/>
            <ac:spMk id="12" creationId="{A9568602-968A-C8AC-6925-40590A6342FD}"/>
          </ac:spMkLst>
        </pc:spChg>
        <pc:graphicFrameChg chg="del">
          <ac:chgData name="ponnamreddybabjee@outlook.com" userId="3e261792aa522278" providerId="LiveId" clId="{764AFAE7-0BDF-456A-9B3C-8402A943D376}" dt="2025-12-28T09:39:33.929" v="298" actId="478"/>
          <ac:graphicFrameMkLst>
            <pc:docMk/>
            <pc:sldMk cId="959084818" sldId="332"/>
            <ac:graphicFrameMk id="3" creationId="{A915B99C-67BC-0A25-296B-53C1BA113D0C}"/>
          </ac:graphicFrameMkLst>
        </pc:graphicFrameChg>
      </pc:sldChg>
      <pc:sldChg chg="new del">
        <pc:chgData name="ponnamreddybabjee@outlook.com" userId="3e261792aa522278" providerId="LiveId" clId="{764AFAE7-0BDF-456A-9B3C-8402A943D376}" dt="2025-12-28T09:39:25.492" v="296" actId="680"/>
        <pc:sldMkLst>
          <pc:docMk/>
          <pc:sldMk cId="1674026314" sldId="332"/>
        </pc:sldMkLst>
      </pc:sldChg>
      <pc:sldChg chg="addSp modSp add mod">
        <pc:chgData name="ponnamreddybabjee@outlook.com" userId="3e261792aa522278" providerId="LiveId" clId="{764AFAE7-0BDF-456A-9B3C-8402A943D376}" dt="2025-12-28T11:56:15.095" v="334"/>
        <pc:sldMkLst>
          <pc:docMk/>
          <pc:sldMk cId="1851753173" sldId="333"/>
        </pc:sldMkLst>
        <pc:spChg chg="add">
          <ac:chgData name="ponnamreddybabjee@outlook.com" userId="3e261792aa522278" providerId="LiveId" clId="{764AFAE7-0BDF-456A-9B3C-8402A943D376}" dt="2025-12-28T09:41:39.985" v="317"/>
          <ac:spMkLst>
            <pc:docMk/>
            <pc:sldMk cId="1851753173" sldId="333"/>
            <ac:spMk id="3" creationId="{1AD39139-DF7E-6E0A-3E61-D4E374918DE2}"/>
          </ac:spMkLst>
        </pc:spChg>
        <pc:spChg chg="mod">
          <ac:chgData name="ponnamreddybabjee@outlook.com" userId="3e261792aa522278" providerId="LiveId" clId="{764AFAE7-0BDF-456A-9B3C-8402A943D376}" dt="2025-12-28T09:43:08.015" v="331" actId="113"/>
          <ac:spMkLst>
            <pc:docMk/>
            <pc:sldMk cId="1851753173" sldId="333"/>
            <ac:spMk id="12" creationId="{A9568602-968A-C8AC-6925-40590A6342FD}"/>
          </ac:spMkLst>
        </pc:spChg>
        <pc:graphicFrameChg chg="add mod">
          <ac:chgData name="ponnamreddybabjee@outlook.com" userId="3e261792aa522278" providerId="LiveId" clId="{764AFAE7-0BDF-456A-9B3C-8402A943D376}" dt="2025-12-28T11:56:15.095" v="334"/>
          <ac:graphicFrameMkLst>
            <pc:docMk/>
            <pc:sldMk cId="1851753173" sldId="333"/>
            <ac:graphicFrameMk id="4" creationId="{8DDF8265-0537-65F3-DEB1-1C4E16C0A44D}"/>
          </ac:graphicFrameMkLst>
        </pc:graphicFrameChg>
      </pc:sldChg>
      <pc:sldChg chg="delSp modSp add mod">
        <pc:chgData name="ponnamreddybabjee@outlook.com" userId="3e261792aa522278" providerId="LiveId" clId="{764AFAE7-0BDF-456A-9B3C-8402A943D376}" dt="2025-12-28T12:08:46.886" v="338" actId="478"/>
        <pc:sldMkLst>
          <pc:docMk/>
          <pc:sldMk cId="1859222052" sldId="334"/>
        </pc:sldMkLst>
        <pc:spChg chg="mod">
          <ac:chgData name="ponnamreddybabjee@outlook.com" userId="3e261792aa522278" providerId="LiveId" clId="{764AFAE7-0BDF-456A-9B3C-8402A943D376}" dt="2025-12-28T12:08:38.283" v="337"/>
          <ac:spMkLst>
            <pc:docMk/>
            <pc:sldMk cId="1859222052" sldId="334"/>
            <ac:spMk id="12" creationId="{A9568602-968A-C8AC-6925-40590A6342FD}"/>
          </ac:spMkLst>
        </pc:spChg>
        <pc:graphicFrameChg chg="del">
          <ac:chgData name="ponnamreddybabjee@outlook.com" userId="3e261792aa522278" providerId="LiveId" clId="{764AFAE7-0BDF-456A-9B3C-8402A943D376}" dt="2025-12-28T12:08:46.886" v="338" actId="478"/>
          <ac:graphicFrameMkLst>
            <pc:docMk/>
            <pc:sldMk cId="1859222052" sldId="334"/>
            <ac:graphicFrameMk id="4" creationId="{8DDF8265-0537-65F3-DEB1-1C4E16C0A44D}"/>
          </ac:graphicFrameMkLst>
        </pc:graphicFrameChg>
      </pc:sldChg>
      <pc:sldChg chg="addSp delSp modSp add mod">
        <pc:chgData name="ponnamreddybabjee@outlook.com" userId="3e261792aa522278" providerId="LiveId" clId="{764AFAE7-0BDF-456A-9B3C-8402A943D376}" dt="2025-12-29T16:28:07.204" v="420" actId="403"/>
        <pc:sldMkLst>
          <pc:docMk/>
          <pc:sldMk cId="1174850732" sldId="335"/>
        </pc:sldMkLst>
        <pc:spChg chg="del">
          <ac:chgData name="ponnamreddybabjee@outlook.com" userId="3e261792aa522278" providerId="LiveId" clId="{764AFAE7-0BDF-456A-9B3C-8402A943D376}" dt="2025-12-29T14:35:28.372" v="341" actId="478"/>
          <ac:spMkLst>
            <pc:docMk/>
            <pc:sldMk cId="1174850732" sldId="335"/>
            <ac:spMk id="3" creationId="{37C55B64-9DD9-30BB-9565-07D9BD1EBF20}"/>
          </ac:spMkLst>
        </pc:spChg>
        <pc:spChg chg="mod">
          <ac:chgData name="ponnamreddybabjee@outlook.com" userId="3e261792aa522278" providerId="LiveId" clId="{764AFAE7-0BDF-456A-9B3C-8402A943D376}" dt="2025-12-29T16:18:12.457" v="348"/>
          <ac:spMkLst>
            <pc:docMk/>
            <pc:sldMk cId="1174850732" sldId="335"/>
            <ac:spMk id="6" creationId="{1B12E08B-88C8-3FE8-4BE4-10AF2733B63C}"/>
          </ac:spMkLst>
        </pc:spChg>
        <pc:spChg chg="add del mod">
          <ac:chgData name="ponnamreddybabjee@outlook.com" userId="3e261792aa522278" providerId="LiveId" clId="{764AFAE7-0BDF-456A-9B3C-8402A943D376}" dt="2025-12-29T16:19:03.682" v="354" actId="478"/>
          <ac:spMkLst>
            <pc:docMk/>
            <pc:sldMk cId="1174850732" sldId="335"/>
            <ac:spMk id="7" creationId="{6CF2FC7F-2810-1FDA-9F46-7E50F485CA33}"/>
          </ac:spMkLst>
        </pc:spChg>
        <pc:spChg chg="del">
          <ac:chgData name="ponnamreddybabjee@outlook.com" userId="3e261792aa522278" providerId="LiveId" clId="{764AFAE7-0BDF-456A-9B3C-8402A943D376}" dt="2025-12-29T14:35:31.345" v="342" actId="478"/>
          <ac:spMkLst>
            <pc:docMk/>
            <pc:sldMk cId="1174850732" sldId="335"/>
            <ac:spMk id="9" creationId="{5572230D-F1CF-53C2-DB2D-3D1347954179}"/>
          </ac:spMkLst>
        </pc:spChg>
        <pc:spChg chg="add mod">
          <ac:chgData name="ponnamreddybabjee@outlook.com" userId="3e261792aa522278" providerId="LiveId" clId="{764AFAE7-0BDF-456A-9B3C-8402A943D376}" dt="2025-12-29T16:27:32.047" v="397" actId="1076"/>
          <ac:spMkLst>
            <pc:docMk/>
            <pc:sldMk cId="1174850732" sldId="335"/>
            <ac:spMk id="10" creationId="{BB6DFC83-2C6E-3D42-00A4-E4DA1B0E5B97}"/>
          </ac:spMkLst>
        </pc:spChg>
        <pc:spChg chg="add mod">
          <ac:chgData name="ponnamreddybabjee@outlook.com" userId="3e261792aa522278" providerId="LiveId" clId="{764AFAE7-0BDF-456A-9B3C-8402A943D376}" dt="2025-12-29T16:28:07.204" v="420" actId="403"/>
          <ac:spMkLst>
            <pc:docMk/>
            <pc:sldMk cId="1174850732" sldId="335"/>
            <ac:spMk id="11" creationId="{AE64DA82-24B5-4DCE-F30F-6D7AC198EBA0}"/>
          </ac:spMkLst>
        </pc:spChg>
        <pc:graphicFrameChg chg="del">
          <ac:chgData name="ponnamreddybabjee@outlook.com" userId="3e261792aa522278" providerId="LiveId" clId="{764AFAE7-0BDF-456A-9B3C-8402A943D376}" dt="2025-12-29T14:35:21.925" v="340" actId="478"/>
          <ac:graphicFrameMkLst>
            <pc:docMk/>
            <pc:sldMk cId="1174850732" sldId="335"/>
            <ac:graphicFrameMk id="2" creationId="{57682F7A-3E1C-0963-CC61-ED4DA87B3214}"/>
          </ac:graphicFrameMkLst>
        </pc:graphicFrameChg>
        <pc:graphicFrameChg chg="del">
          <ac:chgData name="ponnamreddybabjee@outlook.com" userId="3e261792aa522278" providerId="LiveId" clId="{764AFAE7-0BDF-456A-9B3C-8402A943D376}" dt="2025-12-29T14:35:38.198" v="343" actId="478"/>
          <ac:graphicFrameMkLst>
            <pc:docMk/>
            <pc:sldMk cId="1174850732" sldId="335"/>
            <ac:graphicFrameMk id="5" creationId="{7971D2F9-941E-7A22-9A3D-0888181CE7F2}"/>
          </ac:graphicFrameMkLst>
        </pc:graphicFrameChg>
      </pc:sldChg>
      <pc:sldChg chg="delSp modSp add mod ord">
        <pc:chgData name="ponnamreddybabjee@outlook.com" userId="3e261792aa522278" providerId="LiveId" clId="{764AFAE7-0BDF-456A-9B3C-8402A943D376}" dt="2025-12-29T16:26:56.934" v="395" actId="1076"/>
        <pc:sldMkLst>
          <pc:docMk/>
          <pc:sldMk cId="280250242" sldId="336"/>
        </pc:sldMkLst>
        <pc:spChg chg="mod">
          <ac:chgData name="ponnamreddybabjee@outlook.com" userId="3e261792aa522278" providerId="LiveId" clId="{764AFAE7-0BDF-456A-9B3C-8402A943D376}" dt="2025-12-29T16:26:56.934" v="395" actId="1076"/>
          <ac:spMkLst>
            <pc:docMk/>
            <pc:sldMk cId="280250242" sldId="336"/>
            <ac:spMk id="3" creationId="{37C55B64-9DD9-30BB-9565-07D9BD1EBF20}"/>
          </ac:spMkLst>
        </pc:spChg>
        <pc:spChg chg="del">
          <ac:chgData name="ponnamreddybabjee@outlook.com" userId="3e261792aa522278" providerId="LiveId" clId="{764AFAE7-0BDF-456A-9B3C-8402A943D376}" dt="2025-12-29T16:26:52.689" v="394" actId="478"/>
          <ac:spMkLst>
            <pc:docMk/>
            <pc:sldMk cId="280250242" sldId="336"/>
            <ac:spMk id="6" creationId="{1B12E08B-88C8-3FE8-4BE4-10AF2733B63C}"/>
          </ac:spMkLst>
        </pc:spChg>
      </pc:sldChg>
      <pc:sldChg chg="addSp delSp modSp add mod">
        <pc:chgData name="ponnamreddybabjee@outlook.com" userId="3e261792aa522278" providerId="LiveId" clId="{764AFAE7-0BDF-456A-9B3C-8402A943D376}" dt="2025-12-29T16:30:04.004" v="429"/>
        <pc:sldMkLst>
          <pc:docMk/>
          <pc:sldMk cId="2383900896" sldId="337"/>
        </pc:sldMkLst>
        <pc:spChg chg="del">
          <ac:chgData name="ponnamreddybabjee@outlook.com" userId="3e261792aa522278" providerId="LiveId" clId="{764AFAE7-0BDF-456A-9B3C-8402A943D376}" dt="2025-12-29T16:29:00.045" v="422" actId="478"/>
          <ac:spMkLst>
            <pc:docMk/>
            <pc:sldMk cId="2383900896" sldId="337"/>
            <ac:spMk id="10" creationId="{BB6DFC83-2C6E-3D42-00A4-E4DA1B0E5B97}"/>
          </ac:spMkLst>
        </pc:spChg>
        <pc:spChg chg="mod">
          <ac:chgData name="ponnamreddybabjee@outlook.com" userId="3e261792aa522278" providerId="LiveId" clId="{764AFAE7-0BDF-456A-9B3C-8402A943D376}" dt="2025-12-29T16:29:52.607" v="428" actId="403"/>
          <ac:spMkLst>
            <pc:docMk/>
            <pc:sldMk cId="2383900896" sldId="337"/>
            <ac:spMk id="11" creationId="{AE64DA82-24B5-4DCE-F30F-6D7AC198EBA0}"/>
          </ac:spMkLst>
        </pc:spChg>
        <pc:graphicFrameChg chg="add mod">
          <ac:chgData name="ponnamreddybabjee@outlook.com" userId="3e261792aa522278" providerId="LiveId" clId="{764AFAE7-0BDF-456A-9B3C-8402A943D376}" dt="2025-12-29T16:30:04.004" v="429"/>
          <ac:graphicFrameMkLst>
            <pc:docMk/>
            <pc:sldMk cId="2383900896" sldId="337"/>
            <ac:graphicFrameMk id="2" creationId="{4B147FC6-A380-834C-F6CB-044DA5B8F0A9}"/>
          </ac:graphicFrameMkLst>
        </pc:graphicFrameChg>
      </pc:sldChg>
      <pc:sldChg chg="addSp delSp modSp add mod">
        <pc:chgData name="ponnamreddybabjee@outlook.com" userId="3e261792aa522278" providerId="LiveId" clId="{764AFAE7-0BDF-456A-9B3C-8402A943D376}" dt="2025-12-29T16:36:57.311" v="444" actId="113"/>
        <pc:sldMkLst>
          <pc:docMk/>
          <pc:sldMk cId="3021161864" sldId="338"/>
        </pc:sldMkLst>
        <pc:spChg chg="add mod">
          <ac:chgData name="ponnamreddybabjee@outlook.com" userId="3e261792aa522278" providerId="LiveId" clId="{764AFAE7-0BDF-456A-9B3C-8402A943D376}" dt="2025-12-29T16:36:57.311" v="444" actId="113"/>
          <ac:spMkLst>
            <pc:docMk/>
            <pc:sldMk cId="3021161864" sldId="338"/>
            <ac:spMk id="4" creationId="{93834479-F10D-C19C-C5AE-DAEAED3E94D9}"/>
          </ac:spMkLst>
        </pc:spChg>
        <pc:spChg chg="del mod">
          <ac:chgData name="ponnamreddybabjee@outlook.com" userId="3e261792aa522278" providerId="LiveId" clId="{764AFAE7-0BDF-456A-9B3C-8402A943D376}" dt="2025-12-29T16:35:43.395" v="434"/>
          <ac:spMkLst>
            <pc:docMk/>
            <pc:sldMk cId="3021161864" sldId="338"/>
            <ac:spMk id="11" creationId="{AE64DA82-24B5-4DCE-F30F-6D7AC198EBA0}"/>
          </ac:spMkLst>
        </pc:spChg>
        <pc:graphicFrameChg chg="del">
          <ac:chgData name="ponnamreddybabjee@outlook.com" userId="3e261792aa522278" providerId="LiveId" clId="{764AFAE7-0BDF-456A-9B3C-8402A943D376}" dt="2025-12-29T16:35:28.563" v="431" actId="478"/>
          <ac:graphicFrameMkLst>
            <pc:docMk/>
            <pc:sldMk cId="3021161864" sldId="338"/>
            <ac:graphicFrameMk id="2" creationId="{4B147FC6-A380-834C-F6CB-044DA5B8F0A9}"/>
          </ac:graphicFrameMkLst>
        </pc:graphicFrameChg>
      </pc:sldChg>
      <pc:sldChg chg="addSp modSp add mod">
        <pc:chgData name="ponnamreddybabjee@outlook.com" userId="3e261792aa522278" providerId="LiveId" clId="{764AFAE7-0BDF-456A-9B3C-8402A943D376}" dt="2025-12-29T16:39:56.757" v="461" actId="1076"/>
        <pc:sldMkLst>
          <pc:docMk/>
          <pc:sldMk cId="3011516218" sldId="339"/>
        </pc:sldMkLst>
        <pc:spChg chg="add mod">
          <ac:chgData name="ponnamreddybabjee@outlook.com" userId="3e261792aa522278" providerId="LiveId" clId="{764AFAE7-0BDF-456A-9B3C-8402A943D376}" dt="2025-12-29T16:39:56.757" v="461" actId="1076"/>
          <ac:spMkLst>
            <pc:docMk/>
            <pc:sldMk cId="3011516218" sldId="339"/>
            <ac:spMk id="3" creationId="{F003E413-A84B-724B-C03D-E1C4803A7CD6}"/>
          </ac:spMkLst>
        </pc:spChg>
        <pc:spChg chg="mod">
          <ac:chgData name="ponnamreddybabjee@outlook.com" userId="3e261792aa522278" providerId="LiveId" clId="{764AFAE7-0BDF-456A-9B3C-8402A943D376}" dt="2025-12-29T16:39:51.032" v="460" actId="1076"/>
          <ac:spMkLst>
            <pc:docMk/>
            <pc:sldMk cId="3011516218" sldId="339"/>
            <ac:spMk id="4" creationId="{93834479-F10D-C19C-C5AE-DAEAED3E94D9}"/>
          </ac:spMkLst>
        </pc:spChg>
        <pc:spChg chg="mod">
          <ac:chgData name="ponnamreddybabjee@outlook.com" userId="3e261792aa522278" providerId="LiveId" clId="{764AFAE7-0BDF-456A-9B3C-8402A943D376}" dt="2025-12-29T16:39:45.754" v="459" actId="1076"/>
          <ac:spMkLst>
            <pc:docMk/>
            <pc:sldMk cId="3011516218" sldId="339"/>
            <ac:spMk id="6" creationId="{1B12E08B-88C8-3FE8-4BE4-10AF2733B63C}"/>
          </ac:spMkLst>
        </pc:spChg>
      </pc:sldChg>
      <pc:sldChg chg="addSp delSp modSp add mod">
        <pc:chgData name="ponnamreddybabjee@outlook.com" userId="3e261792aa522278" providerId="LiveId" clId="{764AFAE7-0BDF-456A-9B3C-8402A943D376}" dt="2025-12-29T16:42:47.085" v="487" actId="948"/>
        <pc:sldMkLst>
          <pc:docMk/>
          <pc:sldMk cId="2183289276" sldId="340"/>
        </pc:sldMkLst>
        <pc:spChg chg="del">
          <ac:chgData name="ponnamreddybabjee@outlook.com" userId="3e261792aa522278" providerId="LiveId" clId="{764AFAE7-0BDF-456A-9B3C-8402A943D376}" dt="2025-12-29T16:41:00.991" v="469" actId="478"/>
          <ac:spMkLst>
            <pc:docMk/>
            <pc:sldMk cId="2183289276" sldId="340"/>
            <ac:spMk id="3" creationId="{F003E413-A84B-724B-C03D-E1C4803A7CD6}"/>
          </ac:spMkLst>
        </pc:spChg>
        <pc:spChg chg="del">
          <ac:chgData name="ponnamreddybabjee@outlook.com" userId="3e261792aa522278" providerId="LiveId" clId="{764AFAE7-0BDF-456A-9B3C-8402A943D376}" dt="2025-12-29T16:40:57.037" v="468" actId="478"/>
          <ac:spMkLst>
            <pc:docMk/>
            <pc:sldMk cId="2183289276" sldId="340"/>
            <ac:spMk id="4" creationId="{93834479-F10D-C19C-C5AE-DAEAED3E94D9}"/>
          </ac:spMkLst>
        </pc:spChg>
        <pc:spChg chg="add">
          <ac:chgData name="ponnamreddybabjee@outlook.com" userId="3e261792aa522278" providerId="LiveId" clId="{764AFAE7-0BDF-456A-9B3C-8402A943D376}" dt="2025-12-29T16:41:42.345" v="473"/>
          <ac:spMkLst>
            <pc:docMk/>
            <pc:sldMk cId="2183289276" sldId="340"/>
            <ac:spMk id="5" creationId="{3460D21D-BF2B-9978-F11D-CE10533FD33F}"/>
          </ac:spMkLst>
        </pc:spChg>
        <pc:spChg chg="mod">
          <ac:chgData name="ponnamreddybabjee@outlook.com" userId="3e261792aa522278" providerId="LiveId" clId="{764AFAE7-0BDF-456A-9B3C-8402A943D376}" dt="2025-12-29T16:40:51.974" v="467" actId="20577"/>
          <ac:spMkLst>
            <pc:docMk/>
            <pc:sldMk cId="2183289276" sldId="340"/>
            <ac:spMk id="6" creationId="{1B12E08B-88C8-3FE8-4BE4-10AF2733B63C}"/>
          </ac:spMkLst>
        </pc:spChg>
        <pc:spChg chg="add">
          <ac:chgData name="ponnamreddybabjee@outlook.com" userId="3e261792aa522278" providerId="LiveId" clId="{764AFAE7-0BDF-456A-9B3C-8402A943D376}" dt="2025-12-29T16:41:42.345" v="473"/>
          <ac:spMkLst>
            <pc:docMk/>
            <pc:sldMk cId="2183289276" sldId="340"/>
            <ac:spMk id="7" creationId="{963592C0-EBB9-E067-2722-49FEA207F170}"/>
          </ac:spMkLst>
        </pc:spChg>
        <pc:spChg chg="add">
          <ac:chgData name="ponnamreddybabjee@outlook.com" userId="3e261792aa522278" providerId="LiveId" clId="{764AFAE7-0BDF-456A-9B3C-8402A943D376}" dt="2025-12-29T16:41:42.345" v="473"/>
          <ac:spMkLst>
            <pc:docMk/>
            <pc:sldMk cId="2183289276" sldId="340"/>
            <ac:spMk id="8" creationId="{91057309-AEC6-9AD2-93FA-836A85E227D7}"/>
          </ac:spMkLst>
        </pc:spChg>
        <pc:spChg chg="add mod">
          <ac:chgData name="ponnamreddybabjee@outlook.com" userId="3e261792aa522278" providerId="LiveId" clId="{764AFAE7-0BDF-456A-9B3C-8402A943D376}" dt="2025-12-29T16:42:47.085" v="487" actId="948"/>
          <ac:spMkLst>
            <pc:docMk/>
            <pc:sldMk cId="2183289276" sldId="340"/>
            <ac:spMk id="10" creationId="{A469B41B-1C4F-18FD-1A5C-FD9ECB9C223C}"/>
          </ac:spMkLst>
        </pc:spChg>
        <pc:graphicFrameChg chg="add mod">
          <ac:chgData name="ponnamreddybabjee@outlook.com" userId="3e261792aa522278" providerId="LiveId" clId="{764AFAE7-0BDF-456A-9B3C-8402A943D376}" dt="2025-12-29T16:41:23.825" v="472"/>
          <ac:graphicFrameMkLst>
            <pc:docMk/>
            <pc:sldMk cId="2183289276" sldId="340"/>
            <ac:graphicFrameMk id="2" creationId="{E2B9D90D-4244-8056-BE41-F8A795E65A1D}"/>
          </ac:graphicFrameMkLst>
        </pc:graphicFrameChg>
      </pc:sldChg>
      <pc:sldChg chg="addSp delSp modSp add mod">
        <pc:chgData name="ponnamreddybabjee@outlook.com" userId="3e261792aa522278" providerId="LiveId" clId="{764AFAE7-0BDF-456A-9B3C-8402A943D376}" dt="2025-12-29T16:48:07.919" v="497" actId="113"/>
        <pc:sldMkLst>
          <pc:docMk/>
          <pc:sldMk cId="521143741" sldId="341"/>
        </pc:sldMkLst>
        <pc:spChg chg="add">
          <ac:chgData name="ponnamreddybabjee@outlook.com" userId="3e261792aa522278" providerId="LiveId" clId="{764AFAE7-0BDF-456A-9B3C-8402A943D376}" dt="2025-12-29T16:46:27.706" v="492"/>
          <ac:spMkLst>
            <pc:docMk/>
            <pc:sldMk cId="521143741" sldId="341"/>
            <ac:spMk id="3" creationId="{9C59CF99-2123-F50E-6A29-58D78D809FB0}"/>
          </ac:spMkLst>
        </pc:spChg>
        <pc:spChg chg="add">
          <ac:chgData name="ponnamreddybabjee@outlook.com" userId="3e261792aa522278" providerId="LiveId" clId="{764AFAE7-0BDF-456A-9B3C-8402A943D376}" dt="2025-12-29T16:46:27.706" v="492"/>
          <ac:spMkLst>
            <pc:docMk/>
            <pc:sldMk cId="521143741" sldId="341"/>
            <ac:spMk id="4" creationId="{6E8742AB-DCA5-A06D-9A10-2D86387CBFD4}"/>
          </ac:spMkLst>
        </pc:spChg>
        <pc:spChg chg="add">
          <ac:chgData name="ponnamreddybabjee@outlook.com" userId="3e261792aa522278" providerId="LiveId" clId="{764AFAE7-0BDF-456A-9B3C-8402A943D376}" dt="2025-12-29T16:46:27.706" v="492"/>
          <ac:spMkLst>
            <pc:docMk/>
            <pc:sldMk cId="521143741" sldId="341"/>
            <ac:spMk id="5" creationId="{502014AD-BC20-073B-5085-BEA092C0F908}"/>
          </ac:spMkLst>
        </pc:spChg>
        <pc:spChg chg="del">
          <ac:chgData name="ponnamreddybabjee@outlook.com" userId="3e261792aa522278" providerId="LiveId" clId="{764AFAE7-0BDF-456A-9B3C-8402A943D376}" dt="2025-12-29T16:46:21.785" v="490" actId="478"/>
          <ac:spMkLst>
            <pc:docMk/>
            <pc:sldMk cId="521143741" sldId="341"/>
            <ac:spMk id="6" creationId="{1B12E08B-88C8-3FE8-4BE4-10AF2733B63C}"/>
          </ac:spMkLst>
        </pc:spChg>
        <pc:spChg chg="add">
          <ac:chgData name="ponnamreddybabjee@outlook.com" userId="3e261792aa522278" providerId="LiveId" clId="{764AFAE7-0BDF-456A-9B3C-8402A943D376}" dt="2025-12-29T16:46:27.706" v="492"/>
          <ac:spMkLst>
            <pc:docMk/>
            <pc:sldMk cId="521143741" sldId="341"/>
            <ac:spMk id="7" creationId="{F2405A27-AC44-3E37-A4E6-204EA0AAD914}"/>
          </ac:spMkLst>
        </pc:spChg>
        <pc:spChg chg="add">
          <ac:chgData name="ponnamreddybabjee@outlook.com" userId="3e261792aa522278" providerId="LiveId" clId="{764AFAE7-0BDF-456A-9B3C-8402A943D376}" dt="2025-12-29T16:46:27.706" v="492"/>
          <ac:spMkLst>
            <pc:docMk/>
            <pc:sldMk cId="521143741" sldId="341"/>
            <ac:spMk id="8" creationId="{22C6D436-A5B0-D0C3-2FE7-06B7747EB343}"/>
          </ac:spMkLst>
        </pc:spChg>
        <pc:spChg chg="add">
          <ac:chgData name="ponnamreddybabjee@outlook.com" userId="3e261792aa522278" providerId="LiveId" clId="{764AFAE7-0BDF-456A-9B3C-8402A943D376}" dt="2025-12-29T16:46:27.706" v="492"/>
          <ac:spMkLst>
            <pc:docMk/>
            <pc:sldMk cId="521143741" sldId="341"/>
            <ac:spMk id="9" creationId="{F3626BE9-887C-F3B1-96C8-9F2537168AF5}"/>
          </ac:spMkLst>
        </pc:spChg>
        <pc:spChg chg="del">
          <ac:chgData name="ponnamreddybabjee@outlook.com" userId="3e261792aa522278" providerId="LiveId" clId="{764AFAE7-0BDF-456A-9B3C-8402A943D376}" dt="2025-12-29T16:46:25.478" v="491" actId="478"/>
          <ac:spMkLst>
            <pc:docMk/>
            <pc:sldMk cId="521143741" sldId="341"/>
            <ac:spMk id="10" creationId="{A469B41B-1C4F-18FD-1A5C-FD9ECB9C223C}"/>
          </ac:spMkLst>
        </pc:spChg>
        <pc:spChg chg="add">
          <ac:chgData name="ponnamreddybabjee@outlook.com" userId="3e261792aa522278" providerId="LiveId" clId="{764AFAE7-0BDF-456A-9B3C-8402A943D376}" dt="2025-12-29T16:46:27.706" v="492"/>
          <ac:spMkLst>
            <pc:docMk/>
            <pc:sldMk cId="521143741" sldId="341"/>
            <ac:spMk id="11" creationId="{62F51F54-77F5-ED13-B534-55A45B497DCD}"/>
          </ac:spMkLst>
        </pc:spChg>
        <pc:spChg chg="add mod">
          <ac:chgData name="ponnamreddybabjee@outlook.com" userId="3e261792aa522278" providerId="LiveId" clId="{764AFAE7-0BDF-456A-9B3C-8402A943D376}" dt="2025-12-29T16:48:07.919" v="497" actId="113"/>
          <ac:spMkLst>
            <pc:docMk/>
            <pc:sldMk cId="521143741" sldId="341"/>
            <ac:spMk id="13" creationId="{DD035340-9030-CE2B-5EC4-26B2012F54C2}"/>
          </ac:spMkLst>
        </pc:spChg>
        <pc:graphicFrameChg chg="del">
          <ac:chgData name="ponnamreddybabjee@outlook.com" userId="3e261792aa522278" providerId="LiveId" clId="{764AFAE7-0BDF-456A-9B3C-8402A943D376}" dt="2025-12-29T16:46:16.906" v="489" actId="478"/>
          <ac:graphicFrameMkLst>
            <pc:docMk/>
            <pc:sldMk cId="521143741" sldId="341"/>
            <ac:graphicFrameMk id="2" creationId="{E2B9D90D-4244-8056-BE41-F8A795E65A1D}"/>
          </ac:graphicFrameMkLst>
        </pc:graphicFrameChg>
      </pc:sldChg>
      <pc:sldChg chg="modSp add mod">
        <pc:chgData name="ponnamreddybabjee@outlook.com" userId="3e261792aa522278" providerId="LiveId" clId="{764AFAE7-0BDF-456A-9B3C-8402A943D376}" dt="2026-01-02T03:42:39.117" v="617" actId="113"/>
        <pc:sldMkLst>
          <pc:docMk/>
          <pc:sldMk cId="261242587" sldId="342"/>
        </pc:sldMkLst>
        <pc:spChg chg="mod">
          <ac:chgData name="ponnamreddybabjee@outlook.com" userId="3e261792aa522278" providerId="LiveId" clId="{764AFAE7-0BDF-456A-9B3C-8402A943D376}" dt="2026-01-02T03:42:39.117" v="617" actId="113"/>
          <ac:spMkLst>
            <pc:docMk/>
            <pc:sldMk cId="261242587" sldId="342"/>
            <ac:spMk id="12" creationId="{A9568602-968A-C8AC-6925-40590A6342FD}"/>
          </ac:spMkLst>
        </pc:spChg>
      </pc:sldChg>
      <pc:sldChg chg="addSp delSp modSp add mod">
        <pc:chgData name="ponnamreddybabjee@outlook.com" userId="3e261792aa522278" providerId="LiveId" clId="{764AFAE7-0BDF-456A-9B3C-8402A943D376}" dt="2026-01-01T05:54:34.913" v="536" actId="15"/>
        <pc:sldMkLst>
          <pc:docMk/>
          <pc:sldMk cId="178082714" sldId="343"/>
        </pc:sldMkLst>
        <pc:spChg chg="add">
          <ac:chgData name="ponnamreddybabjee@outlook.com" userId="3e261792aa522278" providerId="LiveId" clId="{764AFAE7-0BDF-456A-9B3C-8402A943D376}" dt="2026-01-01T05:53:44.918" v="528"/>
          <ac:spMkLst>
            <pc:docMk/>
            <pc:sldMk cId="178082714" sldId="343"/>
            <ac:spMk id="3" creationId="{B8B684DB-DEBF-76DF-0A18-9D710DC77772}"/>
          </ac:spMkLst>
        </pc:spChg>
        <pc:spChg chg="add mod">
          <ac:chgData name="ponnamreddybabjee@outlook.com" userId="3e261792aa522278" providerId="LiveId" clId="{764AFAE7-0BDF-456A-9B3C-8402A943D376}" dt="2026-01-01T05:54:34.913" v="536" actId="15"/>
          <ac:spMkLst>
            <pc:docMk/>
            <pc:sldMk cId="178082714" sldId="343"/>
            <ac:spMk id="5" creationId="{49DD0415-1FA6-D972-E848-D4D4101A2BE1}"/>
          </ac:spMkLst>
        </pc:spChg>
        <pc:spChg chg="del mod">
          <ac:chgData name="ponnamreddybabjee@outlook.com" userId="3e261792aa522278" providerId="LiveId" clId="{764AFAE7-0BDF-456A-9B3C-8402A943D376}" dt="2026-01-01T05:54:07.494" v="530"/>
          <ac:spMkLst>
            <pc:docMk/>
            <pc:sldMk cId="178082714" sldId="343"/>
            <ac:spMk id="12" creationId="{A9568602-968A-C8AC-6925-40590A6342FD}"/>
          </ac:spMkLst>
        </pc:spChg>
      </pc:sldChg>
      <pc:sldChg chg="addSp modSp add mod">
        <pc:chgData name="ponnamreddybabjee@outlook.com" userId="3e261792aa522278" providerId="LiveId" clId="{764AFAE7-0BDF-456A-9B3C-8402A943D376}" dt="2026-01-01T05:55:40.052" v="543" actId="14100"/>
        <pc:sldMkLst>
          <pc:docMk/>
          <pc:sldMk cId="3330007086" sldId="344"/>
        </pc:sldMkLst>
        <pc:spChg chg="mod">
          <ac:chgData name="ponnamreddybabjee@outlook.com" userId="3e261792aa522278" providerId="LiveId" clId="{764AFAE7-0BDF-456A-9B3C-8402A943D376}" dt="2026-01-01T05:55:20.300" v="539"/>
          <ac:spMkLst>
            <pc:docMk/>
            <pc:sldMk cId="3330007086" sldId="344"/>
            <ac:spMk id="5" creationId="{49DD0415-1FA6-D972-E848-D4D4101A2BE1}"/>
          </ac:spMkLst>
        </pc:spChg>
        <pc:graphicFrameChg chg="add mod modGraphic">
          <ac:chgData name="ponnamreddybabjee@outlook.com" userId="3e261792aa522278" providerId="LiveId" clId="{764AFAE7-0BDF-456A-9B3C-8402A943D376}" dt="2026-01-01T05:55:40.052" v="543" actId="14100"/>
          <ac:graphicFrameMkLst>
            <pc:docMk/>
            <pc:sldMk cId="3330007086" sldId="344"/>
            <ac:graphicFrameMk id="3" creationId="{E1BF2C76-7491-2C18-B639-872952BF8B09}"/>
          </ac:graphicFrameMkLst>
        </pc:graphicFrameChg>
      </pc:sldChg>
      <pc:sldChg chg="addSp delSp modSp add mod">
        <pc:chgData name="ponnamreddybabjee@outlook.com" userId="3e261792aa522278" providerId="LiveId" clId="{764AFAE7-0BDF-456A-9B3C-8402A943D376}" dt="2026-01-01T06:34:10.669" v="602" actId="113"/>
        <pc:sldMkLst>
          <pc:docMk/>
          <pc:sldMk cId="2187956295" sldId="345"/>
        </pc:sldMkLst>
        <pc:spChg chg="del">
          <ac:chgData name="ponnamreddybabjee@outlook.com" userId="3e261792aa522278" providerId="LiveId" clId="{764AFAE7-0BDF-456A-9B3C-8402A943D376}" dt="2026-01-01T05:57:14.658" v="545" actId="478"/>
          <ac:spMkLst>
            <pc:docMk/>
            <pc:sldMk cId="2187956295" sldId="345"/>
            <ac:spMk id="2" creationId="{80974920-A599-1B14-8E6D-A6D87A1687B9}"/>
          </ac:spMkLst>
        </pc:spChg>
        <pc:spChg chg="add">
          <ac:chgData name="ponnamreddybabjee@outlook.com" userId="3e261792aa522278" providerId="LiveId" clId="{764AFAE7-0BDF-456A-9B3C-8402A943D376}" dt="2026-01-01T05:57:15.578" v="546"/>
          <ac:spMkLst>
            <pc:docMk/>
            <pc:sldMk cId="2187956295" sldId="345"/>
            <ac:spMk id="4" creationId="{5B6F72A6-1017-26C9-40BD-9C4E64B1169B}"/>
          </ac:spMkLst>
        </pc:spChg>
        <pc:spChg chg="del">
          <ac:chgData name="ponnamreddybabjee@outlook.com" userId="3e261792aa522278" providerId="LiveId" clId="{764AFAE7-0BDF-456A-9B3C-8402A943D376}" dt="2026-01-01T05:57:14.658" v="545" actId="478"/>
          <ac:spMkLst>
            <pc:docMk/>
            <pc:sldMk cId="2187956295" sldId="345"/>
            <ac:spMk id="5" creationId="{49DD0415-1FA6-D972-E848-D4D4101A2BE1}"/>
          </ac:spMkLst>
        </pc:spChg>
        <pc:spChg chg="add">
          <ac:chgData name="ponnamreddybabjee@outlook.com" userId="3e261792aa522278" providerId="LiveId" clId="{764AFAE7-0BDF-456A-9B3C-8402A943D376}" dt="2026-01-01T05:57:15.578" v="546"/>
          <ac:spMkLst>
            <pc:docMk/>
            <pc:sldMk cId="2187956295" sldId="345"/>
            <ac:spMk id="6" creationId="{F0F14F57-9E7F-8A27-BEE8-C8814B7C7136}"/>
          </ac:spMkLst>
        </pc:spChg>
        <pc:spChg chg="add">
          <ac:chgData name="ponnamreddybabjee@outlook.com" userId="3e261792aa522278" providerId="LiveId" clId="{764AFAE7-0BDF-456A-9B3C-8402A943D376}" dt="2026-01-01T05:57:15.578" v="546"/>
          <ac:spMkLst>
            <pc:docMk/>
            <pc:sldMk cId="2187956295" sldId="345"/>
            <ac:spMk id="7" creationId="{A7E27B12-48FD-0EFA-63F3-FE89612AD459}"/>
          </ac:spMkLst>
        </pc:spChg>
        <pc:spChg chg="add mod">
          <ac:chgData name="ponnamreddybabjee@outlook.com" userId="3e261792aa522278" providerId="LiveId" clId="{764AFAE7-0BDF-456A-9B3C-8402A943D376}" dt="2026-01-01T06:34:10.669" v="602" actId="113"/>
          <ac:spMkLst>
            <pc:docMk/>
            <pc:sldMk cId="2187956295" sldId="345"/>
            <ac:spMk id="9" creationId="{381248E8-92DC-B766-2411-BDAB432B2D59}"/>
          </ac:spMkLst>
        </pc:spChg>
        <pc:graphicFrameChg chg="del">
          <ac:chgData name="ponnamreddybabjee@outlook.com" userId="3e261792aa522278" providerId="LiveId" clId="{764AFAE7-0BDF-456A-9B3C-8402A943D376}" dt="2026-01-01T05:57:14.658" v="545" actId="478"/>
          <ac:graphicFrameMkLst>
            <pc:docMk/>
            <pc:sldMk cId="2187956295" sldId="345"/>
            <ac:graphicFrameMk id="3" creationId="{E1BF2C76-7491-2C18-B639-872952BF8B09}"/>
          </ac:graphicFrameMkLst>
        </pc:graphicFrameChg>
      </pc:sldChg>
      <pc:sldChg chg="addSp modSp add mod">
        <pc:chgData name="ponnamreddybabjee@outlook.com" userId="3e261792aa522278" providerId="LiveId" clId="{764AFAE7-0BDF-456A-9B3C-8402A943D376}" dt="2026-01-01T06:34:58.503" v="615" actId="20577"/>
        <pc:sldMkLst>
          <pc:docMk/>
          <pc:sldMk cId="2777056729" sldId="346"/>
        </pc:sldMkLst>
        <pc:spChg chg="add">
          <ac:chgData name="ponnamreddybabjee@outlook.com" userId="3e261792aa522278" providerId="LiveId" clId="{764AFAE7-0BDF-456A-9B3C-8402A943D376}" dt="2026-01-01T06:34:23.742" v="605"/>
          <ac:spMkLst>
            <pc:docMk/>
            <pc:sldMk cId="2777056729" sldId="346"/>
            <ac:spMk id="2" creationId="{44AC9835-A9CB-945E-C9C6-0490026651B7}"/>
          </ac:spMkLst>
        </pc:spChg>
        <pc:spChg chg="mod">
          <ac:chgData name="ponnamreddybabjee@outlook.com" userId="3e261792aa522278" providerId="LiveId" clId="{764AFAE7-0BDF-456A-9B3C-8402A943D376}" dt="2026-01-01T06:34:58.503" v="615" actId="20577"/>
          <ac:spMkLst>
            <pc:docMk/>
            <pc:sldMk cId="2777056729" sldId="346"/>
            <ac:spMk id="9" creationId="{381248E8-92DC-B766-2411-BDAB432B2D59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33612C-B4E0-405E-8150-2DFD3616867F}" type="datetimeFigureOut">
              <a:rPr lang="en-IN" smtClean="0"/>
              <a:t>03-01-2026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78D5A9-91BB-4EAA-9DF0-209E252E66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67734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 define its structure, format, and the relationships between different parts of a document using symbols called tags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78D5A9-91BB-4EAA-9DF0-209E252E6659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84636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1/3/2026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8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E98AB3-D5CF-929C-D5AD-7635B0639C3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Snowflake</a:t>
            </a: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837518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1B937C8-682C-6578-7352-75FD9BE46E82}"/>
              </a:ext>
            </a:extLst>
          </p:cNvPr>
          <p:cNvSpPr txBox="1"/>
          <p:nvPr/>
        </p:nvSpPr>
        <p:spPr>
          <a:xfrm>
            <a:off x="603849" y="420469"/>
            <a:ext cx="559582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/>
              <a:t>Snowflake – Introduction and Architecture</a:t>
            </a:r>
            <a:endParaRPr lang="en-US" sz="2400" b="1" dirty="0"/>
          </a:p>
          <a:p>
            <a:endParaRPr lang="en-IN" sz="24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B4776F-A39D-9538-370A-468FF59D4DA7}"/>
              </a:ext>
            </a:extLst>
          </p:cNvPr>
          <p:cNvSpPr txBox="1"/>
          <p:nvPr/>
        </p:nvSpPr>
        <p:spPr>
          <a:xfrm>
            <a:off x="603848" y="880220"/>
            <a:ext cx="10679503" cy="54938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Snowflake is a modern cloud-native data platform designed for data warehousing, data lakes, data engineering, data sharing, and machine learning workloads.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Unlike traditional databases, Snowflake is built for the cloud and runs on AWS, Azure, and Google Cloud.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It provides a single platform where organizations can store, analyze, and share structured and semi-structured data efficiently.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Segoe UI" panose="020B0502040204020203" pitchFamily="34" charset="0"/>
              </a:rPr>
              <a:t>Offers seamless scalability and eliminates the need to manage hardware, tuning, or complex configurations.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Segoe UI" panose="020B0502040204020203" pitchFamily="34" charset="0"/>
              </a:rPr>
              <a:t>Uses separation of storage and compute, which allows independent scaling.</a:t>
            </a:r>
          </a:p>
          <a:p>
            <a:pPr>
              <a:spcBef>
                <a:spcPts val="600"/>
              </a:spcBef>
            </a:pPr>
            <a:r>
              <a:rPr lang="en-US" b="1" dirty="0"/>
              <a:t>Core Capabilities: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Elastic Compute – Instantly scale up or down depending on workload.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Centralized Storage – Store data in compressed, secure formats.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Support for Semi-structured Data – JSON, Avro, ORC, Parquet without ETL overhead.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Multi-cloud Deployment – Runs across AWS, Azure, GCP with consistent experience.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907187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1B937C8-682C-6578-7352-75FD9BE46E82}"/>
              </a:ext>
            </a:extLst>
          </p:cNvPr>
          <p:cNvSpPr txBox="1"/>
          <p:nvPr/>
        </p:nvSpPr>
        <p:spPr>
          <a:xfrm>
            <a:off x="603849" y="420469"/>
            <a:ext cx="233730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Snowflake Advantages</a:t>
            </a:r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B4776F-A39D-9538-370A-468FF59D4DA7}"/>
              </a:ext>
            </a:extLst>
          </p:cNvPr>
          <p:cNvSpPr txBox="1"/>
          <p:nvPr/>
        </p:nvSpPr>
        <p:spPr>
          <a:xfrm>
            <a:off x="603848" y="880220"/>
            <a:ext cx="10679503" cy="5247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b="1" dirty="0"/>
              <a:t>Business &amp; Technical Benefits</a:t>
            </a:r>
          </a:p>
          <a:p>
            <a:pPr>
              <a:spcBef>
                <a:spcPts val="600"/>
              </a:spcBef>
            </a:pPr>
            <a:r>
              <a:rPr lang="en-US" b="1" dirty="0"/>
              <a:t>Separation of Storage and Compute</a:t>
            </a:r>
            <a:endParaRPr lang="en-US" dirty="0"/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Compute clusters (called </a:t>
            </a:r>
            <a:r>
              <a:rPr lang="en-US" b="1" dirty="0"/>
              <a:t>Virtual Warehouses</a:t>
            </a:r>
            <a:r>
              <a:rPr lang="en-US" dirty="0"/>
              <a:t>) can be scaled independently.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Enables multiple teams to run workloads without competing for </a:t>
            </a:r>
            <a:r>
              <a:rPr lang="en-US" dirty="0" err="1"/>
              <a:t>resources.</a:t>
            </a:r>
            <a:r>
              <a:rPr lang="en-US" b="1" dirty="0" err="1"/>
              <a:t>High</a:t>
            </a:r>
            <a:r>
              <a:rPr lang="en-US" b="1" dirty="0"/>
              <a:t> Performance</a:t>
            </a:r>
            <a:endParaRPr lang="en-US" dirty="0"/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Uses </a:t>
            </a:r>
            <a:r>
              <a:rPr lang="en-US" b="1" dirty="0"/>
              <a:t>Massively Parallel Processing (MPP)</a:t>
            </a:r>
            <a:r>
              <a:rPr lang="en-US" dirty="0"/>
              <a:t> to distribute queries across nodes.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Automatic query optimization with no manual tuning required.</a:t>
            </a:r>
          </a:p>
          <a:p>
            <a:pPr>
              <a:spcBef>
                <a:spcPts val="600"/>
              </a:spcBef>
            </a:pPr>
            <a:r>
              <a:rPr lang="en-US" b="1" dirty="0"/>
              <a:t>Data Sharing &amp; Collaboration</a:t>
            </a:r>
            <a:endParaRPr lang="en-US" dirty="0"/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Unique </a:t>
            </a:r>
            <a:r>
              <a:rPr lang="en-US" b="1" dirty="0"/>
              <a:t>Secure Data Sharing</a:t>
            </a:r>
            <a:r>
              <a:rPr lang="en-US" dirty="0"/>
              <a:t> feature lets organizations share live data across accounts without moving or copying.</a:t>
            </a:r>
          </a:p>
          <a:p>
            <a:pPr>
              <a:spcBef>
                <a:spcPts val="600"/>
              </a:spcBef>
            </a:pPr>
            <a:r>
              <a:rPr lang="en-US" b="1" dirty="0"/>
              <a:t>Security &amp; Governance</a:t>
            </a:r>
            <a:endParaRPr lang="en-US" dirty="0"/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End-to-end encryption, automatic backups, and disaster recovery.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Supports </a:t>
            </a:r>
            <a:r>
              <a:rPr lang="en-US" b="1" dirty="0"/>
              <a:t>role-based access control (RBAC)</a:t>
            </a:r>
            <a:r>
              <a:rPr lang="en-US" dirty="0"/>
              <a:t> and </a:t>
            </a:r>
            <a:r>
              <a:rPr lang="en-US" b="1" dirty="0"/>
              <a:t>multi-factor authentication</a:t>
            </a:r>
            <a:r>
              <a:rPr lang="en-US" dirty="0"/>
              <a:t>.</a:t>
            </a:r>
          </a:p>
          <a:p>
            <a:pPr>
              <a:spcBef>
                <a:spcPts val="600"/>
              </a:spcBef>
            </a:pPr>
            <a:r>
              <a:rPr lang="en-US" b="1" dirty="0"/>
              <a:t>Near-Zero Maintenance</a:t>
            </a:r>
            <a:endParaRPr lang="en-US" dirty="0"/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No need for software patching, indexing, or infrastructure management.</a:t>
            </a:r>
          </a:p>
          <a:p>
            <a:pPr lvl="1">
              <a:spcBef>
                <a:spcPts val="600"/>
              </a:spcBef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111564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1B937C8-682C-6578-7352-75FD9BE46E82}"/>
              </a:ext>
            </a:extLst>
          </p:cNvPr>
          <p:cNvSpPr txBox="1"/>
          <p:nvPr/>
        </p:nvSpPr>
        <p:spPr>
          <a:xfrm>
            <a:off x="603849" y="420469"/>
            <a:ext cx="24094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Snowflake </a:t>
            </a:r>
            <a:r>
              <a:rPr lang="en-IN" b="1" dirty="0"/>
              <a:t>Architecture</a:t>
            </a:r>
            <a:endParaRPr lang="en-US" b="1" dirty="0"/>
          </a:p>
          <a:p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2D84A6D-C99C-040D-024F-C5EB3B0375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8376" y="1142882"/>
            <a:ext cx="5072101" cy="5020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31122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1B937C8-682C-6578-7352-75FD9BE46E82}"/>
              </a:ext>
            </a:extLst>
          </p:cNvPr>
          <p:cNvSpPr txBox="1"/>
          <p:nvPr/>
        </p:nvSpPr>
        <p:spPr>
          <a:xfrm>
            <a:off x="603849" y="420469"/>
            <a:ext cx="24094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Snowflake </a:t>
            </a:r>
            <a:r>
              <a:rPr lang="en-IN" b="1" dirty="0"/>
              <a:t>Architecture</a:t>
            </a:r>
            <a:endParaRPr lang="en-US" b="1" dirty="0"/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B4776F-A39D-9538-370A-468FF59D4DA7}"/>
              </a:ext>
            </a:extLst>
          </p:cNvPr>
          <p:cNvSpPr txBox="1"/>
          <p:nvPr/>
        </p:nvSpPr>
        <p:spPr>
          <a:xfrm>
            <a:off x="603848" y="880220"/>
            <a:ext cx="10679503" cy="49705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b="1" dirty="0"/>
              <a:t>Three-Layer Architecture</a:t>
            </a:r>
          </a:p>
          <a:p>
            <a:pPr>
              <a:spcBef>
                <a:spcPts val="600"/>
              </a:spcBef>
            </a:pPr>
            <a:r>
              <a:rPr lang="en-US" b="1" dirty="0"/>
              <a:t>Database Storage Layer</a:t>
            </a:r>
            <a:endParaRPr lang="en-US" dirty="0"/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All data loaded into Snowflake is automatically </a:t>
            </a:r>
            <a:r>
              <a:rPr lang="en-US" b="1" dirty="0"/>
              <a:t>compressed, optimized, and encrypted</a:t>
            </a:r>
            <a:r>
              <a:rPr lang="en-US" dirty="0"/>
              <a:t>.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Handles both structured (tables, relational data) and semi-structured (JSON, Avro, Parquet).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Storage is </a:t>
            </a:r>
            <a:r>
              <a:rPr lang="en-US" b="1" dirty="0"/>
              <a:t>centralized and shared</a:t>
            </a:r>
            <a:r>
              <a:rPr lang="en-US" dirty="0"/>
              <a:t>, but fully abstracted from users.</a:t>
            </a:r>
          </a:p>
          <a:p>
            <a:pPr>
              <a:spcBef>
                <a:spcPts val="600"/>
              </a:spcBef>
            </a:pPr>
            <a:r>
              <a:rPr lang="en-US" b="1" dirty="0"/>
              <a:t>Compute Layer (Virtual Warehouses)</a:t>
            </a:r>
            <a:endParaRPr lang="en-US" dirty="0"/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Compute is handled by independent clusters called </a:t>
            </a:r>
            <a:r>
              <a:rPr lang="en-US" b="1" dirty="0"/>
              <a:t>Virtual Warehouses</a:t>
            </a:r>
            <a:r>
              <a:rPr lang="en-US" dirty="0"/>
              <a:t>.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Each warehouse can perform queries, ETL jobs, and transformations independently.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Warehouses can be resized instantly (small → medium → large) depending on query needs.</a:t>
            </a:r>
          </a:p>
          <a:p>
            <a:pPr>
              <a:spcBef>
                <a:spcPts val="600"/>
              </a:spcBef>
            </a:pPr>
            <a:r>
              <a:rPr lang="en-US" b="1" dirty="0"/>
              <a:t>Cloud Services Layer</a:t>
            </a:r>
            <a:endParaRPr lang="en-US" dirty="0"/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Coordinates activities across storage and compute.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Manages </a:t>
            </a:r>
            <a:r>
              <a:rPr lang="en-US" b="1" dirty="0"/>
              <a:t>authentication, metadata, query optimization, access control, infrastructure management</a:t>
            </a:r>
            <a:r>
              <a:rPr lang="en-US" dirty="0"/>
              <a:t>.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Provides </a:t>
            </a:r>
            <a:r>
              <a:rPr lang="en-US" b="1" dirty="0"/>
              <a:t>scalability and elasticity</a:t>
            </a:r>
            <a:r>
              <a:rPr lang="en-US" dirty="0"/>
              <a:t> without user intervention.</a:t>
            </a:r>
          </a:p>
          <a:p>
            <a:pPr lvl="1">
              <a:spcBef>
                <a:spcPts val="600"/>
              </a:spcBef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37701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1B937C8-682C-6578-7352-75FD9BE46E82}"/>
              </a:ext>
            </a:extLst>
          </p:cNvPr>
          <p:cNvSpPr txBox="1"/>
          <p:nvPr/>
        </p:nvSpPr>
        <p:spPr>
          <a:xfrm>
            <a:off x="603849" y="420469"/>
            <a:ext cx="199150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Snowflake Editions</a:t>
            </a:r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B4776F-A39D-9538-370A-468FF59D4DA7}"/>
              </a:ext>
            </a:extLst>
          </p:cNvPr>
          <p:cNvSpPr txBox="1"/>
          <p:nvPr/>
        </p:nvSpPr>
        <p:spPr>
          <a:xfrm>
            <a:off x="603848" y="880220"/>
            <a:ext cx="10679503" cy="35548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b="1" dirty="0"/>
              <a:t>Standard Edition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dirty="0"/>
              <a:t>Target Audience:</a:t>
            </a:r>
            <a:r>
              <a:rPr lang="en-US" dirty="0"/>
              <a:t> Small to medium businesses or teams starting with cloud data.</a:t>
            </a:r>
          </a:p>
          <a:p>
            <a:pPr>
              <a:spcBef>
                <a:spcPts val="600"/>
              </a:spcBef>
            </a:pPr>
            <a:r>
              <a:rPr lang="en-US" b="1" dirty="0"/>
              <a:t>Key Features:</a:t>
            </a:r>
            <a:endParaRPr lang="en-US" dirty="0"/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Core Snowflake capabilities (data storage, compute, and cloud services).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Secure access and role-based access control.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Time Travel (up to 1 day by default).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Cloning (zero-copy cloning).</a:t>
            </a:r>
          </a:p>
          <a:p>
            <a:pPr>
              <a:spcBef>
                <a:spcPts val="600"/>
              </a:spcBef>
            </a:pPr>
            <a:r>
              <a:rPr lang="en-US" b="1" dirty="0"/>
              <a:t>Limitations:</a:t>
            </a:r>
            <a:endParaRPr lang="en-US" dirty="0"/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Limited support for multi-cluster warehouses.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No advanced security or governance features.</a:t>
            </a:r>
          </a:p>
        </p:txBody>
      </p:sp>
    </p:spTree>
    <p:extLst>
      <p:ext uri="{BB962C8B-B14F-4D97-AF65-F5344CB8AC3E}">
        <p14:creationId xmlns:p14="http://schemas.microsoft.com/office/powerpoint/2010/main" val="22911564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1B937C8-682C-6578-7352-75FD9BE46E82}"/>
              </a:ext>
            </a:extLst>
          </p:cNvPr>
          <p:cNvSpPr txBox="1"/>
          <p:nvPr/>
        </p:nvSpPr>
        <p:spPr>
          <a:xfrm>
            <a:off x="603849" y="420469"/>
            <a:ext cx="199150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Snowflake Editions</a:t>
            </a:r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B4776F-A39D-9538-370A-468FF59D4DA7}"/>
              </a:ext>
            </a:extLst>
          </p:cNvPr>
          <p:cNvSpPr txBox="1"/>
          <p:nvPr/>
        </p:nvSpPr>
        <p:spPr>
          <a:xfrm>
            <a:off x="603848" y="880220"/>
            <a:ext cx="10679503" cy="35548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b="1" dirty="0"/>
              <a:t>Enterprise Edition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dirty="0"/>
              <a:t>Target Audience:</a:t>
            </a:r>
            <a:r>
              <a:rPr lang="en-US" dirty="0"/>
              <a:t> Organizations needing enhanced security, compliance, and scalability.</a:t>
            </a:r>
          </a:p>
          <a:p>
            <a:pPr>
              <a:spcBef>
                <a:spcPts val="600"/>
              </a:spcBef>
            </a:pPr>
            <a:r>
              <a:rPr lang="en-US" b="1" dirty="0"/>
              <a:t>Key Features:</a:t>
            </a:r>
            <a:endParaRPr lang="en-US" dirty="0"/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Everything in Standard Edition.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dirty="0"/>
              <a:t>Extended Time Travel</a:t>
            </a:r>
            <a:r>
              <a:rPr lang="en-US" dirty="0"/>
              <a:t>: up to 90 days.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dirty="0"/>
              <a:t>Failover and Replication</a:t>
            </a:r>
            <a:r>
              <a:rPr lang="en-US" dirty="0"/>
              <a:t>: For high availability across regions.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dirty="0"/>
              <a:t>Customer-Managed Keys (BYOK)</a:t>
            </a:r>
            <a:r>
              <a:rPr lang="en-US" dirty="0"/>
              <a:t>: Advanced encryption control.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Multi-cluster warehouses for handling concurrent workloads.</a:t>
            </a:r>
          </a:p>
          <a:p>
            <a:pPr>
              <a:spcBef>
                <a:spcPts val="600"/>
              </a:spcBef>
            </a:pPr>
            <a:r>
              <a:rPr lang="en-US" b="1" dirty="0"/>
              <a:t>Ideal For:</a:t>
            </a:r>
            <a:r>
              <a:rPr lang="en-US" dirty="0"/>
              <a:t> Businesses with strict compliance, disaster recovery needs, and high concurrency.</a:t>
            </a:r>
          </a:p>
          <a:p>
            <a:pPr>
              <a:spcBef>
                <a:spcPts val="600"/>
              </a:spcBef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10310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1B937C8-682C-6578-7352-75FD9BE46E82}"/>
              </a:ext>
            </a:extLst>
          </p:cNvPr>
          <p:cNvSpPr txBox="1"/>
          <p:nvPr/>
        </p:nvSpPr>
        <p:spPr>
          <a:xfrm>
            <a:off x="603849" y="420469"/>
            <a:ext cx="199150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Snowflake Editions</a:t>
            </a:r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B4776F-A39D-9538-370A-468FF59D4DA7}"/>
              </a:ext>
            </a:extLst>
          </p:cNvPr>
          <p:cNvSpPr txBox="1"/>
          <p:nvPr/>
        </p:nvSpPr>
        <p:spPr>
          <a:xfrm>
            <a:off x="603848" y="880220"/>
            <a:ext cx="10679503" cy="3123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b="1" dirty="0"/>
              <a:t>Business Critical (formerly Enterprise for Sensitive Data)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dirty="0"/>
              <a:t>Target Audience:</a:t>
            </a:r>
            <a:r>
              <a:rPr lang="en-US" dirty="0"/>
              <a:t> Organizations with strict regulatory and compliance requirements (e.g., finance, healthcare, government).</a:t>
            </a:r>
          </a:p>
          <a:p>
            <a:pPr>
              <a:spcBef>
                <a:spcPts val="600"/>
              </a:spcBef>
            </a:pPr>
            <a:r>
              <a:rPr lang="en-US" b="1" dirty="0"/>
              <a:t>Key Features:</a:t>
            </a:r>
            <a:endParaRPr lang="en-US" dirty="0"/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Everything in Enterprise Edition.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dirty="0"/>
              <a:t>HIPAA, PCI DSS, SOC2 Type II Compliance</a:t>
            </a:r>
            <a:r>
              <a:rPr lang="en-US" dirty="0"/>
              <a:t>.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End-to-end encryption with </a:t>
            </a:r>
            <a:r>
              <a:rPr lang="en-US" b="1" dirty="0"/>
              <a:t>Tri-Secret Secure</a:t>
            </a:r>
            <a:r>
              <a:rPr lang="en-US" dirty="0"/>
              <a:t> (customer-managed keys + Snowflake keys).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Stronger data governance and auditing.</a:t>
            </a:r>
          </a:p>
          <a:p>
            <a:pPr>
              <a:spcBef>
                <a:spcPts val="600"/>
              </a:spcBef>
            </a:pPr>
            <a:r>
              <a:rPr lang="en-US" b="1" dirty="0"/>
              <a:t>Ideal For:</a:t>
            </a:r>
            <a:r>
              <a:rPr lang="en-US" dirty="0"/>
              <a:t> Highly regulated industries needing top-tier security.</a:t>
            </a:r>
          </a:p>
        </p:txBody>
      </p:sp>
    </p:spTree>
    <p:extLst>
      <p:ext uri="{BB962C8B-B14F-4D97-AF65-F5344CB8AC3E}">
        <p14:creationId xmlns:p14="http://schemas.microsoft.com/office/powerpoint/2010/main" val="25411794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1B937C8-682C-6578-7352-75FD9BE46E82}"/>
              </a:ext>
            </a:extLst>
          </p:cNvPr>
          <p:cNvSpPr txBox="1"/>
          <p:nvPr/>
        </p:nvSpPr>
        <p:spPr>
          <a:xfrm>
            <a:off x="603849" y="420469"/>
            <a:ext cx="199150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Snowflake Editions</a:t>
            </a:r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B4776F-A39D-9538-370A-468FF59D4DA7}"/>
              </a:ext>
            </a:extLst>
          </p:cNvPr>
          <p:cNvSpPr txBox="1"/>
          <p:nvPr/>
        </p:nvSpPr>
        <p:spPr>
          <a:xfrm>
            <a:off x="603848" y="880220"/>
            <a:ext cx="10679503" cy="28469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b="1" dirty="0"/>
              <a:t>Virtual Private Snowflake (VPS) / Virtual Private Snowflake for Customer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US" b="1" dirty="0"/>
              <a:t>Target Audience:</a:t>
            </a:r>
            <a:r>
              <a:rPr lang="en-US" dirty="0"/>
              <a:t> Enterprises needing dedicated infrastructure.</a:t>
            </a:r>
          </a:p>
          <a:p>
            <a:pPr>
              <a:spcBef>
                <a:spcPts val="600"/>
              </a:spcBef>
            </a:pPr>
            <a:r>
              <a:rPr lang="en-US" b="1" dirty="0"/>
              <a:t>Key Features:</a:t>
            </a:r>
            <a:endParaRPr lang="en-US" dirty="0"/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Single-tenant deployment.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Isolated compute and storage for extreme security and performance.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Custom network and security configurations.</a:t>
            </a:r>
          </a:p>
          <a:p>
            <a:pPr>
              <a:spcBef>
                <a:spcPts val="600"/>
              </a:spcBef>
            </a:pPr>
            <a:r>
              <a:rPr lang="en-US" b="1" dirty="0"/>
              <a:t>Ideal For:</a:t>
            </a:r>
            <a:r>
              <a:rPr lang="en-US" dirty="0"/>
              <a:t> Large organizations with specific compliance or isolation needs.</a:t>
            </a:r>
          </a:p>
          <a:p>
            <a:pPr>
              <a:spcBef>
                <a:spcPts val="600"/>
              </a:spcBef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68084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1B937C8-682C-6578-7352-75FD9BE46E82}"/>
              </a:ext>
            </a:extLst>
          </p:cNvPr>
          <p:cNvSpPr txBox="1"/>
          <p:nvPr/>
        </p:nvSpPr>
        <p:spPr>
          <a:xfrm>
            <a:off x="603848" y="233889"/>
            <a:ext cx="199150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Snowflake Editions</a:t>
            </a:r>
          </a:p>
          <a:p>
            <a:endParaRPr lang="en-IN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1FDDFC6-242F-AE70-8AD3-548E82CA2F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5124194"/>
              </p:ext>
            </p:extLst>
          </p:nvPr>
        </p:nvGraphicFramePr>
        <p:xfrm>
          <a:off x="720266" y="880220"/>
          <a:ext cx="9404125" cy="3703092"/>
        </p:xfrm>
        <a:graphic>
          <a:graphicData uri="http://schemas.openxmlformats.org/drawingml/2006/table">
            <a:tbl>
              <a:tblPr/>
              <a:tblGrid>
                <a:gridCol w="1880825">
                  <a:extLst>
                    <a:ext uri="{9D8B030D-6E8A-4147-A177-3AD203B41FA5}">
                      <a16:colId xmlns:a16="http://schemas.microsoft.com/office/drawing/2014/main" val="2531672965"/>
                    </a:ext>
                  </a:extLst>
                </a:gridCol>
                <a:gridCol w="1880825">
                  <a:extLst>
                    <a:ext uri="{9D8B030D-6E8A-4147-A177-3AD203B41FA5}">
                      <a16:colId xmlns:a16="http://schemas.microsoft.com/office/drawing/2014/main" val="1190240342"/>
                    </a:ext>
                  </a:extLst>
                </a:gridCol>
                <a:gridCol w="1880825">
                  <a:extLst>
                    <a:ext uri="{9D8B030D-6E8A-4147-A177-3AD203B41FA5}">
                      <a16:colId xmlns:a16="http://schemas.microsoft.com/office/drawing/2014/main" val="158133376"/>
                    </a:ext>
                  </a:extLst>
                </a:gridCol>
                <a:gridCol w="1880825">
                  <a:extLst>
                    <a:ext uri="{9D8B030D-6E8A-4147-A177-3AD203B41FA5}">
                      <a16:colId xmlns:a16="http://schemas.microsoft.com/office/drawing/2014/main" val="3481172884"/>
                    </a:ext>
                  </a:extLst>
                </a:gridCol>
                <a:gridCol w="1880825">
                  <a:extLst>
                    <a:ext uri="{9D8B030D-6E8A-4147-A177-3AD203B41FA5}">
                      <a16:colId xmlns:a16="http://schemas.microsoft.com/office/drawing/2014/main" val="533464387"/>
                    </a:ext>
                  </a:extLst>
                </a:gridCol>
              </a:tblGrid>
              <a:tr h="339503">
                <a:tc>
                  <a:txBody>
                    <a:bodyPr/>
                    <a:lstStyle/>
                    <a:p>
                      <a:r>
                        <a:rPr lang="en-IN" sz="1700"/>
                        <a:t>Feature</a:t>
                      </a:r>
                    </a:p>
                  </a:txBody>
                  <a:tcPr marL="84876" marR="84876" marT="42438" marB="42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700"/>
                        <a:t>Standard</a:t>
                      </a:r>
                    </a:p>
                  </a:txBody>
                  <a:tcPr marL="84876" marR="84876" marT="42438" marB="42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700"/>
                        <a:t>Enterprise</a:t>
                      </a:r>
                    </a:p>
                  </a:txBody>
                  <a:tcPr marL="84876" marR="84876" marT="42438" marB="42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700"/>
                        <a:t>Business Critical</a:t>
                      </a:r>
                    </a:p>
                  </a:txBody>
                  <a:tcPr marL="84876" marR="84876" marT="42438" marB="42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700"/>
                        <a:t>VPS</a:t>
                      </a:r>
                    </a:p>
                  </a:txBody>
                  <a:tcPr marL="84876" marR="84876" marT="42438" marB="42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984133"/>
                  </a:ext>
                </a:extLst>
              </a:tr>
              <a:tr h="339503">
                <a:tc>
                  <a:txBody>
                    <a:bodyPr/>
                    <a:lstStyle/>
                    <a:p>
                      <a:r>
                        <a:rPr lang="en-IN" sz="1700"/>
                        <a:t>Time Travel</a:t>
                      </a:r>
                    </a:p>
                  </a:txBody>
                  <a:tcPr marL="84876" marR="84876" marT="42438" marB="42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700"/>
                        <a:t>1 day</a:t>
                      </a:r>
                    </a:p>
                  </a:txBody>
                  <a:tcPr marL="84876" marR="84876" marT="42438" marB="42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700"/>
                        <a:t>1–90 days</a:t>
                      </a:r>
                    </a:p>
                  </a:txBody>
                  <a:tcPr marL="84876" marR="84876" marT="42438" marB="42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700"/>
                        <a:t>1–90 days</a:t>
                      </a:r>
                    </a:p>
                  </a:txBody>
                  <a:tcPr marL="84876" marR="84876" marT="42438" marB="42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700"/>
                        <a:t>1–90 days</a:t>
                      </a:r>
                    </a:p>
                  </a:txBody>
                  <a:tcPr marL="84876" marR="84876" marT="42438" marB="42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2815136"/>
                  </a:ext>
                </a:extLst>
              </a:tr>
              <a:tr h="594131">
                <a:tc>
                  <a:txBody>
                    <a:bodyPr/>
                    <a:lstStyle/>
                    <a:p>
                      <a:r>
                        <a:rPr lang="en-IN" sz="1700"/>
                        <a:t>Multi-cluster Warehouses</a:t>
                      </a:r>
                    </a:p>
                  </a:txBody>
                  <a:tcPr marL="84876" marR="84876" marT="42438" marB="42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700"/>
                        <a:t>Limited</a:t>
                      </a:r>
                    </a:p>
                  </a:txBody>
                  <a:tcPr marL="84876" marR="84876" marT="42438" marB="42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700"/>
                        <a:t>Yes</a:t>
                      </a:r>
                    </a:p>
                  </a:txBody>
                  <a:tcPr marL="84876" marR="84876" marT="42438" marB="42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700"/>
                        <a:t>Yes</a:t>
                      </a:r>
                    </a:p>
                  </a:txBody>
                  <a:tcPr marL="84876" marR="84876" marT="42438" marB="42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700"/>
                        <a:t>Yes</a:t>
                      </a:r>
                    </a:p>
                  </a:txBody>
                  <a:tcPr marL="84876" marR="84876" marT="42438" marB="42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2123093"/>
                  </a:ext>
                </a:extLst>
              </a:tr>
              <a:tr h="594131">
                <a:tc>
                  <a:txBody>
                    <a:bodyPr/>
                    <a:lstStyle/>
                    <a:p>
                      <a:r>
                        <a:rPr lang="en-IN" sz="1700"/>
                        <a:t>Replication &amp; Failover</a:t>
                      </a:r>
                    </a:p>
                  </a:txBody>
                  <a:tcPr marL="84876" marR="84876" marT="42438" marB="42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700"/>
                        <a:t>No</a:t>
                      </a:r>
                    </a:p>
                  </a:txBody>
                  <a:tcPr marL="84876" marR="84876" marT="42438" marB="42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700"/>
                        <a:t>Yes</a:t>
                      </a:r>
                    </a:p>
                  </a:txBody>
                  <a:tcPr marL="84876" marR="84876" marT="42438" marB="42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700"/>
                        <a:t>Yes</a:t>
                      </a:r>
                    </a:p>
                  </a:txBody>
                  <a:tcPr marL="84876" marR="84876" marT="42438" marB="42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700"/>
                        <a:t>Yes</a:t>
                      </a:r>
                    </a:p>
                  </a:txBody>
                  <a:tcPr marL="84876" marR="84876" marT="42438" marB="42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7931625"/>
                  </a:ext>
                </a:extLst>
              </a:tr>
              <a:tr h="594131">
                <a:tc>
                  <a:txBody>
                    <a:bodyPr/>
                    <a:lstStyle/>
                    <a:p>
                      <a:r>
                        <a:rPr lang="en-IN" sz="1700"/>
                        <a:t>Customer-Managed Keys</a:t>
                      </a:r>
                    </a:p>
                  </a:txBody>
                  <a:tcPr marL="84876" marR="84876" marT="42438" marB="42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700"/>
                        <a:t>No</a:t>
                      </a:r>
                    </a:p>
                  </a:txBody>
                  <a:tcPr marL="84876" marR="84876" marT="42438" marB="42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700"/>
                        <a:t>Yes</a:t>
                      </a:r>
                    </a:p>
                  </a:txBody>
                  <a:tcPr marL="84876" marR="84876" marT="42438" marB="42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700"/>
                        <a:t>Yes (Tri-Secret)</a:t>
                      </a:r>
                    </a:p>
                  </a:txBody>
                  <a:tcPr marL="84876" marR="84876" marT="42438" marB="42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700"/>
                        <a:t>Yes</a:t>
                      </a:r>
                    </a:p>
                  </a:txBody>
                  <a:tcPr marL="84876" marR="84876" marT="42438" marB="42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4118501"/>
                  </a:ext>
                </a:extLst>
              </a:tr>
              <a:tr h="594131">
                <a:tc>
                  <a:txBody>
                    <a:bodyPr/>
                    <a:lstStyle/>
                    <a:p>
                      <a:r>
                        <a:rPr lang="en-IN" sz="1700"/>
                        <a:t>Compliance (HIPAA, PCI DSS)</a:t>
                      </a:r>
                    </a:p>
                  </a:txBody>
                  <a:tcPr marL="84876" marR="84876" marT="42438" marB="42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700"/>
                        <a:t>No</a:t>
                      </a:r>
                    </a:p>
                  </a:txBody>
                  <a:tcPr marL="84876" marR="84876" marT="42438" marB="42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700"/>
                        <a:t>Partial</a:t>
                      </a:r>
                    </a:p>
                  </a:txBody>
                  <a:tcPr marL="84876" marR="84876" marT="42438" marB="42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700"/>
                        <a:t>Yes</a:t>
                      </a:r>
                    </a:p>
                  </a:txBody>
                  <a:tcPr marL="84876" marR="84876" marT="42438" marB="42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700"/>
                        <a:t>Yes</a:t>
                      </a:r>
                    </a:p>
                  </a:txBody>
                  <a:tcPr marL="84876" marR="84876" marT="42438" marB="42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2340433"/>
                  </a:ext>
                </a:extLst>
              </a:tr>
              <a:tr h="594131">
                <a:tc>
                  <a:txBody>
                    <a:bodyPr/>
                    <a:lstStyle/>
                    <a:p>
                      <a:r>
                        <a:rPr lang="en-IN" sz="1700"/>
                        <a:t>Dedicated Infrastructure</a:t>
                      </a:r>
                    </a:p>
                  </a:txBody>
                  <a:tcPr marL="84876" marR="84876" marT="42438" marB="42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700"/>
                        <a:t>No</a:t>
                      </a:r>
                    </a:p>
                  </a:txBody>
                  <a:tcPr marL="84876" marR="84876" marT="42438" marB="42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700"/>
                        <a:t>No</a:t>
                      </a:r>
                    </a:p>
                  </a:txBody>
                  <a:tcPr marL="84876" marR="84876" marT="42438" marB="42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700"/>
                        <a:t>Optional</a:t>
                      </a:r>
                    </a:p>
                  </a:txBody>
                  <a:tcPr marL="84876" marR="84876" marT="42438" marB="42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700" dirty="0"/>
                        <a:t>Yes</a:t>
                      </a:r>
                    </a:p>
                  </a:txBody>
                  <a:tcPr marL="84876" marR="84876" marT="42438" marB="42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42826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77205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1B937C8-682C-6578-7352-75FD9BE46E82}"/>
              </a:ext>
            </a:extLst>
          </p:cNvPr>
          <p:cNvSpPr txBox="1"/>
          <p:nvPr/>
        </p:nvSpPr>
        <p:spPr>
          <a:xfrm>
            <a:off x="603848" y="233889"/>
            <a:ext cx="24382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Virtual Warehouse Sizes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B4776F-A39D-9538-370A-468FF59D4DA7}"/>
              </a:ext>
            </a:extLst>
          </p:cNvPr>
          <p:cNvSpPr txBox="1"/>
          <p:nvPr/>
        </p:nvSpPr>
        <p:spPr>
          <a:xfrm>
            <a:off x="603848" y="854342"/>
            <a:ext cx="1067950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dirty="0"/>
              <a:t>Snowflake warehouse sizes are </a:t>
            </a:r>
            <a:r>
              <a:rPr lang="en-US" b="1" dirty="0"/>
              <a:t>scalable and represented in T-shirt sizes</a:t>
            </a:r>
            <a:r>
              <a:rPr lang="en-US" dirty="0"/>
              <a:t>. Each increase in size roughly </a:t>
            </a:r>
            <a:r>
              <a:rPr lang="en-US" b="1" dirty="0"/>
              <a:t>doubles the compute resources</a:t>
            </a:r>
            <a:r>
              <a:rPr lang="en-US" dirty="0"/>
              <a:t> (CPU, memory) and the query processing power.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256067D-F5AE-C6CD-5840-91BB51A658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3303584"/>
              </p:ext>
            </p:extLst>
          </p:nvPr>
        </p:nvGraphicFramePr>
        <p:xfrm>
          <a:off x="722375" y="1645920"/>
          <a:ext cx="10267072" cy="3944116"/>
        </p:xfrm>
        <a:graphic>
          <a:graphicData uri="http://schemas.openxmlformats.org/drawingml/2006/table">
            <a:tbl>
              <a:tblPr/>
              <a:tblGrid>
                <a:gridCol w="2640244">
                  <a:extLst>
                    <a:ext uri="{9D8B030D-6E8A-4147-A177-3AD203B41FA5}">
                      <a16:colId xmlns:a16="http://schemas.microsoft.com/office/drawing/2014/main" val="544628507"/>
                    </a:ext>
                  </a:extLst>
                </a:gridCol>
                <a:gridCol w="2442525">
                  <a:extLst>
                    <a:ext uri="{9D8B030D-6E8A-4147-A177-3AD203B41FA5}">
                      <a16:colId xmlns:a16="http://schemas.microsoft.com/office/drawing/2014/main" val="862799594"/>
                    </a:ext>
                  </a:extLst>
                </a:gridCol>
                <a:gridCol w="5184303">
                  <a:extLst>
                    <a:ext uri="{9D8B030D-6E8A-4147-A177-3AD203B41FA5}">
                      <a16:colId xmlns:a16="http://schemas.microsoft.com/office/drawing/2014/main" val="185991972"/>
                    </a:ext>
                  </a:extLst>
                </a:gridCol>
              </a:tblGrid>
              <a:tr h="400128">
                <a:tc>
                  <a:txBody>
                    <a:bodyPr/>
                    <a:lstStyle/>
                    <a:p>
                      <a:r>
                        <a:rPr lang="en-IN" sz="1600"/>
                        <a:t>Warehouse Size</a:t>
                      </a:r>
                    </a:p>
                  </a:txBody>
                  <a:tcPr marL="52894" marR="52894" marT="26447" marB="264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# of Server Clusters (Nodes)</a:t>
                      </a:r>
                    </a:p>
                  </a:txBody>
                  <a:tcPr marL="52894" marR="52894" marT="26447" marB="264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Use Case</a:t>
                      </a:r>
                    </a:p>
                  </a:txBody>
                  <a:tcPr marL="52894" marR="52894" marT="26447" marB="264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7090887"/>
                  </a:ext>
                </a:extLst>
              </a:tr>
              <a:tr h="571610">
                <a:tc>
                  <a:txBody>
                    <a:bodyPr/>
                    <a:lstStyle/>
                    <a:p>
                      <a:r>
                        <a:rPr lang="en-IN" sz="1600" b="1"/>
                        <a:t>X-Small (XS)</a:t>
                      </a:r>
                      <a:endParaRPr lang="en-IN" sz="1600"/>
                    </a:p>
                  </a:txBody>
                  <a:tcPr marL="52894" marR="52894" marT="26447" marB="264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1</a:t>
                      </a:r>
                    </a:p>
                  </a:txBody>
                  <a:tcPr marL="52894" marR="52894" marT="26447" marB="264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Small workloads, dev/test, lightweight queries</a:t>
                      </a:r>
                    </a:p>
                  </a:txBody>
                  <a:tcPr marL="52894" marR="52894" marT="26447" marB="264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6215428"/>
                  </a:ext>
                </a:extLst>
              </a:tr>
              <a:tr h="400128">
                <a:tc>
                  <a:txBody>
                    <a:bodyPr/>
                    <a:lstStyle/>
                    <a:p>
                      <a:r>
                        <a:rPr lang="en-IN" sz="1600" b="1"/>
                        <a:t>Small (S)</a:t>
                      </a:r>
                      <a:endParaRPr lang="en-IN" sz="1600"/>
                    </a:p>
                  </a:txBody>
                  <a:tcPr marL="52894" marR="52894" marT="26447" marB="264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  <a:endParaRPr lang="en-IN" sz="1600" dirty="0"/>
                    </a:p>
                  </a:txBody>
                  <a:tcPr marL="52894" marR="52894" marT="26447" marB="264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Light workloads, small analytics</a:t>
                      </a:r>
                    </a:p>
                  </a:txBody>
                  <a:tcPr marL="52894" marR="52894" marT="26447" marB="264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5297849"/>
                  </a:ext>
                </a:extLst>
              </a:tr>
              <a:tr h="400128">
                <a:tc>
                  <a:txBody>
                    <a:bodyPr/>
                    <a:lstStyle/>
                    <a:p>
                      <a:r>
                        <a:rPr lang="en-IN" sz="1600" b="1"/>
                        <a:t>Medium (M)</a:t>
                      </a:r>
                      <a:endParaRPr lang="en-IN" sz="1600"/>
                    </a:p>
                  </a:txBody>
                  <a:tcPr marL="52894" marR="52894" marT="26447" marB="264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4</a:t>
                      </a:r>
                      <a:endParaRPr lang="en-IN" sz="1600" dirty="0"/>
                    </a:p>
                  </a:txBody>
                  <a:tcPr marL="52894" marR="52894" marT="26447" marB="264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Moderate workloads, ETL, dashboards</a:t>
                      </a:r>
                    </a:p>
                  </a:txBody>
                  <a:tcPr marL="52894" marR="52894" marT="26447" marB="264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2301113"/>
                  </a:ext>
                </a:extLst>
              </a:tr>
              <a:tr h="400128">
                <a:tc>
                  <a:txBody>
                    <a:bodyPr/>
                    <a:lstStyle/>
                    <a:p>
                      <a:r>
                        <a:rPr lang="en-IN" sz="1600" b="1"/>
                        <a:t>Large (L)</a:t>
                      </a:r>
                      <a:endParaRPr lang="en-IN" sz="1600"/>
                    </a:p>
                  </a:txBody>
                  <a:tcPr marL="52894" marR="52894" marT="26447" marB="264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8</a:t>
                      </a:r>
                    </a:p>
                  </a:txBody>
                  <a:tcPr marL="52894" marR="52894" marT="26447" marB="264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High concurrency, complex analytics</a:t>
                      </a:r>
                    </a:p>
                  </a:txBody>
                  <a:tcPr marL="52894" marR="52894" marT="26447" marB="264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6532776"/>
                  </a:ext>
                </a:extLst>
              </a:tr>
              <a:tr h="571610">
                <a:tc>
                  <a:txBody>
                    <a:bodyPr/>
                    <a:lstStyle/>
                    <a:p>
                      <a:r>
                        <a:rPr lang="en-IN" sz="1600" b="1"/>
                        <a:t>X-Large (XL)</a:t>
                      </a:r>
                      <a:endParaRPr lang="en-IN" sz="1600"/>
                    </a:p>
                  </a:txBody>
                  <a:tcPr marL="52894" marR="52894" marT="26447" marB="264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16</a:t>
                      </a:r>
                    </a:p>
                  </a:txBody>
                  <a:tcPr marL="52894" marR="52894" marT="26447" marB="264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Heavy ETL, multiple dashboards, high concurrency</a:t>
                      </a:r>
                    </a:p>
                  </a:txBody>
                  <a:tcPr marL="52894" marR="52894" marT="26447" marB="264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0243045"/>
                  </a:ext>
                </a:extLst>
              </a:tr>
              <a:tr h="400128">
                <a:tc>
                  <a:txBody>
                    <a:bodyPr/>
                    <a:lstStyle/>
                    <a:p>
                      <a:r>
                        <a:rPr lang="en-IN" sz="1600" b="1"/>
                        <a:t>2X-Large</a:t>
                      </a:r>
                      <a:endParaRPr lang="en-IN" sz="1600"/>
                    </a:p>
                  </a:txBody>
                  <a:tcPr marL="52894" marR="52894" marT="26447" marB="264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32</a:t>
                      </a:r>
                    </a:p>
                  </a:txBody>
                  <a:tcPr marL="52894" marR="52894" marT="26447" marB="264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Very large workloads, enterprise-level queries</a:t>
                      </a:r>
                    </a:p>
                  </a:txBody>
                  <a:tcPr marL="52894" marR="52894" marT="26447" marB="264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2723370"/>
                  </a:ext>
                </a:extLst>
              </a:tr>
              <a:tr h="400128">
                <a:tc>
                  <a:txBody>
                    <a:bodyPr/>
                    <a:lstStyle/>
                    <a:p>
                      <a:r>
                        <a:rPr lang="en-IN" sz="1600" b="1"/>
                        <a:t>3X-Large</a:t>
                      </a:r>
                      <a:endParaRPr lang="en-IN" sz="1600"/>
                    </a:p>
                  </a:txBody>
                  <a:tcPr marL="52894" marR="52894" marT="26447" marB="264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64</a:t>
                      </a:r>
                    </a:p>
                  </a:txBody>
                  <a:tcPr marL="52894" marR="52894" marT="26447" marB="264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Massive analytics, high concurrency</a:t>
                      </a:r>
                    </a:p>
                  </a:txBody>
                  <a:tcPr marL="52894" marR="52894" marT="26447" marB="264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6594636"/>
                  </a:ext>
                </a:extLst>
              </a:tr>
              <a:tr h="400128">
                <a:tc>
                  <a:txBody>
                    <a:bodyPr/>
                    <a:lstStyle/>
                    <a:p>
                      <a:r>
                        <a:rPr lang="en-IN" sz="1600" b="1"/>
                        <a:t>4X-Large</a:t>
                      </a:r>
                      <a:endParaRPr lang="en-IN" sz="1600"/>
                    </a:p>
                  </a:txBody>
                  <a:tcPr marL="52894" marR="52894" marT="26447" marB="264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128</a:t>
                      </a:r>
                    </a:p>
                  </a:txBody>
                  <a:tcPr marL="52894" marR="52894" marT="26447" marB="264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Extreme workloads, peak demand</a:t>
                      </a:r>
                    </a:p>
                  </a:txBody>
                  <a:tcPr marL="52894" marR="52894" marT="26447" marB="264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08959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100931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1B937C8-682C-6578-7352-75FD9BE46E82}"/>
              </a:ext>
            </a:extLst>
          </p:cNvPr>
          <p:cNvSpPr txBox="1"/>
          <p:nvPr/>
        </p:nvSpPr>
        <p:spPr>
          <a:xfrm>
            <a:off x="603848" y="233889"/>
            <a:ext cx="25067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Scaling and Concurrency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B4776F-A39D-9538-370A-468FF59D4DA7}"/>
              </a:ext>
            </a:extLst>
          </p:cNvPr>
          <p:cNvSpPr txBox="1"/>
          <p:nvPr/>
        </p:nvSpPr>
        <p:spPr>
          <a:xfrm>
            <a:off x="603848" y="854342"/>
            <a:ext cx="10679503" cy="35548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dirty="0"/>
              <a:t>Snowflake warehouses support </a:t>
            </a:r>
            <a:r>
              <a:rPr lang="en-US" b="1" dirty="0"/>
              <a:t>scaling</a:t>
            </a:r>
            <a:r>
              <a:rPr lang="en-US" dirty="0"/>
              <a:t> in two ways:</a:t>
            </a:r>
          </a:p>
          <a:p>
            <a:pPr>
              <a:spcBef>
                <a:spcPts val="600"/>
              </a:spcBef>
            </a:pPr>
            <a:r>
              <a:rPr lang="en-US" b="1" dirty="0"/>
              <a:t>Vertically (Resize)</a:t>
            </a:r>
          </a:p>
          <a:p>
            <a:pPr lvl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You can </a:t>
            </a:r>
            <a:r>
              <a:rPr lang="en-US" b="1" dirty="0"/>
              <a:t>increase/decrease the warehouse size</a:t>
            </a:r>
            <a:r>
              <a:rPr lang="en-US" dirty="0"/>
              <a:t> on-the-fly without downtime.</a:t>
            </a:r>
          </a:p>
          <a:p>
            <a:pPr lvl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Example: XS → M → L</a:t>
            </a:r>
          </a:p>
          <a:p>
            <a:pPr lvl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Impact: Increases query processing speed and memory available.</a:t>
            </a:r>
          </a:p>
          <a:p>
            <a:pPr>
              <a:spcBef>
                <a:spcPts val="600"/>
              </a:spcBef>
            </a:pPr>
            <a:r>
              <a:rPr lang="en-US" b="1" dirty="0"/>
              <a:t>Horizontally (Multi-Cluster Warehouses)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Supports </a:t>
            </a:r>
            <a:r>
              <a:rPr lang="en-US" b="1" dirty="0"/>
              <a:t>auto-scaling for concurrent workloads</a:t>
            </a:r>
            <a:r>
              <a:rPr lang="en-US" dirty="0"/>
              <a:t>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You can define </a:t>
            </a:r>
            <a:r>
              <a:rPr lang="en-US" b="1" dirty="0"/>
              <a:t>min and max clusters</a:t>
            </a:r>
            <a:r>
              <a:rPr lang="en-US" dirty="0"/>
              <a:t>, e.g., 1–5 clusters.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Snowflake automatically spins up clusters during </a:t>
            </a:r>
            <a:r>
              <a:rPr lang="en-US" b="1" dirty="0"/>
              <a:t>high concurrency</a:t>
            </a:r>
            <a:r>
              <a:rPr lang="en-US" dirty="0"/>
              <a:t> and shuts them down when idle.</a:t>
            </a:r>
          </a:p>
          <a:p>
            <a:pPr>
              <a:spcBef>
                <a:spcPts val="600"/>
              </a:spcBef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05828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1B937C8-682C-6578-7352-75FD9BE46E82}"/>
              </a:ext>
            </a:extLst>
          </p:cNvPr>
          <p:cNvSpPr txBox="1"/>
          <p:nvPr/>
        </p:nvSpPr>
        <p:spPr>
          <a:xfrm>
            <a:off x="603848" y="233889"/>
            <a:ext cx="36394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Snowflake Multi-Cluster Warehouses</a:t>
            </a:r>
            <a:endParaRPr lang="en-US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B4776F-A39D-9538-370A-468FF59D4DA7}"/>
              </a:ext>
            </a:extLst>
          </p:cNvPr>
          <p:cNvSpPr txBox="1"/>
          <p:nvPr/>
        </p:nvSpPr>
        <p:spPr>
          <a:xfrm>
            <a:off x="603848" y="854342"/>
            <a:ext cx="10679503" cy="55245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Multi-cluster warehouses allow Snowflake to automatically scale compute resources horizontally to handle high concurrency.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This ensures consistent query performance, even when multiple users or processes run queries simultaneously..</a:t>
            </a:r>
          </a:p>
          <a:p>
            <a:pPr>
              <a:spcBef>
                <a:spcPts val="600"/>
              </a:spcBef>
            </a:pPr>
            <a:r>
              <a:rPr lang="en-US" b="1" dirty="0"/>
              <a:t>Horizontal Scaling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Multi-cluster warehouses scale </a:t>
            </a:r>
            <a:r>
              <a:rPr lang="en-US" b="1" dirty="0"/>
              <a:t>out</a:t>
            </a:r>
            <a:r>
              <a:rPr lang="en-US" dirty="0"/>
              <a:t>, i.e., add more compute clusters.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Each cluster is a </a:t>
            </a:r>
            <a:r>
              <a:rPr lang="en-US" b="1" dirty="0"/>
              <a:t>full copy of the warehouse</a:t>
            </a:r>
            <a:r>
              <a:rPr lang="en-US" dirty="0"/>
              <a:t>, sharing data but processing separate queries.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Helps handle </a:t>
            </a:r>
            <a:r>
              <a:rPr lang="en-US" b="1" dirty="0"/>
              <a:t>concurrent queries</a:t>
            </a:r>
            <a:r>
              <a:rPr lang="en-US" dirty="0"/>
              <a:t> without slowing down performance.</a:t>
            </a:r>
          </a:p>
          <a:p>
            <a:pPr>
              <a:spcBef>
                <a:spcPts val="600"/>
              </a:spcBef>
            </a:pPr>
            <a:r>
              <a:rPr lang="en-US" b="1" dirty="0"/>
              <a:t>How Multi-Cluster Warehouses Work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Snowflake sends the query to the </a:t>
            </a:r>
            <a:r>
              <a:rPr lang="en-US" b="1" dirty="0"/>
              <a:t>current cluster</a:t>
            </a:r>
            <a:r>
              <a:rPr lang="en-US" dirty="0"/>
              <a:t>.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If the active cluster is overloaded, Snowflake </a:t>
            </a:r>
            <a:r>
              <a:rPr lang="en-US" b="1" dirty="0"/>
              <a:t>spins up additional clusters</a:t>
            </a:r>
            <a:r>
              <a:rPr lang="en-US" dirty="0"/>
              <a:t>.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Extra clusters that are not used are automatically </a:t>
            </a:r>
            <a:r>
              <a:rPr lang="en-US" b="1" dirty="0"/>
              <a:t>suspended</a:t>
            </a:r>
            <a:r>
              <a:rPr lang="en-US" dirty="0"/>
              <a:t> to save cost.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Queries run </a:t>
            </a:r>
            <a:r>
              <a:rPr lang="en-US" b="1" dirty="0"/>
              <a:t>without queuing</a:t>
            </a:r>
            <a:r>
              <a:rPr lang="en-US" dirty="0"/>
              <a:t>, improving performance for concurrent users.</a:t>
            </a:r>
          </a:p>
          <a:p>
            <a:pPr>
              <a:spcBef>
                <a:spcPts val="600"/>
              </a:spcBef>
            </a:pPr>
            <a:endParaRPr lang="en-US" dirty="0"/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spcBef>
                <a:spcPts val="600"/>
              </a:spcBef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32977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1B937C8-682C-6578-7352-75FD9BE46E82}"/>
              </a:ext>
            </a:extLst>
          </p:cNvPr>
          <p:cNvSpPr txBox="1"/>
          <p:nvPr/>
        </p:nvSpPr>
        <p:spPr>
          <a:xfrm>
            <a:off x="603848" y="233889"/>
            <a:ext cx="36394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Snowflake Multi-Cluster Warehouses</a:t>
            </a:r>
            <a:endParaRPr lang="en-US" b="1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B4E1C8B-B8D1-595D-1549-4110AB044B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130769"/>
              </p:ext>
            </p:extLst>
          </p:nvPr>
        </p:nvGraphicFramePr>
        <p:xfrm>
          <a:off x="695288" y="711105"/>
          <a:ext cx="10131424" cy="1828800"/>
        </p:xfrm>
        <a:graphic>
          <a:graphicData uri="http://schemas.openxmlformats.org/drawingml/2006/table">
            <a:tbl>
              <a:tblPr/>
              <a:tblGrid>
                <a:gridCol w="5065712">
                  <a:extLst>
                    <a:ext uri="{9D8B030D-6E8A-4147-A177-3AD203B41FA5}">
                      <a16:colId xmlns:a16="http://schemas.microsoft.com/office/drawing/2014/main" val="1695756779"/>
                    </a:ext>
                  </a:extLst>
                </a:gridCol>
                <a:gridCol w="5065712">
                  <a:extLst>
                    <a:ext uri="{9D8B030D-6E8A-4147-A177-3AD203B41FA5}">
                      <a16:colId xmlns:a16="http://schemas.microsoft.com/office/drawing/2014/main" val="27788369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Setting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49309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 b="1"/>
                        <a:t>Min Clusters</a:t>
                      </a:r>
                      <a:endParaRPr lang="en-IN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Minimum number of clusters to keep running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16465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 b="1"/>
                        <a:t>Max Clusters</a:t>
                      </a:r>
                      <a:endParaRPr lang="en-IN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Maximum number of clusters to scale up to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707887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 b="1"/>
                        <a:t>Scaling Policy</a:t>
                      </a:r>
                      <a:endParaRPr lang="en-IN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How Snowflake decides to start/stop clusters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304722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 b="1"/>
                        <a:t>Warehouse Size</a:t>
                      </a:r>
                      <a:endParaRPr lang="en-IN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Size of each cluster (XS, S, M, L, XL, etc.)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74666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75196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1B937C8-682C-6578-7352-75FD9BE46E82}"/>
              </a:ext>
            </a:extLst>
          </p:cNvPr>
          <p:cNvSpPr txBox="1"/>
          <p:nvPr/>
        </p:nvSpPr>
        <p:spPr>
          <a:xfrm>
            <a:off x="603848" y="233889"/>
            <a:ext cx="36394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Snowflake Multi-Cluster Warehouses</a:t>
            </a:r>
            <a:endParaRPr lang="en-US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B4776F-A39D-9538-370A-468FF59D4DA7}"/>
              </a:ext>
            </a:extLst>
          </p:cNvPr>
          <p:cNvSpPr txBox="1"/>
          <p:nvPr/>
        </p:nvSpPr>
        <p:spPr>
          <a:xfrm>
            <a:off x="603848" y="854342"/>
            <a:ext cx="10679503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b="1" dirty="0"/>
              <a:t>Scaling Policies</a:t>
            </a:r>
          </a:p>
          <a:p>
            <a:pPr>
              <a:spcBef>
                <a:spcPts val="600"/>
              </a:spcBef>
            </a:pPr>
            <a:r>
              <a:rPr lang="en-US" dirty="0"/>
              <a:t>Snowflake supports two </a:t>
            </a:r>
            <a:r>
              <a:rPr lang="en-US" b="1" dirty="0"/>
              <a:t>auto-scaling policies</a:t>
            </a:r>
            <a:r>
              <a:rPr lang="en-US" dirty="0"/>
              <a:t>:</a:t>
            </a:r>
          </a:p>
          <a:p>
            <a:pPr>
              <a:spcBef>
                <a:spcPts val="600"/>
              </a:spcBef>
            </a:pPr>
            <a:r>
              <a:rPr lang="en-US" b="1" dirty="0"/>
              <a:t>Standard Policy (Default)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Scales </a:t>
            </a:r>
            <a:r>
              <a:rPr lang="en-US" b="1" dirty="0"/>
              <a:t>up</a:t>
            </a:r>
            <a:r>
              <a:rPr lang="en-US" dirty="0"/>
              <a:t> when load increases.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Scales </a:t>
            </a:r>
            <a:r>
              <a:rPr lang="en-US" b="1" dirty="0"/>
              <a:t>down</a:t>
            </a:r>
            <a:r>
              <a:rPr lang="en-US" dirty="0"/>
              <a:t> after some idle time.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Example: Min 1 cluster, Max 3 clusters.</a:t>
            </a:r>
          </a:p>
          <a:p>
            <a:pPr marL="1257300" lvl="2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If concurrency exceeds capacity → 2nd cluster starts.</a:t>
            </a:r>
          </a:p>
          <a:p>
            <a:pPr marL="1257300" lvl="2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Extra clusters suspended when idle.</a:t>
            </a:r>
          </a:p>
          <a:p>
            <a:pPr>
              <a:spcBef>
                <a:spcPts val="600"/>
              </a:spcBef>
            </a:pPr>
            <a:r>
              <a:rPr lang="en-US" b="1" dirty="0"/>
              <a:t>Economy Policy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Scales </a:t>
            </a:r>
            <a:r>
              <a:rPr lang="en-US" b="1" dirty="0"/>
              <a:t>up</a:t>
            </a:r>
            <a:r>
              <a:rPr lang="en-US" dirty="0"/>
              <a:t> only when needed.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Suspends extra clusters </a:t>
            </a:r>
            <a:r>
              <a:rPr lang="en-US" b="1" dirty="0"/>
              <a:t>more aggressively</a:t>
            </a:r>
            <a:r>
              <a:rPr lang="en-US" dirty="0"/>
              <a:t> to save cost.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Ideal for cost-sensitive workloads with </a:t>
            </a:r>
            <a:r>
              <a:rPr lang="en-US" b="1" dirty="0"/>
              <a:t>predictable usage patterns</a:t>
            </a:r>
            <a:r>
              <a:rPr lang="en-US" dirty="0"/>
              <a:t>.</a:t>
            </a:r>
          </a:p>
          <a:p>
            <a:pPr>
              <a:spcBef>
                <a:spcPts val="600"/>
              </a:spcBef>
            </a:pPr>
            <a:endParaRPr lang="en-US" dirty="0"/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spcBef>
                <a:spcPts val="600"/>
              </a:spcBef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94694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1B937C8-682C-6578-7352-75FD9BE46E82}"/>
              </a:ext>
            </a:extLst>
          </p:cNvPr>
          <p:cNvSpPr txBox="1"/>
          <p:nvPr/>
        </p:nvSpPr>
        <p:spPr>
          <a:xfrm>
            <a:off x="603848" y="233889"/>
            <a:ext cx="36394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Snowflake Multi-Cluster Warehouses</a:t>
            </a:r>
            <a:endParaRPr lang="en-US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B4776F-A39D-9538-370A-468FF59D4DA7}"/>
              </a:ext>
            </a:extLst>
          </p:cNvPr>
          <p:cNvSpPr txBox="1"/>
          <p:nvPr/>
        </p:nvSpPr>
        <p:spPr>
          <a:xfrm>
            <a:off x="603848" y="854342"/>
            <a:ext cx="10679503" cy="4539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b="1" dirty="0"/>
              <a:t>Best Practices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Choose </a:t>
            </a:r>
            <a:r>
              <a:rPr lang="en-US" b="1" dirty="0"/>
              <a:t>appropriate warehouse size</a:t>
            </a:r>
            <a:r>
              <a:rPr lang="en-US" dirty="0"/>
              <a:t> for base workload.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Set </a:t>
            </a:r>
            <a:r>
              <a:rPr lang="en-US" b="1" dirty="0"/>
              <a:t>Min and Max clusters</a:t>
            </a:r>
            <a:r>
              <a:rPr lang="en-US" dirty="0"/>
              <a:t> based on expected concurrency.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Use </a:t>
            </a:r>
            <a:r>
              <a:rPr lang="en-US" b="1" dirty="0"/>
              <a:t>Standard Policy</a:t>
            </a:r>
            <a:r>
              <a:rPr lang="en-US" dirty="0"/>
              <a:t> for consistent performance, </a:t>
            </a:r>
            <a:r>
              <a:rPr lang="en-US" b="1" dirty="0"/>
              <a:t>Economy Policy</a:t>
            </a:r>
            <a:r>
              <a:rPr lang="en-US" dirty="0"/>
              <a:t> to save costs.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Monitor warehouse </a:t>
            </a:r>
            <a:r>
              <a:rPr lang="en-US" b="1" dirty="0"/>
              <a:t>credit usage</a:t>
            </a:r>
            <a:r>
              <a:rPr lang="en-US" dirty="0"/>
              <a:t> to optimize cost vs performance.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Avoid extremely large clusters unless absolutely necessary; scale horizontally instead.</a:t>
            </a:r>
          </a:p>
          <a:p>
            <a:pPr>
              <a:spcBef>
                <a:spcPts val="600"/>
              </a:spcBef>
            </a:pPr>
            <a:r>
              <a:rPr lang="en-US" b="1" dirty="0"/>
              <a:t>Cost Implications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dirty="0"/>
              <a:t>Charges = Number of clusters × size × active time</a:t>
            </a:r>
            <a:endParaRPr lang="en-US" dirty="0"/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Idle clusters do </a:t>
            </a:r>
            <a:r>
              <a:rPr lang="en-US" b="1" dirty="0"/>
              <a:t>not consume credits</a:t>
            </a:r>
            <a:r>
              <a:rPr lang="en-US" dirty="0"/>
              <a:t> if suspended.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Horizontal scaling can increase costs but prevents </a:t>
            </a:r>
            <a:r>
              <a:rPr lang="en-US" b="1" dirty="0"/>
              <a:t>query queuing</a:t>
            </a:r>
            <a:r>
              <a:rPr lang="en-US" dirty="0"/>
              <a:t>, which is critical for BI dashboards and high SLA workloads.</a:t>
            </a:r>
          </a:p>
          <a:p>
            <a:pPr>
              <a:spcBef>
                <a:spcPts val="600"/>
              </a:spcBef>
            </a:pPr>
            <a:endParaRPr lang="en-US" dirty="0"/>
          </a:p>
          <a:p>
            <a:pPr>
              <a:spcBef>
                <a:spcPts val="600"/>
              </a:spcBef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49661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1B937C8-682C-6578-7352-75FD9BE46E82}"/>
              </a:ext>
            </a:extLst>
          </p:cNvPr>
          <p:cNvSpPr txBox="1"/>
          <p:nvPr/>
        </p:nvSpPr>
        <p:spPr>
          <a:xfrm>
            <a:off x="603848" y="233889"/>
            <a:ext cx="2781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Snowflake Micro-Partitions</a:t>
            </a:r>
            <a:endParaRPr lang="en-US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B4776F-A39D-9538-370A-468FF59D4DA7}"/>
              </a:ext>
            </a:extLst>
          </p:cNvPr>
          <p:cNvSpPr txBox="1"/>
          <p:nvPr/>
        </p:nvSpPr>
        <p:spPr>
          <a:xfrm>
            <a:off x="603848" y="854342"/>
            <a:ext cx="11191912" cy="2416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/>
              <a:t>In Snowflake, </a:t>
            </a:r>
            <a:r>
              <a:rPr lang="en-IN" b="1" dirty="0"/>
              <a:t>data storage is automatically managed</a:t>
            </a:r>
            <a:r>
              <a:rPr lang="en-IN" dirty="0"/>
              <a:t> using </a:t>
            </a:r>
            <a:r>
              <a:rPr lang="en-IN" b="1" dirty="0"/>
              <a:t>micro-partitions</a:t>
            </a:r>
            <a:r>
              <a:rPr lang="en-IN" dirty="0"/>
              <a:t>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/>
              <a:t>A </a:t>
            </a:r>
            <a:r>
              <a:rPr lang="en-IN" b="1" dirty="0"/>
              <a:t>micro-partition</a:t>
            </a:r>
            <a:r>
              <a:rPr lang="en-IN" dirty="0"/>
              <a:t> is a </a:t>
            </a:r>
            <a:r>
              <a:rPr lang="en-IN" b="1" dirty="0"/>
              <a:t>contiguous unit of storage</a:t>
            </a:r>
            <a:r>
              <a:rPr lang="en-IN" dirty="0"/>
              <a:t> that holds </a:t>
            </a:r>
            <a:r>
              <a:rPr lang="en-IN" b="1" dirty="0"/>
              <a:t>columns of table data in a compressed, immutable format</a:t>
            </a:r>
            <a:r>
              <a:rPr lang="en-IN" dirty="0"/>
              <a:t>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/>
              <a:t>Snowflake automatically organizes, compresses, and manages these micro-partitions behind the scenes.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/>
              <a:t>Micro-partitions are fundamental to </a:t>
            </a:r>
            <a:r>
              <a:rPr lang="en-IN" b="1" dirty="0"/>
              <a:t>Snowflake’s performance, query optimization, and storage efficiency</a:t>
            </a:r>
            <a:r>
              <a:rPr lang="en-IN" dirty="0"/>
              <a:t>.</a:t>
            </a:r>
          </a:p>
          <a:p>
            <a:pPr>
              <a:spcBef>
                <a:spcPts val="600"/>
              </a:spcBef>
            </a:pPr>
            <a:endParaRPr lang="en-US" dirty="0"/>
          </a:p>
          <a:p>
            <a:pPr>
              <a:spcBef>
                <a:spcPts val="600"/>
              </a:spcBef>
            </a:pPr>
            <a:endParaRPr lang="en-US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509C73E-A27C-C974-1C34-DC3F05FD9E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4051266"/>
              </p:ext>
            </p:extLst>
          </p:nvPr>
        </p:nvGraphicFramePr>
        <p:xfrm>
          <a:off x="792480" y="2942241"/>
          <a:ext cx="10607040" cy="2928207"/>
        </p:xfrm>
        <a:graphic>
          <a:graphicData uri="http://schemas.openxmlformats.org/drawingml/2006/table">
            <a:tbl>
              <a:tblPr/>
              <a:tblGrid>
                <a:gridCol w="3130457">
                  <a:extLst>
                    <a:ext uri="{9D8B030D-6E8A-4147-A177-3AD203B41FA5}">
                      <a16:colId xmlns:a16="http://schemas.microsoft.com/office/drawing/2014/main" val="2590333766"/>
                    </a:ext>
                  </a:extLst>
                </a:gridCol>
                <a:gridCol w="7476583">
                  <a:extLst>
                    <a:ext uri="{9D8B030D-6E8A-4147-A177-3AD203B41FA5}">
                      <a16:colId xmlns:a16="http://schemas.microsoft.com/office/drawing/2014/main" val="62436434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189043"/>
                  </a:ext>
                </a:extLst>
              </a:tr>
              <a:tr h="431895">
                <a:tc>
                  <a:txBody>
                    <a:bodyPr/>
                    <a:lstStyle/>
                    <a:p>
                      <a:r>
                        <a:rPr lang="en-IN" sz="1800" b="1"/>
                        <a:t>Size</a:t>
                      </a:r>
                      <a:endParaRPr lang="en-IN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Typically 16 MB to 64 MB uncompressed per micro-partition.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5802460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r>
                        <a:rPr lang="en-IN" sz="1800" b="1" dirty="0"/>
                        <a:t>Columnar Storage</a:t>
                      </a:r>
                      <a:endParaRPr lang="en-IN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Data is stored </a:t>
                      </a:r>
                      <a:r>
                        <a:rPr lang="en-US" sz="1800" b="1"/>
                        <a:t>column-wise</a:t>
                      </a:r>
                      <a:r>
                        <a:rPr lang="en-US" sz="1800"/>
                        <a:t>, improving compression and query performance.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355884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800" b="1" dirty="0"/>
                        <a:t>Immutable</a:t>
                      </a:r>
                      <a:endParaRPr lang="en-IN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Once written, micro-partitions </a:t>
                      </a:r>
                      <a:r>
                        <a:rPr lang="en-US" sz="1800" b="1"/>
                        <a:t>cannot be changed</a:t>
                      </a:r>
                      <a:r>
                        <a:rPr lang="en-US" sz="1800"/>
                        <a:t>; new data creates new partitions.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6589737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r>
                        <a:rPr lang="en-IN" sz="1800" b="1" dirty="0"/>
                        <a:t>Automatically Managed</a:t>
                      </a:r>
                      <a:endParaRPr lang="en-IN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Snowflake handles creation, metadata tracking, and pruning.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0915007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en-IN" sz="1800" b="1"/>
                        <a:t>Metadata Stored</a:t>
                      </a:r>
                      <a:endParaRPr lang="en-IN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Includes min/max values for each column, row count, and clustering info.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65675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23804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1B937C8-682C-6578-7352-75FD9BE46E82}"/>
              </a:ext>
            </a:extLst>
          </p:cNvPr>
          <p:cNvSpPr txBox="1"/>
          <p:nvPr/>
        </p:nvSpPr>
        <p:spPr>
          <a:xfrm>
            <a:off x="603848" y="233889"/>
            <a:ext cx="2781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Snowflake Micro-Partitions</a:t>
            </a:r>
            <a:endParaRPr lang="en-US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B4776F-A39D-9538-370A-468FF59D4DA7}"/>
              </a:ext>
            </a:extLst>
          </p:cNvPr>
          <p:cNvSpPr txBox="1"/>
          <p:nvPr/>
        </p:nvSpPr>
        <p:spPr>
          <a:xfrm>
            <a:off x="603848" y="854342"/>
            <a:ext cx="11191912" cy="49705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IN" b="1" dirty="0"/>
              <a:t>How Micro-Partitions Work</a:t>
            </a:r>
          </a:p>
          <a:p>
            <a:pPr>
              <a:spcBef>
                <a:spcPts val="600"/>
              </a:spcBef>
            </a:pPr>
            <a:r>
              <a:rPr lang="en-IN" b="1" dirty="0"/>
              <a:t>Data Loading</a:t>
            </a:r>
            <a:endParaRPr lang="en-IN" dirty="0"/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/>
              <a:t>When data is loaded into a table, Snowflake splits it into </a:t>
            </a:r>
            <a:r>
              <a:rPr lang="en-IN" b="1" dirty="0"/>
              <a:t>micro-partitions</a:t>
            </a:r>
            <a:r>
              <a:rPr lang="en-IN" dirty="0"/>
              <a:t>.</a:t>
            </a:r>
          </a:p>
          <a:p>
            <a:pPr>
              <a:spcBef>
                <a:spcPts val="600"/>
              </a:spcBef>
            </a:pPr>
            <a:r>
              <a:rPr lang="en-IN" b="1" dirty="0"/>
              <a:t>Columnar Compression</a:t>
            </a:r>
            <a:endParaRPr lang="en-IN" dirty="0"/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/>
              <a:t>Columns are stored separately for better compression and faster queries.</a:t>
            </a:r>
          </a:p>
          <a:p>
            <a:pPr>
              <a:spcBef>
                <a:spcPts val="600"/>
              </a:spcBef>
            </a:pPr>
            <a:r>
              <a:rPr lang="en-IN" b="1" dirty="0"/>
              <a:t>Metadata Storage</a:t>
            </a:r>
            <a:endParaRPr lang="en-IN" dirty="0"/>
          </a:p>
          <a:p>
            <a:pPr marL="742950" lvl="1" indent="-285750">
              <a:spcBef>
                <a:spcPts val="600"/>
              </a:spcBef>
              <a:buFont typeface="+mj-lt"/>
              <a:buAutoNum type="arabicPeriod"/>
            </a:pPr>
            <a:r>
              <a:rPr lang="en-IN" dirty="0"/>
              <a:t>Snowflake maintains metadata for each micro-partition:</a:t>
            </a:r>
          </a:p>
          <a:p>
            <a:pPr marL="1200150" lvl="2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/>
              <a:t>Min/Max values of columns</a:t>
            </a:r>
          </a:p>
          <a:p>
            <a:pPr marL="1200150" lvl="2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/>
              <a:t>Row count</a:t>
            </a:r>
          </a:p>
          <a:p>
            <a:pPr marL="1200150" lvl="2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/>
              <a:t>Deleted/active rows</a:t>
            </a:r>
          </a:p>
          <a:p>
            <a:pPr>
              <a:spcBef>
                <a:spcPts val="600"/>
              </a:spcBef>
            </a:pPr>
            <a:r>
              <a:rPr lang="en-IN" b="1" dirty="0"/>
              <a:t>Query Execution</a:t>
            </a:r>
            <a:endParaRPr lang="en-IN" dirty="0"/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/>
              <a:t>Snowflake uses </a:t>
            </a:r>
            <a:r>
              <a:rPr lang="en-IN" b="1" dirty="0"/>
              <a:t>partition pruning</a:t>
            </a:r>
            <a:r>
              <a:rPr lang="en-IN" dirty="0"/>
              <a:t> to skip irrelevant micro-partitions, speeding up queries.</a:t>
            </a:r>
          </a:p>
          <a:p>
            <a:pPr>
              <a:spcBef>
                <a:spcPts val="600"/>
              </a:spcBef>
            </a:pPr>
            <a:endParaRPr lang="en-US" dirty="0"/>
          </a:p>
          <a:p>
            <a:pPr>
              <a:spcBef>
                <a:spcPts val="600"/>
              </a:spcBef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06662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1B937C8-682C-6578-7352-75FD9BE46E82}"/>
              </a:ext>
            </a:extLst>
          </p:cNvPr>
          <p:cNvSpPr txBox="1"/>
          <p:nvPr/>
        </p:nvSpPr>
        <p:spPr>
          <a:xfrm>
            <a:off x="603848" y="233889"/>
            <a:ext cx="2781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Snowflake Micro-Partitions</a:t>
            </a:r>
            <a:endParaRPr lang="en-US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B4776F-A39D-9538-370A-468FF59D4DA7}"/>
              </a:ext>
            </a:extLst>
          </p:cNvPr>
          <p:cNvSpPr txBox="1"/>
          <p:nvPr/>
        </p:nvSpPr>
        <p:spPr>
          <a:xfrm>
            <a:off x="603848" y="854342"/>
            <a:ext cx="11191912" cy="35548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IN" b="1" dirty="0"/>
              <a:t>Benefits of Micro-Partitions</a:t>
            </a:r>
          </a:p>
          <a:p>
            <a:pPr>
              <a:spcBef>
                <a:spcPts val="600"/>
              </a:spcBef>
            </a:pPr>
            <a:r>
              <a:rPr lang="en-IN" b="1" dirty="0"/>
              <a:t>Performance Optimization</a:t>
            </a:r>
            <a:endParaRPr lang="en-IN" dirty="0"/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/>
              <a:t>Queries only scan relevant micro-partitions (</a:t>
            </a:r>
            <a:r>
              <a:rPr lang="en-IN" b="1" dirty="0"/>
              <a:t>pruning</a:t>
            </a:r>
            <a:r>
              <a:rPr lang="en-IN" dirty="0"/>
              <a:t>), reducing I/O.</a:t>
            </a:r>
          </a:p>
          <a:p>
            <a:pPr>
              <a:spcBef>
                <a:spcPts val="600"/>
              </a:spcBef>
            </a:pPr>
            <a:r>
              <a:rPr lang="en-IN" b="1" dirty="0"/>
              <a:t>Efficient Storage</a:t>
            </a:r>
            <a:endParaRPr lang="en-IN" dirty="0"/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/>
              <a:t>Columnar storage + automatic compression reduces storage usage.</a:t>
            </a:r>
          </a:p>
          <a:p>
            <a:pPr>
              <a:spcBef>
                <a:spcPts val="600"/>
              </a:spcBef>
            </a:pPr>
            <a:r>
              <a:rPr lang="en-IN" b="1" dirty="0"/>
              <a:t>Automatic Clustering</a:t>
            </a:r>
            <a:endParaRPr lang="en-IN" dirty="0"/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/>
              <a:t>Micro-partitions are created in order of insertion, aiding query performance without manual indexing.</a:t>
            </a:r>
          </a:p>
          <a:p>
            <a:pPr>
              <a:spcBef>
                <a:spcPts val="600"/>
              </a:spcBef>
            </a:pPr>
            <a:r>
              <a:rPr lang="en-IN" b="1" dirty="0"/>
              <a:t>Supports Time Travel &amp; Fail-safe</a:t>
            </a:r>
            <a:endParaRPr lang="en-IN" dirty="0"/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/>
              <a:t>Versioned micro-partitions enable </a:t>
            </a:r>
            <a:r>
              <a:rPr lang="en-IN" b="1" dirty="0"/>
              <a:t>Time Travel</a:t>
            </a:r>
            <a:r>
              <a:rPr lang="en-IN" dirty="0"/>
              <a:t> and </a:t>
            </a:r>
            <a:r>
              <a:rPr lang="en-IN" b="1" dirty="0"/>
              <a:t>data recovery</a:t>
            </a:r>
            <a:r>
              <a:rPr lang="en-IN" dirty="0"/>
              <a:t>.</a:t>
            </a:r>
          </a:p>
          <a:p>
            <a:pPr>
              <a:spcBef>
                <a:spcPts val="600"/>
              </a:spcBef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37803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1B937C8-682C-6578-7352-75FD9BE46E82}"/>
              </a:ext>
            </a:extLst>
          </p:cNvPr>
          <p:cNvSpPr txBox="1"/>
          <p:nvPr/>
        </p:nvSpPr>
        <p:spPr>
          <a:xfrm>
            <a:off x="603848" y="233889"/>
            <a:ext cx="2781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Snowflake Micro-Partitions</a:t>
            </a:r>
            <a:endParaRPr lang="en-US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B4776F-A39D-9538-370A-468FF59D4DA7}"/>
              </a:ext>
            </a:extLst>
          </p:cNvPr>
          <p:cNvSpPr txBox="1"/>
          <p:nvPr/>
        </p:nvSpPr>
        <p:spPr>
          <a:xfrm>
            <a:off x="603848" y="854342"/>
            <a:ext cx="11191912" cy="28469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dirty="0"/>
              <a:t>Partition Pruning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Partition pruning is the process where Snowflake scans only relevant micro-partitions based on query filters.</a:t>
            </a:r>
          </a:p>
          <a:p>
            <a:pPr>
              <a:spcBef>
                <a:spcPts val="600"/>
              </a:spcBef>
            </a:pPr>
            <a:endParaRPr lang="en-US" dirty="0"/>
          </a:p>
          <a:p>
            <a:pPr>
              <a:spcBef>
                <a:spcPts val="600"/>
              </a:spcBef>
            </a:pPr>
            <a:r>
              <a:rPr lang="en-US" dirty="0"/>
              <a:t>Example:</a:t>
            </a:r>
          </a:p>
          <a:p>
            <a:pPr lvl="1">
              <a:spcBef>
                <a:spcPts val="600"/>
              </a:spcBef>
            </a:pPr>
            <a:r>
              <a:rPr lang="en-US" dirty="0"/>
              <a:t>Table: SALES with 1 million rows.</a:t>
            </a:r>
          </a:p>
          <a:p>
            <a:pPr lvl="1">
              <a:spcBef>
                <a:spcPts val="600"/>
              </a:spcBef>
            </a:pPr>
            <a:r>
              <a:rPr lang="en-US" dirty="0"/>
              <a:t>Query: SELECT * FROM SALES WHERE YEAR=2024;</a:t>
            </a:r>
          </a:p>
          <a:p>
            <a:pPr lvl="1">
              <a:spcBef>
                <a:spcPts val="600"/>
              </a:spcBef>
            </a:pPr>
            <a:r>
              <a:rPr lang="en-US" dirty="0"/>
              <a:t>Snowflake checks metadata of micro-partitions and scans only those containing 2024.</a:t>
            </a:r>
          </a:p>
          <a:p>
            <a:pPr lvl="1">
              <a:spcBef>
                <a:spcPts val="600"/>
              </a:spcBef>
            </a:pPr>
            <a:r>
              <a:rPr lang="en-US" dirty="0"/>
              <a:t>Result: Faster query execution and reduced compute usage.</a:t>
            </a:r>
          </a:p>
        </p:txBody>
      </p:sp>
    </p:spTree>
    <p:extLst>
      <p:ext uri="{BB962C8B-B14F-4D97-AF65-F5344CB8AC3E}">
        <p14:creationId xmlns:p14="http://schemas.microsoft.com/office/powerpoint/2010/main" val="29285157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2ED0BF5-FD23-CFB8-4180-F8B5A83F92B7}"/>
              </a:ext>
            </a:extLst>
          </p:cNvPr>
          <p:cNvSpPr txBox="1"/>
          <p:nvPr/>
        </p:nvSpPr>
        <p:spPr>
          <a:xfrm>
            <a:off x="252322" y="1043168"/>
            <a:ext cx="953175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 </a:t>
            </a:r>
            <a:r>
              <a:rPr lang="en-US" b="1" dirty="0"/>
              <a:t>Stage</a:t>
            </a:r>
            <a:r>
              <a:rPr lang="en-US" dirty="0"/>
              <a:t> is a </a:t>
            </a:r>
            <a:r>
              <a:rPr lang="en-US" b="1" dirty="0"/>
              <a:t>location where data files are stored (staged)</a:t>
            </a:r>
            <a:r>
              <a:rPr lang="en-US" dirty="0"/>
              <a:t> before being loaded into Snowflake tables or after being unloaded from them.</a:t>
            </a:r>
          </a:p>
          <a:p>
            <a:r>
              <a:rPr lang="en-US" dirty="0"/>
              <a:t>Stages act as an </a:t>
            </a:r>
            <a:r>
              <a:rPr lang="en-US" b="1" dirty="0"/>
              <a:t>intermediate storage area</a:t>
            </a:r>
            <a:r>
              <a:rPr lang="en-US" dirty="0"/>
              <a:t> — they can be internal to Snowflake or external (like S3, Azure Blob, or GCS).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1B12E08B-88C8-3FE8-4BE4-10AF2733B6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-233065"/>
            <a:ext cx="5879593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r>
              <a:rPr lang="en-US" b="1" dirty="0"/>
              <a:t>What is a Stage in Snowflake?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A1B1009-BFF9-84BA-D5E2-7CDC96AD81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4451016"/>
              </p:ext>
            </p:extLst>
          </p:nvPr>
        </p:nvGraphicFramePr>
        <p:xfrm>
          <a:off x="347472" y="2844281"/>
          <a:ext cx="10131426" cy="2834640"/>
        </p:xfrm>
        <a:graphic>
          <a:graphicData uri="http://schemas.openxmlformats.org/drawingml/2006/table">
            <a:tbl>
              <a:tblPr/>
              <a:tblGrid>
                <a:gridCol w="3377142">
                  <a:extLst>
                    <a:ext uri="{9D8B030D-6E8A-4147-A177-3AD203B41FA5}">
                      <a16:colId xmlns:a16="http://schemas.microsoft.com/office/drawing/2014/main" val="1072535493"/>
                    </a:ext>
                  </a:extLst>
                </a:gridCol>
                <a:gridCol w="3910626">
                  <a:extLst>
                    <a:ext uri="{9D8B030D-6E8A-4147-A177-3AD203B41FA5}">
                      <a16:colId xmlns:a16="http://schemas.microsoft.com/office/drawing/2014/main" val="1235685477"/>
                    </a:ext>
                  </a:extLst>
                </a:gridCol>
                <a:gridCol w="2843658">
                  <a:extLst>
                    <a:ext uri="{9D8B030D-6E8A-4147-A177-3AD203B41FA5}">
                      <a16:colId xmlns:a16="http://schemas.microsoft.com/office/drawing/2014/main" val="3489775090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IN" sz="1800" b="1"/>
                        <a:t>Type</a:t>
                      </a:r>
                      <a:endParaRPr lang="en-IN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1"/>
                        <a:t>Description</a:t>
                      </a:r>
                      <a:endParaRPr lang="en-IN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1"/>
                        <a:t>Example / URL Format</a:t>
                      </a:r>
                      <a:endParaRPr lang="en-IN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6359128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r>
                        <a:rPr lang="en-IN" sz="1800" b="1"/>
                        <a:t>User Stage</a:t>
                      </a:r>
                      <a:endParaRPr lang="en-IN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Automatically created for every user. Each user has a personal stage (@~).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@~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4405579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r>
                        <a:rPr lang="en-IN" sz="1800" b="1"/>
                        <a:t>Table Stage</a:t>
                      </a:r>
                      <a:endParaRPr lang="en-IN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Automatically created for every table. Used to stage files specific to that table.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@%table_name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4340678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en-IN" sz="1800" b="1"/>
                        <a:t>Named Stage</a:t>
                      </a:r>
                      <a:endParaRPr lang="en-IN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Created explicitly by users. Can be internal or external.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@my_stage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2086353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4FD25F7D-B96A-9FB7-4328-BDE3641E90D4}"/>
              </a:ext>
            </a:extLst>
          </p:cNvPr>
          <p:cNvSpPr txBox="1"/>
          <p:nvPr/>
        </p:nvSpPr>
        <p:spPr>
          <a:xfrm>
            <a:off x="252322" y="2227068"/>
            <a:ext cx="61173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Types of Stages in Snowflake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8359551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2ED0BF5-FD23-CFB8-4180-F8B5A83F92B7}"/>
              </a:ext>
            </a:extLst>
          </p:cNvPr>
          <p:cNvSpPr txBox="1"/>
          <p:nvPr/>
        </p:nvSpPr>
        <p:spPr>
          <a:xfrm>
            <a:off x="252322" y="1043168"/>
            <a:ext cx="953175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 </a:t>
            </a:r>
            <a:r>
              <a:rPr lang="en-US" b="1" dirty="0"/>
              <a:t>Stage</a:t>
            </a:r>
            <a:r>
              <a:rPr lang="en-US" dirty="0"/>
              <a:t> is a </a:t>
            </a:r>
            <a:r>
              <a:rPr lang="en-US" b="1" dirty="0"/>
              <a:t>location where data files are stored (staged)</a:t>
            </a:r>
            <a:r>
              <a:rPr lang="en-US" dirty="0"/>
              <a:t> before being loaded into Snowflake tables or after being unloaded from them.</a:t>
            </a:r>
          </a:p>
          <a:p>
            <a:r>
              <a:rPr lang="en-US" dirty="0"/>
              <a:t>Stages act as an </a:t>
            </a:r>
            <a:r>
              <a:rPr lang="en-US" b="1" dirty="0"/>
              <a:t>intermediate storage area</a:t>
            </a:r>
            <a:r>
              <a:rPr lang="en-US" dirty="0"/>
              <a:t> — they can be internal to Snowflake or external (like S3, Azure Blob, or GCS).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1B12E08B-88C8-3FE8-4BE4-10AF2733B6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-233065"/>
            <a:ext cx="5879593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b="1" dirty="0">
              <a:latin typeface="Arial" panose="020B0604020202020204" pitchFamily="34" charset="0"/>
            </a:endParaRPr>
          </a:p>
          <a:p>
            <a:r>
              <a:rPr lang="en-US" b="1" dirty="0"/>
              <a:t> Stage in Snowflake?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A1B1009-BFF9-84BA-D5E2-7CDC96AD81EE}"/>
              </a:ext>
            </a:extLst>
          </p:cNvPr>
          <p:cNvGraphicFramePr>
            <a:graphicFrameLocks noGrp="1"/>
          </p:cNvGraphicFramePr>
          <p:nvPr/>
        </p:nvGraphicFramePr>
        <p:xfrm>
          <a:off x="347472" y="2844281"/>
          <a:ext cx="10131426" cy="2834640"/>
        </p:xfrm>
        <a:graphic>
          <a:graphicData uri="http://schemas.openxmlformats.org/drawingml/2006/table">
            <a:tbl>
              <a:tblPr/>
              <a:tblGrid>
                <a:gridCol w="3377142">
                  <a:extLst>
                    <a:ext uri="{9D8B030D-6E8A-4147-A177-3AD203B41FA5}">
                      <a16:colId xmlns:a16="http://schemas.microsoft.com/office/drawing/2014/main" val="1072535493"/>
                    </a:ext>
                  </a:extLst>
                </a:gridCol>
                <a:gridCol w="3910626">
                  <a:extLst>
                    <a:ext uri="{9D8B030D-6E8A-4147-A177-3AD203B41FA5}">
                      <a16:colId xmlns:a16="http://schemas.microsoft.com/office/drawing/2014/main" val="1235685477"/>
                    </a:ext>
                  </a:extLst>
                </a:gridCol>
                <a:gridCol w="2843658">
                  <a:extLst>
                    <a:ext uri="{9D8B030D-6E8A-4147-A177-3AD203B41FA5}">
                      <a16:colId xmlns:a16="http://schemas.microsoft.com/office/drawing/2014/main" val="3489775090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IN" sz="1800" b="1"/>
                        <a:t>Type</a:t>
                      </a:r>
                      <a:endParaRPr lang="en-IN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1"/>
                        <a:t>Description</a:t>
                      </a:r>
                      <a:endParaRPr lang="en-IN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1"/>
                        <a:t>Example / URL Format</a:t>
                      </a:r>
                      <a:endParaRPr lang="en-IN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6359128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r>
                        <a:rPr lang="en-IN" sz="1800" b="1"/>
                        <a:t>User Stage</a:t>
                      </a:r>
                      <a:endParaRPr lang="en-IN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Automatically created for every user. Each user has a personal stage (@~).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@~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4405579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r>
                        <a:rPr lang="en-IN" sz="1800" b="1"/>
                        <a:t>Table Stage</a:t>
                      </a:r>
                      <a:endParaRPr lang="en-IN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Automatically created for every table. Used to stage files specific to that table.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@%table_name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4340678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en-IN" sz="1800" b="1"/>
                        <a:t>Named Stage</a:t>
                      </a:r>
                      <a:endParaRPr lang="en-IN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Created explicitly by users. Can be internal or external.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@my_stage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2086353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4FD25F7D-B96A-9FB7-4328-BDE3641E90D4}"/>
              </a:ext>
            </a:extLst>
          </p:cNvPr>
          <p:cNvSpPr txBox="1"/>
          <p:nvPr/>
        </p:nvSpPr>
        <p:spPr>
          <a:xfrm>
            <a:off x="252322" y="2227068"/>
            <a:ext cx="61173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Types of Stages in Snowflake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8611196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2ED0BF5-FD23-CFB8-4180-F8B5A83F92B7}"/>
              </a:ext>
            </a:extLst>
          </p:cNvPr>
          <p:cNvSpPr txBox="1"/>
          <p:nvPr/>
        </p:nvSpPr>
        <p:spPr>
          <a:xfrm>
            <a:off x="151738" y="551848"/>
            <a:ext cx="9531758" cy="2416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dirty="0"/>
              <a:t>Snowflake offers multiple </a:t>
            </a:r>
            <a:r>
              <a:rPr lang="en-US" b="1" dirty="0"/>
              <a:t>table types</a:t>
            </a:r>
            <a:r>
              <a:rPr lang="en-US" dirty="0"/>
              <a:t> to store and manage data efficiently based on how long the data should persist and how it will be used.</a:t>
            </a:r>
          </a:p>
          <a:p>
            <a:pPr>
              <a:spcBef>
                <a:spcPts val="600"/>
              </a:spcBef>
            </a:pPr>
            <a:r>
              <a:rPr lang="en-US" dirty="0"/>
              <a:t>Each table type determines: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Where the data is stored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How long it is retained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Whether it supports Time Travel and Fail-safe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The cost of storage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1B12E08B-88C8-3FE8-4BE4-10AF2733B6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-233065"/>
            <a:ext cx="5879593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b="1" dirty="0">
              <a:latin typeface="Arial" panose="020B0604020202020204" pitchFamily="34" charset="0"/>
            </a:endParaRPr>
          </a:p>
          <a:p>
            <a:r>
              <a:rPr lang="en-US" b="1" dirty="0"/>
              <a:t> Types Of Tables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64E1F24-63F3-25F7-699B-76C020680A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8848171"/>
              </p:ext>
            </p:extLst>
          </p:nvPr>
        </p:nvGraphicFramePr>
        <p:xfrm>
          <a:off x="339852" y="3429000"/>
          <a:ext cx="11512296" cy="2651760"/>
        </p:xfrm>
        <a:graphic>
          <a:graphicData uri="http://schemas.openxmlformats.org/drawingml/2006/table">
            <a:tbl>
              <a:tblPr/>
              <a:tblGrid>
                <a:gridCol w="2172851">
                  <a:extLst>
                    <a:ext uri="{9D8B030D-6E8A-4147-A177-3AD203B41FA5}">
                      <a16:colId xmlns:a16="http://schemas.microsoft.com/office/drawing/2014/main" val="475696852"/>
                    </a:ext>
                  </a:extLst>
                </a:gridCol>
                <a:gridCol w="3613777">
                  <a:extLst>
                    <a:ext uri="{9D8B030D-6E8A-4147-A177-3AD203B41FA5}">
                      <a16:colId xmlns:a16="http://schemas.microsoft.com/office/drawing/2014/main" val="3869688238"/>
                    </a:ext>
                  </a:extLst>
                </a:gridCol>
                <a:gridCol w="2847594">
                  <a:extLst>
                    <a:ext uri="{9D8B030D-6E8A-4147-A177-3AD203B41FA5}">
                      <a16:colId xmlns:a16="http://schemas.microsoft.com/office/drawing/2014/main" val="1223707497"/>
                    </a:ext>
                  </a:extLst>
                </a:gridCol>
                <a:gridCol w="2878074">
                  <a:extLst>
                    <a:ext uri="{9D8B030D-6E8A-4147-A177-3AD203B41FA5}">
                      <a16:colId xmlns:a16="http://schemas.microsoft.com/office/drawing/2014/main" val="32278342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/>
                        <a:t>Table 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Data Persistence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Storage Location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Key Use Case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458796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Permanent Table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Long-term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Snowflake internal storage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Production and business data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623074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Transient Table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Medium-term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Snowflake internal storage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Staging and ETL intermediate data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521393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Temporary Table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Session-only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Snowflake internal storage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Session-level computations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033723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External Table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External storage (S3 / Azure / GCS)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Outside Snowflake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Query data in data lakes without loading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22204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767597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2ED0BF5-FD23-CFB8-4180-F8B5A83F92B7}"/>
              </a:ext>
            </a:extLst>
          </p:cNvPr>
          <p:cNvSpPr txBox="1"/>
          <p:nvPr/>
        </p:nvSpPr>
        <p:spPr>
          <a:xfrm>
            <a:off x="151738" y="551848"/>
            <a:ext cx="11580014" cy="69403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b="1" dirty="0"/>
              <a:t>Permanent Tables</a:t>
            </a:r>
          </a:p>
          <a:p>
            <a:pPr>
              <a:spcBef>
                <a:spcPts val="600"/>
              </a:spcBef>
            </a:pPr>
            <a:r>
              <a:rPr lang="en-US" dirty="0"/>
              <a:t>A </a:t>
            </a:r>
            <a:r>
              <a:rPr lang="en-US" i="1" dirty="0"/>
              <a:t>Permanent Table</a:t>
            </a:r>
            <a:r>
              <a:rPr lang="en-US" dirty="0"/>
              <a:t> is the </a:t>
            </a:r>
            <a:r>
              <a:rPr lang="en-US" b="1" dirty="0"/>
              <a:t>default table type</a:t>
            </a:r>
            <a:r>
              <a:rPr lang="en-US" dirty="0"/>
              <a:t> in Snowflake used for long-term storage of data.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Data persists until explicitly dropped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Supports </a:t>
            </a:r>
            <a:r>
              <a:rPr lang="en-US" b="1" dirty="0"/>
              <a:t>Time Travel (up to 90 days)</a:t>
            </a:r>
            <a:endParaRPr lang="en-US" dirty="0"/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Supports </a:t>
            </a:r>
            <a:r>
              <a:rPr lang="en-US" b="1" dirty="0"/>
              <a:t>Fail-safe (7 days)</a:t>
            </a:r>
            <a:r>
              <a:rPr lang="en-US" dirty="0"/>
              <a:t> for disaster recovery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Ideal for critical and historical data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dirty="0"/>
          </a:p>
          <a:p>
            <a:pPr lvl="1">
              <a:spcBef>
                <a:spcPts val="600"/>
              </a:spcBef>
            </a:pPr>
            <a:r>
              <a:rPr lang="en-US" dirty="0"/>
              <a:t>CREATE OR REPLACE TABLE </a:t>
            </a:r>
            <a:r>
              <a:rPr lang="en-US" dirty="0" err="1"/>
              <a:t>sales_data</a:t>
            </a:r>
            <a:r>
              <a:rPr lang="en-US" dirty="0"/>
              <a:t> (</a:t>
            </a:r>
          </a:p>
          <a:p>
            <a:pPr lvl="1">
              <a:spcBef>
                <a:spcPts val="600"/>
              </a:spcBef>
            </a:pPr>
            <a:r>
              <a:rPr lang="en-US" dirty="0"/>
              <a:t>    </a:t>
            </a:r>
            <a:r>
              <a:rPr lang="en-US" dirty="0" err="1"/>
              <a:t>order_id</a:t>
            </a:r>
            <a:r>
              <a:rPr lang="en-US" dirty="0"/>
              <a:t> INT,</a:t>
            </a:r>
          </a:p>
          <a:p>
            <a:pPr lvl="1">
              <a:spcBef>
                <a:spcPts val="600"/>
              </a:spcBef>
            </a:pPr>
            <a:r>
              <a:rPr lang="en-US" dirty="0"/>
              <a:t>    </a:t>
            </a:r>
            <a:r>
              <a:rPr lang="en-US" dirty="0" err="1"/>
              <a:t>product_name</a:t>
            </a:r>
            <a:r>
              <a:rPr lang="en-US" dirty="0"/>
              <a:t> STRING,</a:t>
            </a:r>
          </a:p>
          <a:p>
            <a:pPr lvl="1">
              <a:spcBef>
                <a:spcPts val="600"/>
              </a:spcBef>
            </a:pPr>
            <a:r>
              <a:rPr lang="en-US" dirty="0"/>
              <a:t>    amount NUMBER(10,2),</a:t>
            </a:r>
          </a:p>
          <a:p>
            <a:pPr lvl="1">
              <a:spcBef>
                <a:spcPts val="600"/>
              </a:spcBef>
            </a:pPr>
            <a:r>
              <a:rPr lang="en-US" dirty="0"/>
              <a:t>    </a:t>
            </a:r>
            <a:r>
              <a:rPr lang="en-US" dirty="0" err="1"/>
              <a:t>order_date</a:t>
            </a:r>
            <a:r>
              <a:rPr lang="en-US" dirty="0"/>
              <a:t> DATE</a:t>
            </a:r>
          </a:p>
          <a:p>
            <a:pPr lvl="1">
              <a:spcBef>
                <a:spcPts val="600"/>
              </a:spcBef>
            </a:pPr>
            <a:r>
              <a:rPr lang="en-US" dirty="0"/>
              <a:t>) DATA_RETENTION_TIME_IN_DAYS = 5;</a:t>
            </a:r>
          </a:p>
          <a:p>
            <a:endParaRPr lang="en-US" b="1" dirty="0"/>
          </a:p>
          <a:p>
            <a:r>
              <a:rPr lang="en-US" b="1" dirty="0"/>
              <a:t>Use Cases:</a:t>
            </a:r>
            <a:endParaRPr lang="en-US" dirty="0"/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Business-critical datasets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Analytical and reporting layers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Historical and audit data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spcBef>
                <a:spcPts val="600"/>
              </a:spcBef>
            </a:pPr>
            <a:endParaRPr lang="en-US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1B12E08B-88C8-3FE8-4BE4-10AF2733B6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-371564"/>
            <a:ext cx="5879593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b="1" dirty="0">
              <a:latin typeface="Arial" panose="020B0604020202020204" pitchFamily="34" charset="0"/>
            </a:endParaRPr>
          </a:p>
          <a:p>
            <a:r>
              <a:rPr lang="en-US" b="1" dirty="0"/>
              <a:t> </a:t>
            </a:r>
          </a:p>
          <a:p>
            <a:r>
              <a:rPr lang="en-US" b="1" dirty="0"/>
              <a:t>Types Of Tables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44950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2ED0BF5-FD23-CFB8-4180-F8B5A83F92B7}"/>
              </a:ext>
            </a:extLst>
          </p:cNvPr>
          <p:cNvSpPr txBox="1"/>
          <p:nvPr/>
        </p:nvSpPr>
        <p:spPr>
          <a:xfrm>
            <a:off x="151738" y="551848"/>
            <a:ext cx="11580014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Transient Tables</a:t>
            </a:r>
          </a:p>
          <a:p>
            <a:br>
              <a:rPr lang="en-US" dirty="0"/>
            </a:br>
            <a:r>
              <a:rPr lang="en-US" dirty="0"/>
              <a:t>A </a:t>
            </a:r>
            <a:r>
              <a:rPr lang="en-US" i="1" dirty="0"/>
              <a:t>Transient Table</a:t>
            </a:r>
            <a:r>
              <a:rPr lang="en-US" dirty="0"/>
              <a:t> stores data persistently like a permanent table but </a:t>
            </a:r>
            <a:r>
              <a:rPr lang="en-US" b="1" dirty="0"/>
              <a:t>does not have a Fail-safe period</a:t>
            </a:r>
            <a:r>
              <a:rPr lang="en-US" dirty="0"/>
              <a:t>, reducing cost and recovery time.</a:t>
            </a:r>
          </a:p>
          <a:p>
            <a:pPr lvl="1"/>
            <a:r>
              <a:rPr lang="en-US" b="1" dirty="0"/>
              <a:t>Features:</a:t>
            </a:r>
            <a:endParaRPr lang="en-US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b="1" dirty="0"/>
              <a:t>No Fail-safe</a:t>
            </a:r>
            <a:endParaRPr lang="en-US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b="1" dirty="0"/>
              <a:t>Time Travel up to 1 day</a:t>
            </a:r>
            <a:r>
              <a:rPr lang="en-US" dirty="0"/>
              <a:t> (default)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Less storage cost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Persists beyond a user session</a:t>
            </a:r>
          </a:p>
          <a:p>
            <a:pPr lvl="1">
              <a:spcBef>
                <a:spcPts val="600"/>
              </a:spcBef>
            </a:pPr>
            <a:r>
              <a:rPr lang="en-US" dirty="0"/>
              <a:t>CEATE OR REPLACE TRANSIENT TABLE </a:t>
            </a:r>
            <a:r>
              <a:rPr lang="en-US" dirty="0" err="1"/>
              <a:t>sales_data</a:t>
            </a:r>
            <a:r>
              <a:rPr lang="en-US" dirty="0"/>
              <a:t> (</a:t>
            </a:r>
          </a:p>
          <a:p>
            <a:pPr lvl="1">
              <a:spcBef>
                <a:spcPts val="600"/>
              </a:spcBef>
            </a:pPr>
            <a:r>
              <a:rPr lang="en-US" dirty="0"/>
              <a:t>    </a:t>
            </a:r>
            <a:r>
              <a:rPr lang="en-US" dirty="0" err="1"/>
              <a:t>order_id</a:t>
            </a:r>
            <a:r>
              <a:rPr lang="en-US" dirty="0"/>
              <a:t> INT,</a:t>
            </a:r>
          </a:p>
          <a:p>
            <a:pPr lvl="1">
              <a:spcBef>
                <a:spcPts val="600"/>
              </a:spcBef>
            </a:pPr>
            <a:r>
              <a:rPr lang="en-US" dirty="0"/>
              <a:t>    </a:t>
            </a:r>
            <a:r>
              <a:rPr lang="en-US" dirty="0" err="1"/>
              <a:t>customer_id</a:t>
            </a:r>
            <a:r>
              <a:rPr lang="en-US" dirty="0"/>
              <a:t> INT,</a:t>
            </a:r>
          </a:p>
          <a:p>
            <a:pPr lvl="1">
              <a:spcBef>
                <a:spcPts val="600"/>
              </a:spcBef>
            </a:pPr>
            <a:r>
              <a:rPr lang="en-US" dirty="0"/>
              <a:t>    </a:t>
            </a:r>
            <a:r>
              <a:rPr lang="en-US" dirty="0" err="1"/>
              <a:t>product_name</a:t>
            </a:r>
            <a:r>
              <a:rPr lang="en-US" dirty="0"/>
              <a:t> STRING,</a:t>
            </a:r>
          </a:p>
          <a:p>
            <a:pPr lvl="1">
              <a:spcBef>
                <a:spcPts val="600"/>
              </a:spcBef>
            </a:pPr>
            <a:r>
              <a:rPr lang="en-US" dirty="0"/>
              <a:t>    amount NUMBER(10,2),</a:t>
            </a:r>
          </a:p>
          <a:p>
            <a:pPr lvl="1">
              <a:spcBef>
                <a:spcPts val="600"/>
              </a:spcBef>
            </a:pPr>
            <a:r>
              <a:rPr lang="en-US" dirty="0"/>
              <a:t>    </a:t>
            </a:r>
            <a:r>
              <a:rPr lang="en-US" dirty="0" err="1"/>
              <a:t>order_date</a:t>
            </a:r>
            <a:r>
              <a:rPr lang="en-US" dirty="0"/>
              <a:t> DATE);</a:t>
            </a:r>
          </a:p>
          <a:p>
            <a:endParaRPr lang="en-US" b="1" dirty="0"/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spcBef>
                <a:spcPts val="600"/>
              </a:spcBef>
            </a:pPr>
            <a:endParaRPr lang="en-US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1B12E08B-88C8-3FE8-4BE4-10AF2733B6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-371564"/>
            <a:ext cx="5879593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b="1" dirty="0">
              <a:latin typeface="Arial" panose="020B0604020202020204" pitchFamily="34" charset="0"/>
            </a:endParaRPr>
          </a:p>
          <a:p>
            <a:r>
              <a:rPr lang="en-US" b="1" dirty="0"/>
              <a:t> </a:t>
            </a:r>
          </a:p>
          <a:p>
            <a:r>
              <a:rPr lang="en-US" b="1" dirty="0"/>
              <a:t>Types Of Tables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633845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2ED0BF5-FD23-CFB8-4180-F8B5A83F92B7}"/>
              </a:ext>
            </a:extLst>
          </p:cNvPr>
          <p:cNvSpPr txBox="1"/>
          <p:nvPr/>
        </p:nvSpPr>
        <p:spPr>
          <a:xfrm>
            <a:off x="151738" y="551848"/>
            <a:ext cx="1158001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b="1" dirty="0"/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spcBef>
                <a:spcPts val="600"/>
              </a:spcBef>
            </a:pPr>
            <a:endParaRPr lang="en-US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1B12E08B-88C8-3FE8-4BE4-10AF2733B6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-371564"/>
            <a:ext cx="5879593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b="1" dirty="0">
              <a:latin typeface="Arial" panose="020B0604020202020204" pitchFamily="34" charset="0"/>
            </a:endParaRPr>
          </a:p>
          <a:p>
            <a:r>
              <a:rPr lang="en-US" b="1" dirty="0"/>
              <a:t> </a:t>
            </a:r>
          </a:p>
          <a:p>
            <a:r>
              <a:rPr lang="en-US" b="1" dirty="0"/>
              <a:t>Types Of Tables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61DA892-9F5C-CF04-FF80-5008B2C81F37}"/>
              </a:ext>
            </a:extLst>
          </p:cNvPr>
          <p:cNvSpPr txBox="1"/>
          <p:nvPr/>
        </p:nvSpPr>
        <p:spPr>
          <a:xfrm>
            <a:off x="151738" y="723126"/>
            <a:ext cx="10574174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Temporary Tables</a:t>
            </a:r>
          </a:p>
          <a:p>
            <a:endParaRPr lang="en-IN" dirty="0"/>
          </a:p>
          <a:p>
            <a:r>
              <a:rPr lang="en-IN" dirty="0"/>
              <a:t>Definition:</a:t>
            </a:r>
          </a:p>
          <a:p>
            <a:r>
              <a:rPr lang="en-IN" dirty="0"/>
              <a:t>A Temporary Table exists only within a user session and is automatically dropped when the session ends.</a:t>
            </a:r>
          </a:p>
          <a:p>
            <a:endParaRPr lang="en-IN" dirty="0"/>
          </a:p>
          <a:p>
            <a:r>
              <a:rPr lang="en-IN" dirty="0"/>
              <a:t>Features:</a:t>
            </a:r>
          </a:p>
          <a:p>
            <a:endParaRPr lang="en-IN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dirty="0"/>
              <a:t>Session-specific: only visible to the creator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dirty="0"/>
              <a:t>No Time Travel and no Fail-safe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dirty="0"/>
              <a:t>Ideal for intermediate transformations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dirty="0"/>
              <a:t>Lower storage cost</a:t>
            </a:r>
          </a:p>
          <a:p>
            <a:endParaRPr lang="en-IN" dirty="0"/>
          </a:p>
          <a:p>
            <a:r>
              <a:rPr lang="en-IN" dirty="0"/>
              <a:t>Syntax:</a:t>
            </a:r>
          </a:p>
          <a:p>
            <a:endParaRPr lang="en-IN" dirty="0"/>
          </a:p>
          <a:p>
            <a:r>
              <a:rPr lang="en-IN" dirty="0"/>
              <a:t>CREATE TEMPORARY TABLE </a:t>
            </a:r>
            <a:r>
              <a:rPr lang="en-IN" dirty="0" err="1"/>
              <a:t>session_data</a:t>
            </a:r>
            <a:r>
              <a:rPr lang="en-IN" dirty="0"/>
              <a:t> (</a:t>
            </a:r>
          </a:p>
          <a:p>
            <a:r>
              <a:rPr lang="en-IN" dirty="0"/>
              <a:t>    </a:t>
            </a:r>
            <a:r>
              <a:rPr lang="en-IN" dirty="0" err="1"/>
              <a:t>user_id</a:t>
            </a:r>
            <a:r>
              <a:rPr lang="en-IN" dirty="0"/>
              <a:t> INT,</a:t>
            </a:r>
          </a:p>
          <a:p>
            <a:r>
              <a:rPr lang="en-IN" dirty="0"/>
              <a:t>    </a:t>
            </a:r>
            <a:r>
              <a:rPr lang="en-IN" dirty="0" err="1"/>
              <a:t>page_views</a:t>
            </a:r>
            <a:r>
              <a:rPr lang="en-IN" dirty="0"/>
              <a:t> INT,</a:t>
            </a:r>
          </a:p>
          <a:p>
            <a:r>
              <a:rPr lang="en-IN" dirty="0"/>
              <a:t>    </a:t>
            </a:r>
            <a:r>
              <a:rPr lang="en-IN" dirty="0" err="1"/>
              <a:t>login_date</a:t>
            </a:r>
            <a:r>
              <a:rPr lang="en-IN" dirty="0"/>
              <a:t> DATE</a:t>
            </a:r>
          </a:p>
          <a:p>
            <a:r>
              <a:rPr lang="en-IN" dirty="0"/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78723793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1B12E08B-88C8-3FE8-4BE4-10AF2733B6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-371564"/>
            <a:ext cx="5879593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b="1" dirty="0">
              <a:latin typeface="Arial" panose="020B0604020202020204" pitchFamily="34" charset="0"/>
            </a:endParaRPr>
          </a:p>
          <a:p>
            <a:r>
              <a:rPr lang="en-US" b="1" dirty="0"/>
              <a:t> </a:t>
            </a:r>
          </a:p>
          <a:p>
            <a:r>
              <a:rPr lang="en-US" b="1" dirty="0"/>
              <a:t>Types Of Tables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B5EFFE1-758C-BBA8-1DAF-03EF3CC690EF}"/>
              </a:ext>
            </a:extLst>
          </p:cNvPr>
          <p:cNvSpPr txBox="1"/>
          <p:nvPr/>
        </p:nvSpPr>
        <p:spPr>
          <a:xfrm>
            <a:off x="242316" y="828765"/>
            <a:ext cx="11590020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External Tables</a:t>
            </a:r>
          </a:p>
          <a:p>
            <a:endParaRPr lang="en-IN" dirty="0"/>
          </a:p>
          <a:p>
            <a:r>
              <a:rPr lang="en-IN" dirty="0"/>
              <a:t>Definition:</a:t>
            </a:r>
          </a:p>
          <a:p>
            <a:r>
              <a:rPr lang="en-IN" dirty="0"/>
              <a:t>An External Table references data stored outside Snowflake, such as AWS S3, Azure Blob Storage, or Google Cloud Storage.</a:t>
            </a:r>
          </a:p>
          <a:p>
            <a:r>
              <a:rPr lang="en-IN" dirty="0"/>
              <a:t>Snowflake queries the data without physically loading it, using metadata and file formats.</a:t>
            </a:r>
          </a:p>
          <a:p>
            <a:endParaRPr lang="en-IN" dirty="0"/>
          </a:p>
          <a:p>
            <a:r>
              <a:rPr lang="en-IN" dirty="0"/>
              <a:t>Features:</a:t>
            </a:r>
          </a:p>
          <a:p>
            <a:endParaRPr lang="en-IN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dirty="0"/>
              <a:t>Data resides in external cloud storage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dirty="0"/>
              <a:t>Can use External Stages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dirty="0"/>
              <a:t>Read-only (cannot INSERT or UPDATE)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dirty="0"/>
              <a:t>Can join with internal tables</a:t>
            </a:r>
          </a:p>
          <a:p>
            <a:endParaRPr lang="en-IN" dirty="0"/>
          </a:p>
          <a:p>
            <a:r>
              <a:rPr lang="en-IN" dirty="0"/>
              <a:t>Syntax:</a:t>
            </a:r>
          </a:p>
          <a:p>
            <a:endParaRPr lang="en-IN" dirty="0"/>
          </a:p>
          <a:p>
            <a:r>
              <a:rPr lang="en-IN" dirty="0"/>
              <a:t>CREATE OR REPLACE EXTERNAL TABLE </a:t>
            </a:r>
            <a:r>
              <a:rPr lang="en-IN" dirty="0" err="1"/>
              <a:t>ext_orders</a:t>
            </a:r>
            <a:r>
              <a:rPr lang="en-IN" dirty="0"/>
              <a:t> (</a:t>
            </a:r>
          </a:p>
          <a:p>
            <a:r>
              <a:rPr lang="en-IN" dirty="0"/>
              <a:t>    </a:t>
            </a:r>
            <a:r>
              <a:rPr lang="en-IN" dirty="0" err="1"/>
              <a:t>order_id</a:t>
            </a:r>
            <a:r>
              <a:rPr lang="en-IN" dirty="0"/>
              <a:t> INT AS (VALUE:c1::INT),</a:t>
            </a:r>
          </a:p>
          <a:p>
            <a:r>
              <a:rPr lang="en-IN" dirty="0"/>
              <a:t>    </a:t>
            </a:r>
            <a:r>
              <a:rPr lang="en-IN" dirty="0" err="1"/>
              <a:t>customer_name</a:t>
            </a:r>
            <a:r>
              <a:rPr lang="en-IN" dirty="0"/>
              <a:t> STRING AS (VALUE:c2::STRING),</a:t>
            </a:r>
          </a:p>
          <a:p>
            <a:r>
              <a:rPr lang="en-IN" dirty="0"/>
              <a:t>    amount NUMBER AS (VALUE:c3::NUMBER)</a:t>
            </a:r>
          </a:p>
          <a:p>
            <a:r>
              <a:rPr lang="en-IN" dirty="0"/>
              <a:t>) WITH LOCATION = @my_s3_stage/orders/</a:t>
            </a:r>
          </a:p>
          <a:p>
            <a:r>
              <a:rPr lang="en-IN" dirty="0"/>
              <a:t>FILE_FORMAT = (TYPE = CSV SKIP_HEADER = 1);</a:t>
            </a:r>
          </a:p>
        </p:txBody>
      </p:sp>
    </p:spTree>
    <p:extLst>
      <p:ext uri="{BB962C8B-B14F-4D97-AF65-F5344CB8AC3E}">
        <p14:creationId xmlns:p14="http://schemas.microsoft.com/office/powerpoint/2010/main" val="378782965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1B12E08B-88C8-3FE8-4BE4-10AF2733B6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-371564"/>
            <a:ext cx="5879593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b="1" dirty="0">
              <a:latin typeface="Arial" panose="020B0604020202020204" pitchFamily="34" charset="0"/>
            </a:endParaRPr>
          </a:p>
          <a:p>
            <a:r>
              <a:rPr lang="en-US" b="1" dirty="0"/>
              <a:t> </a:t>
            </a:r>
          </a:p>
          <a:p>
            <a:r>
              <a:rPr lang="en-US" b="1" dirty="0"/>
              <a:t>Types Of Tables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5736096-6000-C57D-3406-0AD539B760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9448156"/>
              </p:ext>
            </p:extLst>
          </p:nvPr>
        </p:nvGraphicFramePr>
        <p:xfrm>
          <a:off x="402336" y="1086009"/>
          <a:ext cx="10131425" cy="3474720"/>
        </p:xfrm>
        <a:graphic>
          <a:graphicData uri="http://schemas.openxmlformats.org/drawingml/2006/table">
            <a:tbl>
              <a:tblPr/>
              <a:tblGrid>
                <a:gridCol w="2026285">
                  <a:extLst>
                    <a:ext uri="{9D8B030D-6E8A-4147-A177-3AD203B41FA5}">
                      <a16:colId xmlns:a16="http://schemas.microsoft.com/office/drawing/2014/main" val="1389339661"/>
                    </a:ext>
                  </a:extLst>
                </a:gridCol>
                <a:gridCol w="2026285">
                  <a:extLst>
                    <a:ext uri="{9D8B030D-6E8A-4147-A177-3AD203B41FA5}">
                      <a16:colId xmlns:a16="http://schemas.microsoft.com/office/drawing/2014/main" val="3437182615"/>
                    </a:ext>
                  </a:extLst>
                </a:gridCol>
                <a:gridCol w="2026285">
                  <a:extLst>
                    <a:ext uri="{9D8B030D-6E8A-4147-A177-3AD203B41FA5}">
                      <a16:colId xmlns:a16="http://schemas.microsoft.com/office/drawing/2014/main" val="3977013881"/>
                    </a:ext>
                  </a:extLst>
                </a:gridCol>
                <a:gridCol w="2026285">
                  <a:extLst>
                    <a:ext uri="{9D8B030D-6E8A-4147-A177-3AD203B41FA5}">
                      <a16:colId xmlns:a16="http://schemas.microsoft.com/office/drawing/2014/main" val="3082602564"/>
                    </a:ext>
                  </a:extLst>
                </a:gridCol>
                <a:gridCol w="2026285">
                  <a:extLst>
                    <a:ext uri="{9D8B030D-6E8A-4147-A177-3AD203B41FA5}">
                      <a16:colId xmlns:a16="http://schemas.microsoft.com/office/drawing/2014/main" val="159706247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/>
                        <a:t>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b="1"/>
                        <a:t>Permanent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b="1"/>
                        <a:t>Transient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b="1"/>
                        <a:t>Temporary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b="1"/>
                        <a:t>External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068047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Persistence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Permanent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Persistent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Session-only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External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585329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Fail-safe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Yes (7 days)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❌ 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❌ 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145754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Time Travel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Up to 90 days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Up to 1 day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❌ 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❌ 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845360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Storage Location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Internal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Internal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Internal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External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614283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Visibility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All users (based on privileges)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All users (based on privileges)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Session only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All users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900529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Cost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High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Medium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Low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External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716574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Use Case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Production data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Staging/ETL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Session computations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Data lake queries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72530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9132412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1B12E08B-88C8-3FE8-4BE4-10AF2733B6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-233065"/>
            <a:ext cx="5879593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b="1" dirty="0">
              <a:latin typeface="Arial" panose="020B0604020202020204" pitchFamily="34" charset="0"/>
            </a:endParaRPr>
          </a:p>
          <a:p>
            <a:r>
              <a:rPr lang="en-US" b="1" dirty="0"/>
              <a:t> </a:t>
            </a:r>
          </a:p>
          <a:p>
            <a:r>
              <a:rPr lang="en-IN" dirty="0"/>
              <a:t>Snowflake Materialized Views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5D7E096-3CB3-B912-A708-20A7ABC88EDF}"/>
              </a:ext>
            </a:extLst>
          </p:cNvPr>
          <p:cNvSpPr txBox="1"/>
          <p:nvPr/>
        </p:nvSpPr>
        <p:spPr>
          <a:xfrm>
            <a:off x="128016" y="896111"/>
            <a:ext cx="11265408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A Materialized View (MV) in Snowflake is a precomputed, stored result set of a query.</a:t>
            </a:r>
          </a:p>
          <a:p>
            <a:r>
              <a:rPr lang="en-IN" dirty="0"/>
              <a:t>Unlike a regular view (which runs the query each time), an MV stores the data physically and automatically refreshes when the base table changes.</a:t>
            </a:r>
          </a:p>
          <a:p>
            <a:endParaRPr lang="en-IN" dirty="0"/>
          </a:p>
          <a:p>
            <a:r>
              <a:rPr lang="en-IN" dirty="0"/>
              <a:t>🔹 Key Features</a:t>
            </a:r>
          </a:p>
          <a:p>
            <a:endParaRPr lang="en-IN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dirty="0"/>
              <a:t>Precomputed data → Faster query performance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dirty="0"/>
              <a:t>Automatic refresh → Reflects source table changes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dirty="0"/>
              <a:t>Storage cost applies → Since results are stored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dirty="0"/>
              <a:t>Used for → Dashboards, aggregations, reporting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dirty="0"/>
              <a:t>Limitations → Can’t reference other MVs or use non-deterministic functions</a:t>
            </a:r>
          </a:p>
          <a:p>
            <a:endParaRPr lang="en-IN" dirty="0"/>
          </a:p>
          <a:p>
            <a:r>
              <a:rPr lang="en-IN" dirty="0"/>
              <a:t>CREATE OR REPLACE MATERIALIZED VIEW </a:t>
            </a:r>
            <a:r>
              <a:rPr lang="en-IN" dirty="0" err="1"/>
              <a:t>mv_sales_summary</a:t>
            </a:r>
            <a:r>
              <a:rPr lang="en-IN" dirty="0"/>
              <a:t> AS</a:t>
            </a:r>
          </a:p>
          <a:p>
            <a:r>
              <a:rPr lang="en-IN" dirty="0"/>
              <a:t>SELECT </a:t>
            </a:r>
          </a:p>
          <a:p>
            <a:r>
              <a:rPr lang="en-IN" dirty="0"/>
              <a:t>    region,</a:t>
            </a:r>
          </a:p>
          <a:p>
            <a:r>
              <a:rPr lang="en-IN" dirty="0"/>
              <a:t>    </a:t>
            </a:r>
            <a:r>
              <a:rPr lang="en-IN" dirty="0" err="1"/>
              <a:t>product_category</a:t>
            </a:r>
            <a:r>
              <a:rPr lang="en-IN" dirty="0"/>
              <a:t>,</a:t>
            </a:r>
          </a:p>
          <a:p>
            <a:r>
              <a:rPr lang="en-IN" dirty="0"/>
              <a:t>    SUM(</a:t>
            </a:r>
            <a:r>
              <a:rPr lang="en-IN" dirty="0" err="1"/>
              <a:t>sales_amount</a:t>
            </a:r>
            <a:r>
              <a:rPr lang="en-IN" dirty="0"/>
              <a:t>) AS </a:t>
            </a:r>
            <a:r>
              <a:rPr lang="en-IN" dirty="0" err="1"/>
              <a:t>total_sales</a:t>
            </a:r>
            <a:r>
              <a:rPr lang="en-IN" dirty="0"/>
              <a:t>,</a:t>
            </a:r>
          </a:p>
          <a:p>
            <a:r>
              <a:rPr lang="en-IN" dirty="0"/>
              <a:t>    COUNT(*) AS </a:t>
            </a:r>
            <a:r>
              <a:rPr lang="en-IN" dirty="0" err="1"/>
              <a:t>total_orders</a:t>
            </a:r>
            <a:endParaRPr lang="en-IN" dirty="0"/>
          </a:p>
          <a:p>
            <a:r>
              <a:rPr lang="en-IN" dirty="0"/>
              <a:t>FROM sales</a:t>
            </a:r>
          </a:p>
          <a:p>
            <a:r>
              <a:rPr lang="en-IN" dirty="0"/>
              <a:t>GROUP BY region, </a:t>
            </a:r>
            <a:r>
              <a:rPr lang="en-IN" dirty="0" err="1"/>
              <a:t>product_category</a:t>
            </a:r>
            <a:r>
              <a:rPr lang="en-IN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52125034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1B12E08B-88C8-3FE8-4BE4-10AF2733B6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-233065"/>
            <a:ext cx="5879593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b="1" dirty="0">
              <a:latin typeface="Arial" panose="020B0604020202020204" pitchFamily="34" charset="0"/>
            </a:endParaRPr>
          </a:p>
          <a:p>
            <a:r>
              <a:rPr lang="en-US" b="1" dirty="0"/>
              <a:t> </a:t>
            </a:r>
          </a:p>
          <a:p>
            <a:r>
              <a:rPr lang="en-IN" dirty="0"/>
              <a:t>Snowflake Materialized Views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DDFB3AB-05D8-6F02-FC2B-373E9DF7BC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2267526"/>
              </p:ext>
            </p:extLst>
          </p:nvPr>
        </p:nvGraphicFramePr>
        <p:xfrm>
          <a:off x="246888" y="1325785"/>
          <a:ext cx="10131424" cy="1737360"/>
        </p:xfrm>
        <a:graphic>
          <a:graphicData uri="http://schemas.openxmlformats.org/drawingml/2006/table">
            <a:tbl>
              <a:tblPr/>
              <a:tblGrid>
                <a:gridCol w="5065712">
                  <a:extLst>
                    <a:ext uri="{9D8B030D-6E8A-4147-A177-3AD203B41FA5}">
                      <a16:colId xmlns:a16="http://schemas.microsoft.com/office/drawing/2014/main" val="4293115992"/>
                    </a:ext>
                  </a:extLst>
                </a:gridCol>
                <a:gridCol w="5065712">
                  <a:extLst>
                    <a:ext uri="{9D8B030D-6E8A-4147-A177-3AD203B41FA5}">
                      <a16:colId xmlns:a16="http://schemas.microsoft.com/office/drawing/2014/main" val="390465175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sz="1800"/>
                        <a:t>Action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Command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90123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Show MVs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SHOW MATERIALIZED VIEWS;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442437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Drop MV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DROP MATERIALIZED VIEW mv_sales_summary;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7818538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en-IN" sz="1800" dirty="0"/>
                        <a:t>Refresh manually (rarely needed)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ALTER MATERIALIZED VIEW </a:t>
                      </a:r>
                      <a:r>
                        <a:rPr lang="en-US" sz="1800" dirty="0" err="1"/>
                        <a:t>mv_sales_summary</a:t>
                      </a:r>
                      <a:r>
                        <a:rPr lang="en-US" sz="1800" dirty="0"/>
                        <a:t> REFRESH;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89499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E03E4E6-4658-D392-86F4-B2347BD757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6744652"/>
              </p:ext>
            </p:extLst>
          </p:nvPr>
        </p:nvGraphicFramePr>
        <p:xfrm>
          <a:off x="246888" y="4072747"/>
          <a:ext cx="10131426" cy="1828800"/>
        </p:xfrm>
        <a:graphic>
          <a:graphicData uri="http://schemas.openxmlformats.org/drawingml/2006/table">
            <a:tbl>
              <a:tblPr/>
              <a:tblGrid>
                <a:gridCol w="3377142">
                  <a:extLst>
                    <a:ext uri="{9D8B030D-6E8A-4147-A177-3AD203B41FA5}">
                      <a16:colId xmlns:a16="http://schemas.microsoft.com/office/drawing/2014/main" val="1346269838"/>
                    </a:ext>
                  </a:extLst>
                </a:gridCol>
                <a:gridCol w="3377142">
                  <a:extLst>
                    <a:ext uri="{9D8B030D-6E8A-4147-A177-3AD203B41FA5}">
                      <a16:colId xmlns:a16="http://schemas.microsoft.com/office/drawing/2014/main" val="1069705184"/>
                    </a:ext>
                  </a:extLst>
                </a:gridCol>
                <a:gridCol w="3377142">
                  <a:extLst>
                    <a:ext uri="{9D8B030D-6E8A-4147-A177-3AD203B41FA5}">
                      <a16:colId xmlns:a16="http://schemas.microsoft.com/office/drawing/2014/main" val="404348987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Regular View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Materialized View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363772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Data Storage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Logical (no storage)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Physical (stored)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020835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Performance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Executes query every time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Precomputed results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158166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Maintenance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No refresh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Auto refresh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227317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Cost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Only compute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Compute + Storage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503499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C754ACF-B6B3-1B1A-3EBE-A426D5869ED7}"/>
              </a:ext>
            </a:extLst>
          </p:cNvPr>
          <p:cNvSpPr txBox="1"/>
          <p:nvPr/>
        </p:nvSpPr>
        <p:spPr>
          <a:xfrm>
            <a:off x="178308" y="956453"/>
            <a:ext cx="61173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Manage Materialized Views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5502E85-9B19-C4A1-DB3B-C970964F1235}"/>
              </a:ext>
            </a:extLst>
          </p:cNvPr>
          <p:cNvSpPr txBox="1"/>
          <p:nvPr/>
        </p:nvSpPr>
        <p:spPr>
          <a:xfrm>
            <a:off x="246888" y="3610190"/>
            <a:ext cx="61173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Benefits vs Regular Views</a:t>
            </a:r>
          </a:p>
        </p:txBody>
      </p:sp>
    </p:spTree>
    <p:extLst>
      <p:ext uri="{BB962C8B-B14F-4D97-AF65-F5344CB8AC3E}">
        <p14:creationId xmlns:p14="http://schemas.microsoft.com/office/powerpoint/2010/main" val="1798478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1B12E08B-88C8-3FE8-4BE4-10AF2733B6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-233065"/>
            <a:ext cx="5879593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b="1" dirty="0">
              <a:latin typeface="Arial" panose="020B0604020202020204" pitchFamily="34" charset="0"/>
            </a:endParaRPr>
          </a:p>
          <a:p>
            <a:r>
              <a:rPr lang="en-US" b="1" dirty="0"/>
              <a:t> </a:t>
            </a:r>
          </a:p>
          <a:p>
            <a:r>
              <a:rPr lang="en-IN" dirty="0"/>
              <a:t>Snowflake Materialized Views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754ACF-B6B3-1B1A-3EBE-A426D5869ED7}"/>
              </a:ext>
            </a:extLst>
          </p:cNvPr>
          <p:cNvSpPr txBox="1"/>
          <p:nvPr/>
        </p:nvSpPr>
        <p:spPr>
          <a:xfrm>
            <a:off x="178308" y="956453"/>
            <a:ext cx="848106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  <a:p>
            <a:r>
              <a:rPr lang="en-IN" dirty="0"/>
              <a:t>SELECT </a:t>
            </a:r>
          </a:p>
          <a:p>
            <a:r>
              <a:rPr lang="en-IN" dirty="0"/>
              <a:t>    DATABASE_NAME,</a:t>
            </a:r>
          </a:p>
          <a:p>
            <a:r>
              <a:rPr lang="en-IN" dirty="0"/>
              <a:t>    SCHEMA_NAME,</a:t>
            </a:r>
          </a:p>
          <a:p>
            <a:r>
              <a:rPr lang="en-IN" dirty="0"/>
              <a:t>    MATERIALIZED_VIEW_NAME,</a:t>
            </a:r>
          </a:p>
          <a:p>
            <a:r>
              <a:rPr lang="en-IN" dirty="0"/>
              <a:t>    START_TIME,</a:t>
            </a:r>
          </a:p>
          <a:p>
            <a:r>
              <a:rPr lang="en-IN" dirty="0"/>
              <a:t>    END_TIME,</a:t>
            </a:r>
          </a:p>
          <a:p>
            <a:r>
              <a:rPr lang="en-IN" dirty="0"/>
              <a:t>    CREDITS_USED,</a:t>
            </a:r>
          </a:p>
          <a:p>
            <a:r>
              <a:rPr lang="en-IN" dirty="0"/>
              <a:t>    ROWS_INSERTED,</a:t>
            </a:r>
          </a:p>
          <a:p>
            <a:r>
              <a:rPr lang="en-IN" dirty="0"/>
              <a:t>    ROWS_DELETED,</a:t>
            </a:r>
          </a:p>
          <a:p>
            <a:r>
              <a:rPr lang="en-IN" dirty="0"/>
              <a:t>    STATUS</a:t>
            </a:r>
          </a:p>
          <a:p>
            <a:r>
              <a:rPr lang="en-IN" dirty="0"/>
              <a:t>FROM SNOWFLAKE.ACCOUNT_USAGE.MATERIALIZED_VIEW_REFRESH_HISTORY</a:t>
            </a:r>
          </a:p>
          <a:p>
            <a:r>
              <a:rPr lang="en-IN" dirty="0"/>
              <a:t>WHERE MATERIALIZED_VIEW_NAME = 'MV_SALES_SUMMARY'</a:t>
            </a:r>
          </a:p>
          <a:p>
            <a:r>
              <a:rPr lang="en-IN" dirty="0"/>
              <a:t>ORDER BY START_TIME DESC;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711288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1B12E08B-88C8-3FE8-4BE4-10AF2733B6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-233065"/>
            <a:ext cx="5879593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b="1" dirty="0">
              <a:latin typeface="Arial" panose="020B0604020202020204" pitchFamily="34" charset="0"/>
            </a:endParaRPr>
          </a:p>
          <a:p>
            <a:r>
              <a:rPr lang="en-US" b="1" dirty="0"/>
              <a:t> </a:t>
            </a:r>
          </a:p>
          <a:p>
            <a:r>
              <a:rPr lang="en-IN" b="1" dirty="0"/>
              <a:t>Snowpark</a:t>
            </a: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754ACF-B6B3-1B1A-3EBE-A426D5869ED7}"/>
              </a:ext>
            </a:extLst>
          </p:cNvPr>
          <p:cNvSpPr txBox="1"/>
          <p:nvPr/>
        </p:nvSpPr>
        <p:spPr>
          <a:xfrm>
            <a:off x="178308" y="956453"/>
            <a:ext cx="1138885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Snowpark</a:t>
            </a:r>
            <a:r>
              <a:rPr lang="en-US" dirty="0"/>
              <a:t> is a developer framework that allows data engineers, data scientists, and developers to </a:t>
            </a:r>
            <a:r>
              <a:rPr lang="en-US" b="1" dirty="0"/>
              <a:t>write code in Python, Java, or Scala</a:t>
            </a:r>
            <a:r>
              <a:rPr lang="en-US" dirty="0"/>
              <a:t> and execute it </a:t>
            </a:r>
            <a:r>
              <a:rPr lang="en-US" b="1" dirty="0"/>
              <a:t>directly inside Snowflake’s compute engine</a:t>
            </a:r>
            <a:r>
              <a:rPr lang="en-US" dirty="0"/>
              <a:t>, without moving data out of Snowflake.</a:t>
            </a:r>
          </a:p>
          <a:p>
            <a:endParaRPr lang="en-US" dirty="0"/>
          </a:p>
          <a:p>
            <a:r>
              <a:rPr lang="en-US" b="1" dirty="0"/>
              <a:t>Key Features</a:t>
            </a:r>
            <a:endParaRPr lang="en-IN" b="1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21D02BB-1411-7F64-2180-15B1432C63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7547614"/>
              </p:ext>
            </p:extLst>
          </p:nvPr>
        </p:nvGraphicFramePr>
        <p:xfrm>
          <a:off x="281352" y="2430912"/>
          <a:ext cx="10590864" cy="3676377"/>
        </p:xfrm>
        <a:graphic>
          <a:graphicData uri="http://schemas.openxmlformats.org/drawingml/2006/table">
            <a:tbl>
              <a:tblPr/>
              <a:tblGrid>
                <a:gridCol w="3559128">
                  <a:extLst>
                    <a:ext uri="{9D8B030D-6E8A-4147-A177-3AD203B41FA5}">
                      <a16:colId xmlns:a16="http://schemas.microsoft.com/office/drawing/2014/main" val="4091234881"/>
                    </a:ext>
                  </a:extLst>
                </a:gridCol>
                <a:gridCol w="7031736">
                  <a:extLst>
                    <a:ext uri="{9D8B030D-6E8A-4147-A177-3AD203B41FA5}">
                      <a16:colId xmlns:a16="http://schemas.microsoft.com/office/drawing/2014/main" val="1244998932"/>
                    </a:ext>
                  </a:extLst>
                </a:gridCol>
              </a:tblGrid>
              <a:tr h="339503">
                <a:tc>
                  <a:txBody>
                    <a:bodyPr/>
                    <a:lstStyle/>
                    <a:p>
                      <a:r>
                        <a:rPr lang="en-IN" sz="1700"/>
                        <a:t>Feature</a:t>
                      </a:r>
                    </a:p>
                  </a:txBody>
                  <a:tcPr marL="84876" marR="84876" marT="42438" marB="42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700"/>
                        <a:t>Description</a:t>
                      </a:r>
                    </a:p>
                  </a:txBody>
                  <a:tcPr marL="84876" marR="84876" marT="42438" marB="42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330405"/>
                  </a:ext>
                </a:extLst>
              </a:tr>
              <a:tr h="339503">
                <a:tc>
                  <a:txBody>
                    <a:bodyPr/>
                    <a:lstStyle/>
                    <a:p>
                      <a:r>
                        <a:rPr lang="en-IN" sz="1700"/>
                        <a:t>🧩 </a:t>
                      </a:r>
                      <a:r>
                        <a:rPr lang="en-IN" sz="1700" b="1"/>
                        <a:t>Multi-language support</a:t>
                      </a:r>
                      <a:endParaRPr lang="en-IN" sz="1700"/>
                    </a:p>
                  </a:txBody>
                  <a:tcPr marL="84876" marR="84876" marT="42438" marB="42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Write in </a:t>
                      </a:r>
                      <a:r>
                        <a:rPr lang="en-US" sz="1700" b="1"/>
                        <a:t>Python, Scala, Java</a:t>
                      </a:r>
                      <a:r>
                        <a:rPr lang="en-US" sz="1700"/>
                        <a:t> (with Snowpark APIs).</a:t>
                      </a:r>
                    </a:p>
                  </a:txBody>
                  <a:tcPr marL="84876" marR="84876" marT="42438" marB="42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5354295"/>
                  </a:ext>
                </a:extLst>
              </a:tr>
              <a:tr h="594131">
                <a:tc>
                  <a:txBody>
                    <a:bodyPr/>
                    <a:lstStyle/>
                    <a:p>
                      <a:r>
                        <a:rPr lang="en-IN" sz="1700"/>
                        <a:t>💾 </a:t>
                      </a:r>
                      <a:r>
                        <a:rPr lang="en-IN" sz="1700" b="1"/>
                        <a:t>In-database compute</a:t>
                      </a:r>
                      <a:endParaRPr lang="en-IN" sz="1700"/>
                    </a:p>
                  </a:txBody>
                  <a:tcPr marL="84876" marR="84876" marT="42438" marB="42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All transformations and ML operations execute inside Snowflake (no data egress).</a:t>
                      </a:r>
                    </a:p>
                  </a:txBody>
                  <a:tcPr marL="84876" marR="84876" marT="42438" marB="42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7653082"/>
                  </a:ext>
                </a:extLst>
              </a:tr>
              <a:tr h="594131">
                <a:tc>
                  <a:txBody>
                    <a:bodyPr/>
                    <a:lstStyle/>
                    <a:p>
                      <a:r>
                        <a:rPr lang="en-IN" sz="1700" dirty="0"/>
                        <a:t>🧠 </a:t>
                      </a:r>
                      <a:r>
                        <a:rPr lang="en-IN" sz="1700" b="1" dirty="0"/>
                        <a:t>Unified </a:t>
                      </a:r>
                      <a:r>
                        <a:rPr lang="en-IN" sz="1700" b="1" dirty="0" err="1"/>
                        <a:t>DataFrame</a:t>
                      </a:r>
                      <a:r>
                        <a:rPr lang="en-IN" sz="1700" b="1" dirty="0"/>
                        <a:t> API</a:t>
                      </a:r>
                      <a:endParaRPr lang="en-IN" sz="1700" dirty="0"/>
                    </a:p>
                  </a:txBody>
                  <a:tcPr marL="84876" marR="84876" marT="42438" marB="42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Similar to pandas or Spark — supports select, filter, group_by, etc.</a:t>
                      </a:r>
                    </a:p>
                  </a:txBody>
                  <a:tcPr marL="84876" marR="84876" marT="42438" marB="42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3064156"/>
                  </a:ext>
                </a:extLst>
              </a:tr>
              <a:tr h="594131">
                <a:tc>
                  <a:txBody>
                    <a:bodyPr/>
                    <a:lstStyle/>
                    <a:p>
                      <a:r>
                        <a:rPr lang="en-IN" sz="1700"/>
                        <a:t>⚡ </a:t>
                      </a:r>
                      <a:r>
                        <a:rPr lang="en-IN" sz="1700" b="1"/>
                        <a:t>Serverless execution</a:t>
                      </a:r>
                      <a:endParaRPr lang="en-IN" sz="1700"/>
                    </a:p>
                  </a:txBody>
                  <a:tcPr marL="84876" marR="84876" marT="42438" marB="42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700"/>
                        <a:t>Runs inside Snowflake’s engine — secure, scalable, no infrastructure management.</a:t>
                      </a:r>
                    </a:p>
                  </a:txBody>
                  <a:tcPr marL="84876" marR="84876" marT="42438" marB="42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6625753"/>
                  </a:ext>
                </a:extLst>
              </a:tr>
              <a:tr h="594131">
                <a:tc>
                  <a:txBody>
                    <a:bodyPr/>
                    <a:lstStyle/>
                    <a:p>
                      <a:r>
                        <a:rPr lang="en-US" sz="1700" dirty="0"/>
                        <a:t>🔍 </a:t>
                      </a:r>
                      <a:r>
                        <a:rPr lang="en-US" sz="1700" b="1" dirty="0"/>
                        <a:t>UDFs and Stored Procedures</a:t>
                      </a:r>
                      <a:endParaRPr lang="en-US" sz="1700" dirty="0"/>
                    </a:p>
                  </a:txBody>
                  <a:tcPr marL="84876" marR="84876" marT="42438" marB="42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Register and execute Python/Java/Scala functions natively in Snowflake.</a:t>
                      </a:r>
                    </a:p>
                  </a:txBody>
                  <a:tcPr marL="84876" marR="84876" marT="42438" marB="42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4469910"/>
                  </a:ext>
                </a:extLst>
              </a:tr>
              <a:tr h="594131">
                <a:tc>
                  <a:txBody>
                    <a:bodyPr/>
                    <a:lstStyle/>
                    <a:p>
                      <a:r>
                        <a:rPr lang="en-IN" sz="1700"/>
                        <a:t>🔄 </a:t>
                      </a:r>
                      <a:r>
                        <a:rPr lang="en-IN" sz="1700" b="1"/>
                        <a:t>Seamless integration</a:t>
                      </a:r>
                      <a:endParaRPr lang="en-IN" sz="1700"/>
                    </a:p>
                  </a:txBody>
                  <a:tcPr marL="84876" marR="84876" marT="42438" marB="42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Works with </a:t>
                      </a:r>
                      <a:r>
                        <a:rPr lang="en-US" sz="1700" b="1" dirty="0"/>
                        <a:t>Snowflake Notebooks, Tasks, Streams, and Pipelines</a:t>
                      </a:r>
                      <a:r>
                        <a:rPr lang="en-US" sz="1700" dirty="0"/>
                        <a:t>.</a:t>
                      </a:r>
                    </a:p>
                  </a:txBody>
                  <a:tcPr marL="84876" marR="84876" marT="42438" marB="4243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87451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5010124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1B12E08B-88C8-3FE8-4BE4-10AF2733B6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-233065"/>
            <a:ext cx="5879593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b="1" dirty="0">
              <a:latin typeface="Arial" panose="020B0604020202020204" pitchFamily="34" charset="0"/>
            </a:endParaRPr>
          </a:p>
          <a:p>
            <a:r>
              <a:rPr lang="en-US" b="1" dirty="0"/>
              <a:t> </a:t>
            </a:r>
          </a:p>
          <a:p>
            <a:r>
              <a:rPr lang="en-IN" dirty="0"/>
              <a:t>Snowpark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754ACF-B6B3-1B1A-3EBE-A426D5869ED7}"/>
              </a:ext>
            </a:extLst>
          </p:cNvPr>
          <p:cNvSpPr txBox="1"/>
          <p:nvPr/>
        </p:nvSpPr>
        <p:spPr>
          <a:xfrm>
            <a:off x="178308" y="956453"/>
            <a:ext cx="11388852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IN" b="1" dirty="0"/>
              <a:t>Architecture Overview</a:t>
            </a:r>
          </a:p>
          <a:p>
            <a:pPr>
              <a:spcBef>
                <a:spcPts val="600"/>
              </a:spcBef>
            </a:pPr>
            <a:r>
              <a:rPr lang="en-IN" b="1" dirty="0"/>
              <a:t> Client Code → Snowpark API → Snowflake Engine → Data in Snowflake</a:t>
            </a:r>
            <a:endParaRPr lang="en-IN" dirty="0"/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/>
              <a:t>The </a:t>
            </a:r>
            <a:r>
              <a:rPr lang="en-IN" b="1" dirty="0"/>
              <a:t>Snowpark API</a:t>
            </a:r>
            <a:r>
              <a:rPr lang="en-IN" dirty="0"/>
              <a:t> builds a </a:t>
            </a:r>
            <a:r>
              <a:rPr lang="en-IN" b="1" dirty="0"/>
              <a:t>logical query plan</a:t>
            </a:r>
            <a:r>
              <a:rPr lang="en-IN" dirty="0"/>
              <a:t>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/>
              <a:t>Snowflake </a:t>
            </a:r>
            <a:r>
              <a:rPr lang="en-IN" b="1" dirty="0"/>
              <a:t>optimizes and executes</a:t>
            </a:r>
            <a:r>
              <a:rPr lang="en-IN" dirty="0"/>
              <a:t> it internally (same as SQL).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/>
              <a:t>Results are returned as </a:t>
            </a:r>
            <a:r>
              <a:rPr lang="en-IN" b="1" dirty="0"/>
              <a:t>Snowpark </a:t>
            </a:r>
            <a:r>
              <a:rPr lang="en-IN" b="1" dirty="0" err="1"/>
              <a:t>DataFrames</a:t>
            </a:r>
            <a:r>
              <a:rPr lang="en-IN" dirty="0"/>
              <a:t>.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8603098-12AA-7F79-E963-45180786B0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5169099"/>
              </p:ext>
            </p:extLst>
          </p:nvPr>
        </p:nvGraphicFramePr>
        <p:xfrm>
          <a:off x="429768" y="3007745"/>
          <a:ext cx="10131424" cy="2377440"/>
        </p:xfrm>
        <a:graphic>
          <a:graphicData uri="http://schemas.openxmlformats.org/drawingml/2006/table">
            <a:tbl>
              <a:tblPr/>
              <a:tblGrid>
                <a:gridCol w="5065712">
                  <a:extLst>
                    <a:ext uri="{9D8B030D-6E8A-4147-A177-3AD203B41FA5}">
                      <a16:colId xmlns:a16="http://schemas.microsoft.com/office/drawing/2014/main" val="2538144821"/>
                    </a:ext>
                  </a:extLst>
                </a:gridCol>
                <a:gridCol w="5065712">
                  <a:extLst>
                    <a:ext uri="{9D8B030D-6E8A-4147-A177-3AD203B41FA5}">
                      <a16:colId xmlns:a16="http://schemas.microsoft.com/office/drawing/2014/main" val="197782998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Area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Example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430139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en-IN" sz="1800"/>
                        <a:t>🧹 </a:t>
                      </a:r>
                      <a:r>
                        <a:rPr lang="en-IN" sz="1800" b="1"/>
                        <a:t>Data Engineering</a:t>
                      </a:r>
                      <a:endParaRPr lang="en-IN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ETL/ELT transformations using Python instead of SQL.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138874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en-IN" sz="1800"/>
                        <a:t>🤖 </a:t>
                      </a:r>
                      <a:r>
                        <a:rPr lang="en-IN" sz="1800" b="1"/>
                        <a:t>Data Science</a:t>
                      </a:r>
                      <a:endParaRPr lang="en-IN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Feature engineering &amp; ML model training inside Snowflake.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082301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🔗 </a:t>
                      </a:r>
                      <a:r>
                        <a:rPr lang="en-IN" sz="1800" b="1"/>
                        <a:t>Application Development</a:t>
                      </a:r>
                      <a:endParaRPr lang="en-IN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Build data-driven apps without exporting data.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892826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🧾 </a:t>
                      </a:r>
                      <a:r>
                        <a:rPr lang="en-IN" sz="1800" b="1"/>
                        <a:t>UDF/Stored Procedure Logic</a:t>
                      </a:r>
                      <a:endParaRPr lang="en-IN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Implement complex business logic using Python.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50631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7083974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1B12E08B-88C8-3FE8-4BE4-10AF2733B6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-233065"/>
            <a:ext cx="5879593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b="1" dirty="0">
              <a:latin typeface="Arial" panose="020B0604020202020204" pitchFamily="34" charset="0"/>
            </a:endParaRPr>
          </a:p>
          <a:p>
            <a:r>
              <a:rPr lang="en-US" b="1" dirty="0"/>
              <a:t> </a:t>
            </a:r>
          </a:p>
          <a:p>
            <a:r>
              <a:rPr kumimoji="0" lang="en-I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Time Travel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754ACF-B6B3-1B1A-3EBE-A426D5869ED7}"/>
              </a:ext>
            </a:extLst>
          </p:cNvPr>
          <p:cNvSpPr txBox="1"/>
          <p:nvPr/>
        </p:nvSpPr>
        <p:spPr>
          <a:xfrm>
            <a:off x="178308" y="956453"/>
            <a:ext cx="11388852" cy="41088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dirty="0"/>
              <a:t>Time Travel in Snowflake is a powerful data recovery and historical access feature that allows users to query, clone, or restore data from the past.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dirty="0"/>
              <a:t>It helps organizations recover from accidental data modifications or deletions and supports auditing, debugging, and historical analysis.</a:t>
            </a:r>
          </a:p>
          <a:p>
            <a:pPr>
              <a:spcBef>
                <a:spcPts val="600"/>
              </a:spcBef>
            </a:pPr>
            <a:endParaRPr lang="en-US" b="1" dirty="0"/>
          </a:p>
          <a:p>
            <a:pPr>
              <a:spcBef>
                <a:spcPts val="600"/>
              </a:spcBef>
            </a:pPr>
            <a:r>
              <a:rPr lang="en-US" b="1" dirty="0"/>
              <a:t> Purpose of Time Travel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dirty="0"/>
              <a:t>Enables access to historical data for a defined period.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dirty="0"/>
              <a:t>Allows recovery of tables, schemas, and databases that were dropped.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dirty="0"/>
              <a:t>Facilitates point-in-time data analysis and auditing.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dirty="0"/>
              <a:t>Supports cloning objects from a specific historical state.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dirty="0"/>
              <a:t>Reduces data loss risk caused by human error or incorrect processes.</a:t>
            </a:r>
            <a:endParaRPr lang="en-IN" dirty="0"/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1834637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1B12E08B-88C8-3FE8-4BE4-10AF2733B6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-233065"/>
            <a:ext cx="5879593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b="1" dirty="0">
              <a:latin typeface="Arial" panose="020B0604020202020204" pitchFamily="34" charset="0"/>
            </a:endParaRPr>
          </a:p>
          <a:p>
            <a:r>
              <a:rPr lang="en-US" b="1" dirty="0"/>
              <a:t> </a:t>
            </a:r>
          </a:p>
          <a:p>
            <a:r>
              <a:rPr kumimoji="0" lang="en-I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Time Travel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754ACF-B6B3-1B1A-3EBE-A426D5869ED7}"/>
              </a:ext>
            </a:extLst>
          </p:cNvPr>
          <p:cNvSpPr txBox="1"/>
          <p:nvPr/>
        </p:nvSpPr>
        <p:spPr>
          <a:xfrm>
            <a:off x="178308" y="956453"/>
            <a:ext cx="11388852" cy="47859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Retention Periods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b="1" dirty="0"/>
              <a:t>default retention period</a:t>
            </a:r>
            <a:r>
              <a:rPr lang="en-US" dirty="0"/>
              <a:t> is </a:t>
            </a:r>
            <a:r>
              <a:rPr lang="en-US" b="1" dirty="0"/>
              <a:t>1 day</a:t>
            </a:r>
            <a:r>
              <a:rPr lang="en-US" dirty="0"/>
              <a:t>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For </a:t>
            </a:r>
            <a:r>
              <a:rPr lang="en-US" b="1" dirty="0"/>
              <a:t>Enterprise Edition and above</a:t>
            </a:r>
            <a:r>
              <a:rPr lang="en-US" dirty="0"/>
              <a:t>, it can be extended up to </a:t>
            </a:r>
            <a:r>
              <a:rPr lang="en-US" b="1" dirty="0"/>
              <a:t>90 days</a:t>
            </a:r>
            <a:r>
              <a:rPr lang="en-US" dirty="0"/>
              <a:t>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The retention period applies to both active and dropped objects.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Dropped objects remain recoverable until their retention period expires.</a:t>
            </a:r>
          </a:p>
          <a:p>
            <a:endParaRPr lang="en-US" b="1" dirty="0"/>
          </a:p>
          <a:p>
            <a:r>
              <a:rPr lang="en-US" b="1" dirty="0"/>
              <a:t>Supported Objects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Permanent tables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Transient tables (with limited retention)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Databases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Schemas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Stages (for certain metadata)</a:t>
            </a:r>
          </a:p>
          <a:p>
            <a:pPr>
              <a:spcBef>
                <a:spcPts val="600"/>
              </a:spcBef>
            </a:pPr>
            <a:endParaRPr lang="en-US" dirty="0"/>
          </a:p>
          <a:p>
            <a:pPr lvl="1">
              <a:spcBef>
                <a:spcPts val="600"/>
              </a:spcBef>
            </a:pPr>
            <a:endParaRPr lang="en-IN" dirty="0"/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7732917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1B12E08B-88C8-3FE8-4BE4-10AF2733B6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-233065"/>
            <a:ext cx="5879593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b="1" dirty="0">
              <a:latin typeface="Arial" panose="020B0604020202020204" pitchFamily="34" charset="0"/>
            </a:endParaRPr>
          </a:p>
          <a:p>
            <a:r>
              <a:rPr lang="en-US" b="1" dirty="0"/>
              <a:t> </a:t>
            </a:r>
          </a:p>
          <a:p>
            <a:r>
              <a:rPr kumimoji="0" lang="en-I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Time Travel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754ACF-B6B3-1B1A-3EBE-A426D5869ED7}"/>
              </a:ext>
            </a:extLst>
          </p:cNvPr>
          <p:cNvSpPr txBox="1"/>
          <p:nvPr/>
        </p:nvSpPr>
        <p:spPr>
          <a:xfrm>
            <a:off x="178308" y="956453"/>
            <a:ext cx="11388852" cy="63555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Operations Enabled by Time Travel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dirty="0"/>
              <a:t>Query Historical Data</a:t>
            </a:r>
            <a:r>
              <a:rPr lang="en-US" dirty="0"/>
              <a:t> – Access data from a specific past time or version.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dirty="0"/>
              <a:t>Clone Historical Data</a:t>
            </a:r>
            <a:r>
              <a:rPr lang="en-US" dirty="0"/>
              <a:t> – Create a new object from a previous version without copying storage.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dirty="0" err="1"/>
              <a:t>Undrop</a:t>
            </a:r>
            <a:r>
              <a:rPr lang="en-US" b="1" dirty="0"/>
              <a:t> Objects</a:t>
            </a:r>
            <a:r>
              <a:rPr lang="en-US" dirty="0"/>
              <a:t> – Recover dropped tables, schemas, or databases within their retention period.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dirty="0"/>
              <a:t>Audit and Forensics</a:t>
            </a:r>
            <a:r>
              <a:rPr lang="en-US" dirty="0"/>
              <a:t> – Examine historical data for debugging, compliance, or validation purposes.</a:t>
            </a:r>
          </a:p>
          <a:p>
            <a:pPr>
              <a:spcBef>
                <a:spcPts val="600"/>
              </a:spcBef>
            </a:pPr>
            <a:r>
              <a:rPr lang="en-US" b="1" dirty="0"/>
              <a:t>Interaction with Fail-safe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After the </a:t>
            </a:r>
            <a:r>
              <a:rPr lang="en-US" b="1" dirty="0"/>
              <a:t>Time Travel retention period</a:t>
            </a:r>
            <a:r>
              <a:rPr lang="en-US" dirty="0"/>
              <a:t> expires, data moves into </a:t>
            </a:r>
            <a:r>
              <a:rPr lang="en-US" b="1" dirty="0"/>
              <a:t>Fail-safe</a:t>
            </a:r>
            <a:r>
              <a:rPr lang="en-US" dirty="0"/>
              <a:t>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dirty="0"/>
              <a:t>Fail-safe</a:t>
            </a:r>
            <a:r>
              <a:rPr lang="en-US" dirty="0"/>
              <a:t> is a 7-day period for Snowflake-managed recovery.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Users cannot query or clone data during Fail-safe; only Snowflake can recover it.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Time Travel + Fail-safe ensures total data protection.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dirty="0"/>
              <a:t>Limitations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Not supported for </a:t>
            </a:r>
            <a:r>
              <a:rPr lang="en-US" b="1" dirty="0"/>
              <a:t>temporary tables</a:t>
            </a:r>
            <a:r>
              <a:rPr lang="en-US" dirty="0"/>
              <a:t>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b="1" dirty="0"/>
              <a:t>Retention duration</a:t>
            </a:r>
            <a:r>
              <a:rPr lang="en-US" dirty="0"/>
              <a:t> depends on the Snowflake edition.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b="1" dirty="0"/>
              <a:t>Fail-safe</a:t>
            </a:r>
            <a:r>
              <a:rPr lang="en-US" dirty="0"/>
              <a:t> cannot be disabled or shortened.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Time Travel operations may consume additional storage if historical data accumulates extensively.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dirty="0"/>
          </a:p>
          <a:p>
            <a:pPr marL="1714500" lvl="3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IN" dirty="0"/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3885228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1B12E08B-88C8-3FE8-4BE4-10AF2733B6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-233065"/>
            <a:ext cx="5879593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b="1" dirty="0">
              <a:latin typeface="Arial" panose="020B0604020202020204" pitchFamily="34" charset="0"/>
            </a:endParaRPr>
          </a:p>
          <a:p>
            <a:r>
              <a:rPr lang="en-US" b="1" dirty="0"/>
              <a:t> </a:t>
            </a:r>
          </a:p>
          <a:p>
            <a:r>
              <a:rPr lang="en-US" b="1" dirty="0"/>
              <a:t>Zero-Copy Cloning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754ACF-B6B3-1B1A-3EBE-A426D5869ED7}"/>
              </a:ext>
            </a:extLst>
          </p:cNvPr>
          <p:cNvSpPr txBox="1"/>
          <p:nvPr/>
        </p:nvSpPr>
        <p:spPr>
          <a:xfrm>
            <a:off x="91440" y="956453"/>
            <a:ext cx="11905488" cy="58015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b="1" dirty="0"/>
              <a:t>What is Zero-Copy Cloning?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A Snowflake feature that creates a logical copy of a database, schema, or table without physically duplicating the underlying micro-partition storage at the time of creation.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Clones are instantaneous (metadata operations) and initially consume negligible additional storage.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After creation, clones and sources diverge only when changes are made; changed micro-partitions are written separately (copy-on-write behavior).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spcBef>
                <a:spcPts val="600"/>
              </a:spcBef>
            </a:pPr>
            <a:r>
              <a:rPr lang="en-US" b="1" dirty="0"/>
              <a:t>How it works (internals, high level)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Snowflake stores data in immutable micro-partitions (read-only blocks).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A clone is a new set of metadata pointers to the same micro-partitions as the source.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On WRITE operations to either the clone or the source, Snowflake creates new micro-partitions for the modified data.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The clone references the historical versions of micro-partitions (enabled via Time Travel) so the clone represents the object state at clone-time.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This is often called </a:t>
            </a:r>
            <a:r>
              <a:rPr lang="en-US" i="1" dirty="0"/>
              <a:t>copy-on-write</a:t>
            </a:r>
            <a:r>
              <a:rPr lang="en-US" dirty="0"/>
              <a:t> or </a:t>
            </a:r>
            <a:r>
              <a:rPr lang="en-US" i="1" dirty="0"/>
              <a:t>metadata-only clone</a:t>
            </a:r>
            <a:r>
              <a:rPr lang="en-US" dirty="0"/>
              <a:t>.</a:t>
            </a:r>
          </a:p>
          <a:p>
            <a:pPr marL="1257300" lvl="2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dirty="0"/>
          </a:p>
          <a:p>
            <a:pPr marL="2171700" lvl="4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IN" dirty="0"/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5154982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1B12E08B-88C8-3FE8-4BE4-10AF2733B6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-233065"/>
            <a:ext cx="5879593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b="1" dirty="0">
              <a:latin typeface="Arial" panose="020B0604020202020204" pitchFamily="34" charset="0"/>
            </a:endParaRPr>
          </a:p>
          <a:p>
            <a:r>
              <a:rPr lang="en-US" b="1" dirty="0"/>
              <a:t> </a:t>
            </a:r>
          </a:p>
          <a:p>
            <a:r>
              <a:rPr lang="en-US" b="1" dirty="0"/>
              <a:t>Zero-Copy Cloning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754ACF-B6B3-1B1A-3EBE-A426D5869ED7}"/>
              </a:ext>
            </a:extLst>
          </p:cNvPr>
          <p:cNvSpPr txBox="1"/>
          <p:nvPr/>
        </p:nvSpPr>
        <p:spPr>
          <a:xfrm>
            <a:off x="91440" y="956453"/>
            <a:ext cx="11905488" cy="48167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Cloneable objects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Databases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Schemas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Tables (permanent, transient, temporary where applicable)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Other objects: stages, file formats, sequences, roles (object-specific restrictions may apply)</a:t>
            </a:r>
          </a:p>
          <a:p>
            <a:pPr>
              <a:spcBef>
                <a:spcPts val="600"/>
              </a:spcBef>
            </a:pPr>
            <a:endParaRPr lang="en-US" dirty="0"/>
          </a:p>
          <a:p>
            <a:r>
              <a:rPr lang="en-US" b="1" dirty="0"/>
              <a:t>Storage &amp; Billing behavior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At creation: clones do </a:t>
            </a:r>
            <a:r>
              <a:rPr lang="en-US" b="1" dirty="0"/>
              <a:t>not</a:t>
            </a:r>
            <a:r>
              <a:rPr lang="en-US" dirty="0"/>
              <a:t> increase data storage because they point to existing micro-partitions.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On modification: only changed micro-partitions (new data) consume additional storage.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Time Travel &amp; Fail-safe: cloned objects may extend the life of micro-partitions indirectly because Time Travel retention applies; ensure retention settings are considered for cost planning.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dirty="0"/>
          </a:p>
          <a:p>
            <a:pPr marL="2628900" lvl="5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IN" dirty="0"/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3361019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1B12E08B-88C8-3FE8-4BE4-10AF2733B6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-233065"/>
            <a:ext cx="5879593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b="1" dirty="0">
              <a:latin typeface="Arial" panose="020B0604020202020204" pitchFamily="34" charset="0"/>
            </a:endParaRPr>
          </a:p>
          <a:p>
            <a:r>
              <a:rPr lang="en-US" b="1" dirty="0"/>
              <a:t> </a:t>
            </a:r>
          </a:p>
          <a:p>
            <a:r>
              <a:rPr lang="en-US" b="1" dirty="0"/>
              <a:t>Zero-Copy Cloning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754ACF-B6B3-1B1A-3EBE-A426D5869ED7}"/>
              </a:ext>
            </a:extLst>
          </p:cNvPr>
          <p:cNvSpPr txBox="1"/>
          <p:nvPr/>
        </p:nvSpPr>
        <p:spPr>
          <a:xfrm>
            <a:off x="91440" y="956453"/>
            <a:ext cx="11905488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Common use cases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Development &amp; testing environments: spin up isolated copies for experiments without paying for full storage.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Analytics sandboxes: analysts can create working copies to test transformations.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Backup / snapshot workflows: quick point-in-time snapshots for short-term rollback.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6517386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1B12E08B-88C8-3FE8-4BE4-10AF2733B6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-233065"/>
            <a:ext cx="5879593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b="1" dirty="0">
              <a:latin typeface="Arial" panose="020B0604020202020204" pitchFamily="34" charset="0"/>
            </a:endParaRPr>
          </a:p>
          <a:p>
            <a:r>
              <a:rPr lang="en-US" b="1" dirty="0"/>
              <a:t> </a:t>
            </a:r>
          </a:p>
          <a:p>
            <a:r>
              <a:rPr lang="en-IN" b="1" dirty="0"/>
              <a:t>Snowflake Data Sharing</a:t>
            </a:r>
            <a:endParaRPr lang="en-US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754ACF-B6B3-1B1A-3EBE-A426D5869ED7}"/>
              </a:ext>
            </a:extLst>
          </p:cNvPr>
          <p:cNvSpPr txBox="1"/>
          <p:nvPr/>
        </p:nvSpPr>
        <p:spPr>
          <a:xfrm>
            <a:off x="91440" y="956453"/>
            <a:ext cx="11905488" cy="49705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dirty="0"/>
              <a:t>Enables real-time access to live data.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dirty="0"/>
              <a:t>Eliminates ETL processes, data duplication, and latency issues.</a:t>
            </a:r>
          </a:p>
          <a:p>
            <a:pPr>
              <a:spcBef>
                <a:spcPts val="600"/>
              </a:spcBef>
            </a:pPr>
            <a:r>
              <a:rPr lang="en-US" b="1" dirty="0"/>
              <a:t>Benefits of Snowflake Data Sharing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No need to copy or move data.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Consumers access the same data stored in the provider’s account.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Consumers always see the </a:t>
            </a:r>
            <a:r>
              <a:rPr lang="en-US" b="1" dirty="0"/>
              <a:t>latest version</a:t>
            </a:r>
            <a:r>
              <a:rPr lang="en-US" dirty="0"/>
              <a:t> of shared data.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Granular access control (schemas, tables, views).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Provider maintains full ownership.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No additional storage costs for consumers.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Share data seamlessly across </a:t>
            </a:r>
            <a:r>
              <a:rPr lang="en-US" b="1" dirty="0"/>
              <a:t>different cloud providers (AWS, Azure, GCP)</a:t>
            </a:r>
            <a:r>
              <a:rPr lang="en-US" dirty="0"/>
              <a:t> and regions.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dirty="0"/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spcBef>
                <a:spcPts val="600"/>
              </a:spcBef>
            </a:pPr>
            <a:endParaRPr lang="en-US" dirty="0"/>
          </a:p>
          <a:p>
            <a:pPr>
              <a:spcBef>
                <a:spcPts val="600"/>
              </a:spcBef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366380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1B12E08B-88C8-3FE8-4BE4-10AF2733B6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-233065"/>
            <a:ext cx="5879593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b="1" dirty="0">
              <a:latin typeface="Arial" panose="020B0604020202020204" pitchFamily="34" charset="0"/>
            </a:endParaRPr>
          </a:p>
          <a:p>
            <a:r>
              <a:rPr lang="en-US" b="1" dirty="0"/>
              <a:t> </a:t>
            </a:r>
          </a:p>
          <a:p>
            <a:r>
              <a:rPr lang="en-IN" b="1" dirty="0"/>
              <a:t>Snowflake Data Sharing</a:t>
            </a:r>
            <a:endParaRPr lang="en-US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754ACF-B6B3-1B1A-3EBE-A426D5869ED7}"/>
              </a:ext>
            </a:extLst>
          </p:cNvPr>
          <p:cNvSpPr txBox="1"/>
          <p:nvPr/>
        </p:nvSpPr>
        <p:spPr>
          <a:xfrm>
            <a:off x="143256" y="3515976"/>
            <a:ext cx="11905488" cy="3493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Types of Data Sharing</a:t>
            </a:r>
          </a:p>
          <a:p>
            <a:r>
              <a:rPr lang="en-IN" b="1" dirty="0"/>
              <a:t>Direct Sharing</a:t>
            </a:r>
            <a:endParaRPr lang="en-IN" dirty="0"/>
          </a:p>
          <a:p>
            <a:pPr marL="742950" lvl="1" indent="-285750">
              <a:buFont typeface="+mj-lt"/>
              <a:buAutoNum type="arabicPeriod"/>
            </a:pPr>
            <a:r>
              <a:rPr lang="en-IN" dirty="0"/>
              <a:t>Share data directly between </a:t>
            </a:r>
            <a:r>
              <a:rPr lang="en-IN" b="1" dirty="0"/>
              <a:t>two Snowflake accounts</a:t>
            </a:r>
            <a:r>
              <a:rPr lang="en-IN" dirty="0"/>
              <a:t> within the same region/cloud.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N" dirty="0"/>
              <a:t>Consumers can access data immediately.</a:t>
            </a:r>
          </a:p>
          <a:p>
            <a:r>
              <a:rPr lang="en-IN" b="1" dirty="0"/>
              <a:t>Cross-Region Sharing</a:t>
            </a:r>
            <a:endParaRPr lang="en-IN" dirty="0"/>
          </a:p>
          <a:p>
            <a:pPr marL="742950" lvl="1" indent="-285750">
              <a:buFont typeface="+mj-lt"/>
              <a:buAutoNum type="arabicPeriod"/>
            </a:pPr>
            <a:r>
              <a:rPr lang="en-IN" dirty="0"/>
              <a:t>Share data across </a:t>
            </a:r>
            <a:r>
              <a:rPr lang="en-IN" b="1" dirty="0"/>
              <a:t>different Snowflake regions</a:t>
            </a:r>
            <a:r>
              <a:rPr lang="en-IN" dirty="0"/>
              <a:t>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N" dirty="0"/>
              <a:t>Uses </a:t>
            </a:r>
            <a:r>
              <a:rPr lang="en-IN" b="1" dirty="0"/>
              <a:t>Snowflake Secure Data Exchange</a:t>
            </a:r>
            <a:r>
              <a:rPr lang="en-IN" dirty="0"/>
              <a:t>.</a:t>
            </a:r>
          </a:p>
          <a:p>
            <a:r>
              <a:rPr lang="en-IN" b="1" dirty="0"/>
              <a:t>Cross-Cloud Sharing</a:t>
            </a:r>
            <a:endParaRPr lang="en-IN" dirty="0"/>
          </a:p>
          <a:p>
            <a:pPr marL="742950" lvl="1" indent="-285750">
              <a:buFont typeface="+mj-lt"/>
              <a:buAutoNum type="arabicPeriod"/>
            </a:pPr>
            <a:r>
              <a:rPr lang="en-IN" dirty="0"/>
              <a:t>Share data between </a:t>
            </a:r>
            <a:r>
              <a:rPr lang="en-IN" b="1" dirty="0"/>
              <a:t>different cloud platforms</a:t>
            </a:r>
            <a:r>
              <a:rPr lang="en-IN" dirty="0"/>
              <a:t> (AWS → Azure → GCP).</a:t>
            </a:r>
          </a:p>
          <a:p>
            <a:r>
              <a:rPr lang="en-IN" b="1" dirty="0"/>
              <a:t>Data Marketplace / Exchange</a:t>
            </a:r>
            <a:endParaRPr lang="en-IN" dirty="0"/>
          </a:p>
          <a:p>
            <a:pPr marL="742950" lvl="1" indent="-285750">
              <a:buFont typeface="+mj-lt"/>
              <a:buAutoNum type="arabicPeriod"/>
            </a:pPr>
            <a:r>
              <a:rPr lang="en-IN" dirty="0"/>
              <a:t>Publish data products publicly or privately in the </a:t>
            </a:r>
            <a:r>
              <a:rPr lang="en-IN" b="1" dirty="0"/>
              <a:t>Snowflake Marketplace</a:t>
            </a:r>
            <a:r>
              <a:rPr lang="en-IN" dirty="0"/>
              <a:t>.</a:t>
            </a:r>
          </a:p>
          <a:p>
            <a:pPr>
              <a:spcBef>
                <a:spcPts val="600"/>
              </a:spcBef>
            </a:pPr>
            <a:endParaRPr lang="en-IN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F1F6715-A359-5C01-463D-EA1B52F2D8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866653"/>
              </p:ext>
            </p:extLst>
          </p:nvPr>
        </p:nvGraphicFramePr>
        <p:xfrm>
          <a:off x="502920" y="690265"/>
          <a:ext cx="10616184" cy="2651760"/>
        </p:xfrm>
        <a:graphic>
          <a:graphicData uri="http://schemas.openxmlformats.org/drawingml/2006/table">
            <a:tbl>
              <a:tblPr/>
              <a:tblGrid>
                <a:gridCol w="5308092">
                  <a:extLst>
                    <a:ext uri="{9D8B030D-6E8A-4147-A177-3AD203B41FA5}">
                      <a16:colId xmlns:a16="http://schemas.microsoft.com/office/drawing/2014/main" val="3655183535"/>
                    </a:ext>
                  </a:extLst>
                </a:gridCol>
                <a:gridCol w="5308092">
                  <a:extLst>
                    <a:ext uri="{9D8B030D-6E8A-4147-A177-3AD203B41FA5}">
                      <a16:colId xmlns:a16="http://schemas.microsoft.com/office/drawing/2014/main" val="142234637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Concept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0571645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en-IN" sz="1800" b="1"/>
                        <a:t>Data Provider</a:t>
                      </a:r>
                      <a:endParaRPr lang="en-IN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The Snowflake account that owns and shares the data.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7366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 b="1"/>
                        <a:t>Data Consumer</a:t>
                      </a:r>
                      <a:endParaRPr lang="en-IN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The account that receives and queries shared data.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0310006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en-IN" sz="1800" b="1"/>
                        <a:t>Share</a:t>
                      </a:r>
                      <a:endParaRPr lang="en-IN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The object that defines what data is shared and to whom.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77585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en-IN" sz="1800" b="1"/>
                        <a:t>Reader Account</a:t>
                      </a:r>
                      <a:endParaRPr lang="en-IN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A Snowflake-managed account created by provider for users who don’t have Snowflake.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38455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7158341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1B12E08B-88C8-3FE8-4BE4-10AF2733B6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-233065"/>
            <a:ext cx="5879593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b="1" dirty="0">
              <a:latin typeface="Arial" panose="020B0604020202020204" pitchFamily="34" charset="0"/>
            </a:endParaRPr>
          </a:p>
          <a:p>
            <a:r>
              <a:rPr lang="en-US" b="1" dirty="0"/>
              <a:t> </a:t>
            </a:r>
          </a:p>
          <a:p>
            <a:r>
              <a:rPr lang="en-IN" b="1" dirty="0"/>
              <a:t>Snowflake Task</a:t>
            </a:r>
            <a:endParaRPr lang="en-US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754ACF-B6B3-1B1A-3EBE-A426D5869ED7}"/>
              </a:ext>
            </a:extLst>
          </p:cNvPr>
          <p:cNvSpPr txBox="1"/>
          <p:nvPr/>
        </p:nvSpPr>
        <p:spPr>
          <a:xfrm>
            <a:off x="-1" y="946042"/>
            <a:ext cx="11905488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 </a:t>
            </a:r>
            <a:r>
              <a:rPr lang="en-US" b="1" dirty="0"/>
              <a:t>Task</a:t>
            </a:r>
            <a:r>
              <a:rPr lang="en-US" dirty="0"/>
              <a:t> in Snowflake is a </a:t>
            </a:r>
            <a:r>
              <a:rPr lang="en-US" b="1" dirty="0"/>
              <a:t>database object</a:t>
            </a:r>
            <a:r>
              <a:rPr lang="en-US" dirty="0"/>
              <a:t> used to </a:t>
            </a:r>
            <a:r>
              <a:rPr lang="en-US" b="1" dirty="0"/>
              <a:t>schedule and automate SQL statements</a:t>
            </a:r>
            <a:r>
              <a:rPr lang="en-US" dirty="0"/>
              <a:t> — such as: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Data transformations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Table refreshes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Stream and merge operations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ETL/ELT workflow orchestration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It works like a </a:t>
            </a:r>
            <a:r>
              <a:rPr lang="en-US" b="1" dirty="0"/>
              <a:t>scheduler or </a:t>
            </a:r>
            <a:r>
              <a:rPr lang="en-US" b="1" dirty="0" err="1"/>
              <a:t>cron</a:t>
            </a:r>
            <a:r>
              <a:rPr lang="en-US" b="1" dirty="0"/>
              <a:t> job inside Snowflake</a:t>
            </a:r>
            <a:r>
              <a:rPr lang="en-US" dirty="0"/>
              <a:t>, using the </a:t>
            </a:r>
            <a:r>
              <a:rPr lang="en-US" b="1" dirty="0"/>
              <a:t>Snowflake engine</a:t>
            </a:r>
            <a:r>
              <a:rPr lang="en-US" dirty="0"/>
              <a:t> (no external scheduler required).</a:t>
            </a:r>
          </a:p>
          <a:p>
            <a:pPr>
              <a:spcBef>
                <a:spcPts val="600"/>
              </a:spcBef>
            </a:pPr>
            <a:endParaRPr lang="en-IN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D2F4B8D-9172-CA91-8CA7-A1CC0A5828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0789049"/>
              </p:ext>
            </p:extLst>
          </p:nvPr>
        </p:nvGraphicFramePr>
        <p:xfrm>
          <a:off x="649224" y="3694809"/>
          <a:ext cx="10131424" cy="2560320"/>
        </p:xfrm>
        <a:graphic>
          <a:graphicData uri="http://schemas.openxmlformats.org/drawingml/2006/table">
            <a:tbl>
              <a:tblPr/>
              <a:tblGrid>
                <a:gridCol w="5065712">
                  <a:extLst>
                    <a:ext uri="{9D8B030D-6E8A-4147-A177-3AD203B41FA5}">
                      <a16:colId xmlns:a16="http://schemas.microsoft.com/office/drawing/2014/main" val="3799740454"/>
                    </a:ext>
                  </a:extLst>
                </a:gridCol>
                <a:gridCol w="5065712">
                  <a:extLst>
                    <a:ext uri="{9D8B030D-6E8A-4147-A177-3AD203B41FA5}">
                      <a16:colId xmlns:a16="http://schemas.microsoft.com/office/drawing/2014/main" val="2391108017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1516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 b="1"/>
                        <a:t>Automation</a:t>
                      </a:r>
                      <a:endParaRPr lang="en-IN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Run SQL commands automatically on a schedule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72634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 b="1"/>
                        <a:t>Integration with Streams</a:t>
                      </a:r>
                      <a:endParaRPr lang="en-IN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Combine Tasks + Streams for incremental ETL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928608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 b="1"/>
                        <a:t>Chaining</a:t>
                      </a:r>
                      <a:endParaRPr lang="en-IN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One task can trigger another (task hierarchy)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16438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 b="1"/>
                        <a:t>Cron Scheduling</a:t>
                      </a:r>
                      <a:endParaRPr lang="en-IN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Flexible timing using CRON syntax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142358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 b="1"/>
                        <a:t>Error Handling</a:t>
                      </a:r>
                      <a:endParaRPr lang="en-IN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Task retries and status tracking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94179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 b="1"/>
                        <a:t>Pause/Resume</a:t>
                      </a:r>
                      <a:endParaRPr lang="en-IN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Easily enable or suspend tasks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49444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746369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1B12E08B-88C8-3FE8-4BE4-10AF2733B6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-233065"/>
            <a:ext cx="5879593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b="1" dirty="0">
              <a:latin typeface="Arial" panose="020B0604020202020204" pitchFamily="34" charset="0"/>
            </a:endParaRPr>
          </a:p>
          <a:p>
            <a:r>
              <a:rPr lang="en-US" b="1" dirty="0"/>
              <a:t> </a:t>
            </a:r>
          </a:p>
          <a:p>
            <a:r>
              <a:rPr lang="en-IN" b="1" dirty="0"/>
              <a:t>Snowflake Task</a:t>
            </a:r>
            <a:endParaRPr lang="en-US" b="1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33CC4F4-EA37-139B-7567-9BD66CE59F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3218174"/>
              </p:ext>
            </p:extLst>
          </p:nvPr>
        </p:nvGraphicFramePr>
        <p:xfrm>
          <a:off x="237744" y="1003713"/>
          <a:ext cx="10131424" cy="1737360"/>
        </p:xfrm>
        <a:graphic>
          <a:graphicData uri="http://schemas.openxmlformats.org/drawingml/2006/table">
            <a:tbl>
              <a:tblPr/>
              <a:tblGrid>
                <a:gridCol w="5065712">
                  <a:extLst>
                    <a:ext uri="{9D8B030D-6E8A-4147-A177-3AD203B41FA5}">
                      <a16:colId xmlns:a16="http://schemas.microsoft.com/office/drawing/2014/main" val="2430703297"/>
                    </a:ext>
                  </a:extLst>
                </a:gridCol>
                <a:gridCol w="5065712">
                  <a:extLst>
                    <a:ext uri="{9D8B030D-6E8A-4147-A177-3AD203B41FA5}">
                      <a16:colId xmlns:a16="http://schemas.microsoft.com/office/drawing/2014/main" val="199817922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289729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 b="1"/>
                        <a:t>Standalone Task</a:t>
                      </a:r>
                      <a:endParaRPr lang="en-IN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Runs independently on a time schedule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305114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 b="1"/>
                        <a:t>Child Task (Dependent Task)</a:t>
                      </a:r>
                      <a:endParaRPr lang="en-IN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Runs after a parent task completes successfully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233444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en-IN" sz="1800" b="1"/>
                        <a:t>Stream Task</a:t>
                      </a:r>
                      <a:endParaRPr lang="en-IN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Consumes data from a Stream for near-real-time updates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76069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3153717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1B12E08B-88C8-3FE8-4BE4-10AF2733B6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-233065"/>
            <a:ext cx="5879593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b="1" dirty="0">
              <a:latin typeface="Arial" panose="020B0604020202020204" pitchFamily="34" charset="0"/>
            </a:endParaRPr>
          </a:p>
          <a:p>
            <a:r>
              <a:rPr lang="en-US" b="1" dirty="0"/>
              <a:t> </a:t>
            </a:r>
          </a:p>
          <a:p>
            <a:r>
              <a:rPr lang="en-IN" b="1" dirty="0"/>
              <a:t>Snowflake Stream</a:t>
            </a:r>
            <a:endParaRPr lang="en-US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754ACF-B6B3-1B1A-3EBE-A426D5869ED7}"/>
              </a:ext>
            </a:extLst>
          </p:cNvPr>
          <p:cNvSpPr txBox="1"/>
          <p:nvPr/>
        </p:nvSpPr>
        <p:spPr>
          <a:xfrm>
            <a:off x="-1" y="946042"/>
            <a:ext cx="11905488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 </a:t>
            </a:r>
            <a:r>
              <a:rPr lang="en-US" b="1" dirty="0"/>
              <a:t>Stream</a:t>
            </a:r>
            <a:r>
              <a:rPr lang="en-US" dirty="0"/>
              <a:t> in Snowflake is a </a:t>
            </a:r>
            <a:r>
              <a:rPr lang="en-US" b="1" dirty="0"/>
              <a:t>change tracking object</a:t>
            </a:r>
            <a:r>
              <a:rPr lang="en-US" dirty="0"/>
              <a:t> that records </a:t>
            </a:r>
            <a:r>
              <a:rPr lang="en-US" b="1" dirty="0"/>
              <a:t>inserts, updates, and deletes</a:t>
            </a:r>
            <a:r>
              <a:rPr lang="en-US" dirty="0"/>
              <a:t> made to a table.</a:t>
            </a:r>
          </a:p>
          <a:p>
            <a:r>
              <a:rPr lang="en-US" dirty="0"/>
              <a:t>It provides a </a:t>
            </a:r>
            <a:r>
              <a:rPr lang="en-US" b="1" dirty="0"/>
              <a:t>Change Data Capture (CDC)</a:t>
            </a:r>
            <a:r>
              <a:rPr lang="en-US" dirty="0"/>
              <a:t> mechanism — allowing you to identify and process only the </a:t>
            </a:r>
            <a:r>
              <a:rPr lang="en-US" b="1" dirty="0"/>
              <a:t>changed data</a:t>
            </a:r>
            <a:r>
              <a:rPr lang="en-US" dirty="0"/>
              <a:t> instead of scanning the whole table.</a:t>
            </a:r>
          </a:p>
          <a:p>
            <a:pPr>
              <a:spcBef>
                <a:spcPts val="600"/>
              </a:spcBef>
            </a:pP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94643C-9DF7-0A7E-D3DC-E021697A2650}"/>
              </a:ext>
            </a:extLst>
          </p:cNvPr>
          <p:cNvSpPr txBox="1"/>
          <p:nvPr/>
        </p:nvSpPr>
        <p:spPr>
          <a:xfrm>
            <a:off x="187452" y="2223315"/>
            <a:ext cx="6117336" cy="1831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Why Use Streams?</a:t>
            </a:r>
          </a:p>
          <a:p>
            <a:pPr lvl="1">
              <a:spcBef>
                <a:spcPts val="600"/>
              </a:spcBef>
            </a:pPr>
            <a:r>
              <a:rPr lang="en-IN" dirty="0"/>
              <a:t>✅ Capture incremental changes in real time</a:t>
            </a:r>
            <a:br>
              <a:rPr lang="en-IN" dirty="0"/>
            </a:br>
            <a:r>
              <a:rPr lang="en-IN" dirty="0"/>
              <a:t>✅ Reduce data processing cost and time</a:t>
            </a:r>
            <a:br>
              <a:rPr lang="en-IN" dirty="0"/>
            </a:br>
            <a:r>
              <a:rPr lang="en-IN" dirty="0"/>
              <a:t>✅ Build </a:t>
            </a:r>
            <a:r>
              <a:rPr lang="en-IN" b="1" dirty="0"/>
              <a:t>ETL / ELT pipelines</a:t>
            </a:r>
            <a:r>
              <a:rPr lang="en-IN" dirty="0"/>
              <a:t> efficiently</a:t>
            </a:r>
            <a:br>
              <a:rPr lang="en-IN" dirty="0"/>
            </a:br>
            <a:r>
              <a:rPr lang="en-IN" dirty="0"/>
              <a:t>✅ Combine with </a:t>
            </a:r>
            <a:r>
              <a:rPr lang="en-IN" b="1" dirty="0"/>
              <a:t>Tasks</a:t>
            </a:r>
            <a:r>
              <a:rPr lang="en-IN" dirty="0"/>
              <a:t> for full automation</a:t>
            </a:r>
            <a:br>
              <a:rPr lang="en-IN" dirty="0"/>
            </a:br>
            <a:r>
              <a:rPr lang="en-IN" dirty="0"/>
              <a:t>✅ Ideal for </a:t>
            </a:r>
            <a:r>
              <a:rPr lang="en-IN" b="1" dirty="0"/>
              <a:t>data lake → Snowflake → analytics</a:t>
            </a:r>
            <a:r>
              <a:rPr lang="en-IN" dirty="0"/>
              <a:t> pipelines</a:t>
            </a:r>
          </a:p>
        </p:txBody>
      </p:sp>
    </p:spTree>
    <p:extLst>
      <p:ext uri="{BB962C8B-B14F-4D97-AF65-F5344CB8AC3E}">
        <p14:creationId xmlns:p14="http://schemas.microsoft.com/office/powerpoint/2010/main" val="244449654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1B12E08B-88C8-3FE8-4BE4-10AF2733B6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-233065"/>
            <a:ext cx="5879593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b="1" dirty="0">
              <a:latin typeface="Arial" panose="020B0604020202020204" pitchFamily="34" charset="0"/>
            </a:endParaRPr>
          </a:p>
          <a:p>
            <a:r>
              <a:rPr lang="en-US" b="1" dirty="0"/>
              <a:t> </a:t>
            </a:r>
          </a:p>
          <a:p>
            <a:r>
              <a:rPr lang="en-IN" b="1" dirty="0"/>
              <a:t>Snow Pipe</a:t>
            </a:r>
            <a:endParaRPr lang="en-US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754ACF-B6B3-1B1A-3EBE-A426D5869ED7}"/>
              </a:ext>
            </a:extLst>
          </p:cNvPr>
          <p:cNvSpPr txBox="1"/>
          <p:nvPr/>
        </p:nvSpPr>
        <p:spPr>
          <a:xfrm>
            <a:off x="-1" y="946042"/>
            <a:ext cx="11905488" cy="2416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 err="1"/>
              <a:t>Snowpipe</a:t>
            </a:r>
            <a:r>
              <a:rPr lang="en-IN" dirty="0"/>
              <a:t> is Snowflake’s </a:t>
            </a:r>
            <a:r>
              <a:rPr lang="en-IN" b="1" dirty="0"/>
              <a:t>continuous data ingestion service</a:t>
            </a:r>
            <a:r>
              <a:rPr lang="en-IN" dirty="0"/>
              <a:t> that automatically loads data from external storage (like </a:t>
            </a:r>
            <a:r>
              <a:rPr lang="en-IN" b="1" dirty="0"/>
              <a:t>AWS S3</a:t>
            </a:r>
            <a:r>
              <a:rPr lang="en-IN" dirty="0"/>
              <a:t>, </a:t>
            </a:r>
            <a:r>
              <a:rPr lang="en-IN" b="1" dirty="0"/>
              <a:t>Azure Blob</a:t>
            </a:r>
            <a:r>
              <a:rPr lang="en-IN" dirty="0"/>
              <a:t>, or </a:t>
            </a:r>
            <a:r>
              <a:rPr lang="en-IN" b="1" dirty="0"/>
              <a:t>GCP</a:t>
            </a:r>
            <a:r>
              <a:rPr lang="en-IN" dirty="0"/>
              <a:t>) into Snowflake tables </a:t>
            </a:r>
            <a:r>
              <a:rPr lang="en-IN" b="1" dirty="0"/>
              <a:t>as soon as files arrive</a:t>
            </a:r>
            <a:r>
              <a:rPr lang="en-IN" dirty="0"/>
              <a:t>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/>
              <a:t>Enables </a:t>
            </a:r>
            <a:r>
              <a:rPr lang="en-IN" b="1" dirty="0"/>
              <a:t>real-time or near real-time</a:t>
            </a:r>
            <a:r>
              <a:rPr lang="en-IN" dirty="0"/>
              <a:t> data ingestion.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/>
              <a:t>Uses </a:t>
            </a:r>
            <a:r>
              <a:rPr lang="en-IN" b="1" dirty="0"/>
              <a:t>event notifications</a:t>
            </a:r>
            <a:r>
              <a:rPr lang="en-IN" dirty="0"/>
              <a:t> (SNS/SQS or Pub/Sub).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/>
              <a:t>Requires </a:t>
            </a:r>
            <a:r>
              <a:rPr lang="en-IN" b="1" dirty="0"/>
              <a:t>no manual COPY commands</a:t>
            </a:r>
            <a:r>
              <a:rPr lang="en-IN" dirty="0"/>
              <a:t>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/>
              <a:t>Fully </a:t>
            </a:r>
            <a:r>
              <a:rPr lang="en-IN" b="1" dirty="0"/>
              <a:t>serverless</a:t>
            </a:r>
            <a:r>
              <a:rPr lang="en-IN" dirty="0"/>
              <a:t> – Snowflake manages compute automatically.</a:t>
            </a:r>
          </a:p>
          <a:p>
            <a:pPr>
              <a:spcBef>
                <a:spcPts val="600"/>
              </a:spcBef>
            </a:pPr>
            <a:endParaRPr lang="en-IN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91AD5A6-317C-5A13-8562-5F4B88CD6B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5841935"/>
              </p:ext>
            </p:extLst>
          </p:nvPr>
        </p:nvGraphicFramePr>
        <p:xfrm>
          <a:off x="292608" y="3429000"/>
          <a:ext cx="10131424" cy="2560320"/>
        </p:xfrm>
        <a:graphic>
          <a:graphicData uri="http://schemas.openxmlformats.org/drawingml/2006/table">
            <a:tbl>
              <a:tblPr/>
              <a:tblGrid>
                <a:gridCol w="5065712">
                  <a:extLst>
                    <a:ext uri="{9D8B030D-6E8A-4147-A177-3AD203B41FA5}">
                      <a16:colId xmlns:a16="http://schemas.microsoft.com/office/drawing/2014/main" val="1058699031"/>
                    </a:ext>
                  </a:extLst>
                </a:gridCol>
                <a:gridCol w="5065712">
                  <a:extLst>
                    <a:ext uri="{9D8B030D-6E8A-4147-A177-3AD203B41FA5}">
                      <a16:colId xmlns:a16="http://schemas.microsoft.com/office/drawing/2014/main" val="2826676708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016425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 b="1"/>
                        <a:t>Continuous Loading</a:t>
                      </a:r>
                      <a:endParaRPr lang="en-IN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Automatically loads new data as it arrives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685433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 b="1"/>
                        <a:t>Serverless</a:t>
                      </a:r>
                      <a:endParaRPr lang="en-IN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Snowflake manages compute and scaling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733881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 b="1"/>
                        <a:t>Event-based</a:t>
                      </a:r>
                      <a:endParaRPr lang="en-IN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Triggered by storage event notifications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377412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 b="1"/>
                        <a:t>Automatic Deduplication</a:t>
                      </a:r>
                      <a:endParaRPr lang="en-IN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Avoids reloading the same file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60694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 b="1"/>
                        <a:t>Secure Access</a:t>
                      </a:r>
                      <a:endParaRPr lang="en-IN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Uses IAM roles and storage integrations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513238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 b="1"/>
                        <a:t>Pay-per-Use</a:t>
                      </a:r>
                      <a:endParaRPr lang="en-IN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Charges only for compute used during load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93765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4173881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1B12E08B-88C8-3FE8-4BE4-10AF2733B6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-233065"/>
            <a:ext cx="5879593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b="1" dirty="0">
              <a:latin typeface="Arial" panose="020B0604020202020204" pitchFamily="34" charset="0"/>
            </a:endParaRPr>
          </a:p>
          <a:p>
            <a:r>
              <a:rPr lang="en-US" b="1" dirty="0"/>
              <a:t> </a:t>
            </a:r>
          </a:p>
          <a:p>
            <a:r>
              <a:rPr lang="en-IN" b="1" dirty="0"/>
              <a:t>Snow Pipe</a:t>
            </a:r>
            <a:endParaRPr lang="en-US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754ACF-B6B3-1B1A-3EBE-A426D5869ED7}"/>
              </a:ext>
            </a:extLst>
          </p:cNvPr>
          <p:cNvSpPr txBox="1"/>
          <p:nvPr/>
        </p:nvSpPr>
        <p:spPr>
          <a:xfrm>
            <a:off x="143256" y="868680"/>
            <a:ext cx="11905488" cy="28469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How </a:t>
            </a:r>
            <a:r>
              <a:rPr lang="en-US" b="1" dirty="0" err="1"/>
              <a:t>Snowpipe</a:t>
            </a:r>
            <a:r>
              <a:rPr lang="en-US" b="1" dirty="0"/>
              <a:t> Works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A new file is uploaded to S3.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S3 generates an </a:t>
            </a:r>
            <a:r>
              <a:rPr lang="en-US" b="1" dirty="0"/>
              <a:t>event notification</a:t>
            </a:r>
            <a:r>
              <a:rPr lang="en-US" dirty="0"/>
              <a:t>.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The event is sent to </a:t>
            </a:r>
            <a:r>
              <a:rPr lang="en-US" b="1" dirty="0"/>
              <a:t>SNS topic</a:t>
            </a:r>
            <a:r>
              <a:rPr lang="en-US" dirty="0"/>
              <a:t> and </a:t>
            </a:r>
            <a:r>
              <a:rPr lang="en-US" b="1" dirty="0"/>
              <a:t>SQS queue</a:t>
            </a:r>
            <a:r>
              <a:rPr lang="en-US" dirty="0"/>
              <a:t>.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Snowflake receives the event and triggers </a:t>
            </a:r>
            <a:r>
              <a:rPr lang="en-US" b="1" dirty="0" err="1"/>
              <a:t>Snowpipe</a:t>
            </a:r>
            <a:r>
              <a:rPr lang="en-US" dirty="0"/>
              <a:t>.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 err="1"/>
              <a:t>Snowpipe</a:t>
            </a:r>
            <a:r>
              <a:rPr lang="en-US" dirty="0"/>
              <a:t> executes the </a:t>
            </a:r>
            <a:r>
              <a:rPr lang="en-US" b="1" dirty="0"/>
              <a:t>COPY INTO</a:t>
            </a:r>
            <a:r>
              <a:rPr lang="en-US" dirty="0"/>
              <a:t> command.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Data is loaded into the target table.</a:t>
            </a:r>
          </a:p>
          <a:p>
            <a:pPr>
              <a:spcBef>
                <a:spcPts val="600"/>
              </a:spcBef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2852891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1B12E08B-88C8-3FE8-4BE4-10AF2733B6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-233065"/>
            <a:ext cx="5879593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b="1" dirty="0">
              <a:latin typeface="Arial" panose="020B0604020202020204" pitchFamily="34" charset="0"/>
            </a:endParaRPr>
          </a:p>
          <a:p>
            <a:r>
              <a:rPr lang="en-US" b="1" dirty="0"/>
              <a:t> </a:t>
            </a:r>
          </a:p>
          <a:p>
            <a:r>
              <a:rPr lang="en-IN" b="1" dirty="0"/>
              <a:t>Data Masking</a:t>
            </a:r>
            <a:endParaRPr lang="en-US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754ACF-B6B3-1B1A-3EBE-A426D5869ED7}"/>
              </a:ext>
            </a:extLst>
          </p:cNvPr>
          <p:cNvSpPr txBox="1"/>
          <p:nvPr/>
        </p:nvSpPr>
        <p:spPr>
          <a:xfrm>
            <a:off x="-1" y="946042"/>
            <a:ext cx="1190548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dirty="0"/>
              <a:t>Data Masking in Snowflake is a </a:t>
            </a:r>
            <a:r>
              <a:rPr lang="en-US" b="1" dirty="0"/>
              <a:t>security feature</a:t>
            </a:r>
            <a:r>
              <a:rPr lang="en-US" dirty="0"/>
              <a:t> that hides  sensitive data (like PII — Personally Identifiable Information) from unauthorized users.</a:t>
            </a:r>
            <a:br>
              <a:rPr lang="en-US" dirty="0"/>
            </a:br>
            <a:r>
              <a:rPr lang="en-US" dirty="0"/>
              <a:t>It allows you to </a:t>
            </a:r>
            <a:r>
              <a:rPr lang="en-US" b="1" dirty="0"/>
              <a:t>dynamically control</a:t>
            </a:r>
            <a:r>
              <a:rPr lang="en-US" dirty="0"/>
              <a:t> how data is displayed </a:t>
            </a:r>
            <a:r>
              <a:rPr lang="en-US" b="1" dirty="0"/>
              <a:t>based on user roles or privileges</a:t>
            </a:r>
            <a:r>
              <a:rPr lang="en-US" dirty="0"/>
              <a:t>, without duplicating or encrypting the data itself.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94643C-9DF7-0A7E-D3DC-E021697A2650}"/>
              </a:ext>
            </a:extLst>
          </p:cNvPr>
          <p:cNvSpPr txBox="1"/>
          <p:nvPr/>
        </p:nvSpPr>
        <p:spPr>
          <a:xfrm>
            <a:off x="187452" y="2223315"/>
            <a:ext cx="6117336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Why Use Data Masking?</a:t>
            </a:r>
          </a:p>
          <a:p>
            <a:r>
              <a:rPr lang="en-US" dirty="0"/>
              <a:t>✅ Protect sensitive data such as: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Credit card numbers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Social Security Numbers (SSNs)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Email addresses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Salary or medical data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7C9BE3A-F538-DEED-B4BB-C29DC8AF7A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6301940"/>
              </p:ext>
            </p:extLst>
          </p:nvPr>
        </p:nvGraphicFramePr>
        <p:xfrm>
          <a:off x="187452" y="4588161"/>
          <a:ext cx="10131426" cy="1920240"/>
        </p:xfrm>
        <a:graphic>
          <a:graphicData uri="http://schemas.openxmlformats.org/drawingml/2006/table">
            <a:tbl>
              <a:tblPr/>
              <a:tblGrid>
                <a:gridCol w="3377142">
                  <a:extLst>
                    <a:ext uri="{9D8B030D-6E8A-4147-A177-3AD203B41FA5}">
                      <a16:colId xmlns:a16="http://schemas.microsoft.com/office/drawing/2014/main" val="2678023538"/>
                    </a:ext>
                  </a:extLst>
                </a:gridCol>
                <a:gridCol w="3377142">
                  <a:extLst>
                    <a:ext uri="{9D8B030D-6E8A-4147-A177-3AD203B41FA5}">
                      <a16:colId xmlns:a16="http://schemas.microsoft.com/office/drawing/2014/main" val="288110046"/>
                    </a:ext>
                  </a:extLst>
                </a:gridCol>
                <a:gridCol w="3377142">
                  <a:extLst>
                    <a:ext uri="{9D8B030D-6E8A-4147-A177-3AD203B41FA5}">
                      <a16:colId xmlns:a16="http://schemas.microsoft.com/office/drawing/2014/main" val="3030065877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Example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0228669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r>
                        <a:rPr lang="en-IN" sz="1800" b="1"/>
                        <a:t>Dynamic Data Masking (DDM)</a:t>
                      </a:r>
                      <a:endParaRPr lang="en-IN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Masks data at query time based on user role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Returns masked or unmasked value depending on the current user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0117689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lang="en-IN" sz="1800" b="1"/>
                        <a:t>External Tokenization</a:t>
                      </a:r>
                      <a:endParaRPr lang="en-IN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Integrates with external providers to tokenize data before loading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Useful for enterprise-level compliance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6779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1351447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1B12E08B-88C8-3FE8-4BE4-10AF2733B6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-233065"/>
            <a:ext cx="5879593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b="1" dirty="0">
              <a:latin typeface="Arial" panose="020B0604020202020204" pitchFamily="34" charset="0"/>
            </a:endParaRPr>
          </a:p>
          <a:p>
            <a:r>
              <a:rPr lang="en-US" b="1" dirty="0"/>
              <a:t> </a:t>
            </a:r>
          </a:p>
          <a:p>
            <a:r>
              <a:rPr lang="en-US" dirty="0"/>
              <a:t>Row-Level Security (RLS) in Snowflake</a:t>
            </a:r>
            <a:endParaRPr lang="en-US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754ACF-B6B3-1B1A-3EBE-A426D5869ED7}"/>
              </a:ext>
            </a:extLst>
          </p:cNvPr>
          <p:cNvSpPr txBox="1"/>
          <p:nvPr/>
        </p:nvSpPr>
        <p:spPr>
          <a:xfrm>
            <a:off x="-1" y="946042"/>
            <a:ext cx="11905488" cy="51090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Row-Level Security (RLS) restricts access to specific rows in a table based on user identity or role.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Ensures that users see </a:t>
            </a:r>
            <a:r>
              <a:rPr lang="en-IN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only the data they are authorized</a:t>
            </a:r>
            <a:r>
              <a:rPr lang="en-IN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to view.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 sales manager can see only sales data from their region.</a:t>
            </a:r>
          </a:p>
          <a:p>
            <a:endParaRPr lang="en-US" b="1" dirty="0"/>
          </a:p>
          <a:p>
            <a:r>
              <a:rPr lang="en-US" b="1" dirty="0"/>
              <a:t>Why Use Row-Level Security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Protect sensitive data (e.g., salary, customer data).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Enforce </a:t>
            </a:r>
            <a:r>
              <a:rPr lang="en-US" b="1" dirty="0"/>
              <a:t>compliance and governance</a:t>
            </a:r>
            <a:r>
              <a:rPr lang="en-US" dirty="0"/>
              <a:t> policies.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Support </a:t>
            </a:r>
            <a:r>
              <a:rPr lang="en-US" b="1" dirty="0"/>
              <a:t>multi-tenant applications</a:t>
            </a:r>
            <a:r>
              <a:rPr lang="en-US" dirty="0"/>
              <a:t> where each client accesses only their data.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Simplify data models by avoiding separate tables per user/group.</a:t>
            </a:r>
          </a:p>
          <a:p>
            <a:endParaRPr lang="en-US" b="1" dirty="0"/>
          </a:p>
          <a:p>
            <a:r>
              <a:rPr lang="en-US" b="1" dirty="0"/>
              <a:t>How Row-Level Security Works in Snowflake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Implemented using </a:t>
            </a:r>
            <a:r>
              <a:rPr lang="en-US" b="1" dirty="0"/>
              <a:t>Row Access Policies</a:t>
            </a:r>
            <a:r>
              <a:rPr lang="en-US" dirty="0"/>
              <a:t>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Policies are attached to tables or views.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Snowflake automatically filters rows based on the policy’s logic.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spcBef>
                <a:spcPts val="600"/>
              </a:spcBef>
            </a:pPr>
            <a:endParaRPr lang="en-US" dirty="0"/>
          </a:p>
          <a:p>
            <a:pPr>
              <a:spcBef>
                <a:spcPts val="600"/>
              </a:spcBef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1528434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1B12E08B-88C8-3FE8-4BE4-10AF2733B6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-233065"/>
            <a:ext cx="5879593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b="1" dirty="0">
              <a:latin typeface="Arial" panose="020B0604020202020204" pitchFamily="34" charset="0"/>
            </a:endParaRPr>
          </a:p>
          <a:p>
            <a:r>
              <a:rPr lang="en-US" b="1" dirty="0"/>
              <a:t> </a:t>
            </a:r>
          </a:p>
          <a:p>
            <a:r>
              <a:rPr lang="en-US" dirty="0"/>
              <a:t>Column-Level Security (RLS) in Snowflake</a:t>
            </a:r>
            <a:endParaRPr lang="en-US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754ACF-B6B3-1B1A-3EBE-A426D5869ED7}"/>
              </a:ext>
            </a:extLst>
          </p:cNvPr>
          <p:cNvSpPr txBox="1"/>
          <p:nvPr/>
        </p:nvSpPr>
        <p:spPr>
          <a:xfrm>
            <a:off x="-1" y="946042"/>
            <a:ext cx="11905488" cy="4539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Column Access Policy (CAP) controls which users or roles can access specific columns in a table or view.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Provides fine-grained access control at the column level — useful for securing sensitive attributes like SSN, salary, </a:t>
            </a:r>
            <a:endParaRPr lang="en-US" b="1" dirty="0"/>
          </a:p>
          <a:p>
            <a:pPr>
              <a:spcBef>
                <a:spcPts val="600"/>
              </a:spcBef>
            </a:pPr>
            <a:r>
              <a:rPr lang="en-US" dirty="0"/>
              <a:t>How Column Access Policy Works</a:t>
            </a:r>
          </a:p>
          <a:p>
            <a:pPr>
              <a:spcBef>
                <a:spcPts val="600"/>
              </a:spcBef>
            </a:pPr>
            <a:endParaRPr lang="en-US" dirty="0"/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Implemented using CREATE COLUMN ACCESS POLICY command.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Policy logic defines who can access the column(s).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Policy is attached to one or more columns in a table or view.</a:t>
            </a:r>
          </a:p>
          <a:p>
            <a:pPr>
              <a:spcBef>
                <a:spcPts val="600"/>
              </a:spcBef>
            </a:pPr>
            <a:r>
              <a:rPr lang="en-US" dirty="0"/>
              <a:t>Uses functions such as:</a:t>
            </a:r>
          </a:p>
          <a:p>
            <a:pPr>
              <a:spcBef>
                <a:spcPts val="600"/>
              </a:spcBef>
            </a:pPr>
            <a:endParaRPr lang="en-US" dirty="0"/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CURRENT_ROLE()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CURRENT_USER()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CURRENT_ACCOUNT()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8894986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1B12E08B-88C8-3FE8-4BE4-10AF2733B6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-233065"/>
            <a:ext cx="5879593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b="1" dirty="0">
              <a:latin typeface="Arial" panose="020B0604020202020204" pitchFamily="34" charset="0"/>
            </a:endParaRPr>
          </a:p>
          <a:p>
            <a:r>
              <a:rPr lang="en-US" b="1" dirty="0"/>
              <a:t> </a:t>
            </a:r>
          </a:p>
          <a:p>
            <a:r>
              <a:rPr lang="en-IN" dirty="0"/>
              <a:t>Snowflake Caching</a:t>
            </a:r>
            <a:endParaRPr lang="en-US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754ACF-B6B3-1B1A-3EBE-A426D5869ED7}"/>
              </a:ext>
            </a:extLst>
          </p:cNvPr>
          <p:cNvSpPr txBox="1"/>
          <p:nvPr/>
        </p:nvSpPr>
        <p:spPr>
          <a:xfrm>
            <a:off x="-1" y="946042"/>
            <a:ext cx="11905488" cy="2416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dirty="0"/>
              <a:t>Caching in Snowflake is the process of temporarily storing data, metadata, and query results to improve query performance and reduce compute cost.</a:t>
            </a:r>
          </a:p>
          <a:p>
            <a:pPr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dirty="0"/>
              <a:t>Purpose:</a:t>
            </a:r>
            <a:endParaRPr lang="en-US" dirty="0"/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Reduce query execution time.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Minimize resource consumption (compute and I/O).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Enhance overall performance for repeated queries.</a:t>
            </a:r>
          </a:p>
          <a:p>
            <a:pPr>
              <a:spcBef>
                <a:spcPts val="600"/>
              </a:spcBef>
            </a:pPr>
            <a:r>
              <a:rPr lang="en-US" b="1" dirty="0"/>
              <a:t>Types off Caching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0BF2716-116A-FB98-C1E8-CD9A072255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208341"/>
              </p:ext>
            </p:extLst>
          </p:nvPr>
        </p:nvGraphicFramePr>
        <p:xfrm>
          <a:off x="301752" y="3429000"/>
          <a:ext cx="10821955" cy="2560320"/>
        </p:xfrm>
        <a:graphic>
          <a:graphicData uri="http://schemas.openxmlformats.org/drawingml/2006/table">
            <a:tbl>
              <a:tblPr/>
              <a:tblGrid>
                <a:gridCol w="2066544">
                  <a:extLst>
                    <a:ext uri="{9D8B030D-6E8A-4147-A177-3AD203B41FA5}">
                      <a16:colId xmlns:a16="http://schemas.microsoft.com/office/drawing/2014/main" val="3272831123"/>
                    </a:ext>
                  </a:extLst>
                </a:gridCol>
                <a:gridCol w="3154680">
                  <a:extLst>
                    <a:ext uri="{9D8B030D-6E8A-4147-A177-3AD203B41FA5}">
                      <a16:colId xmlns:a16="http://schemas.microsoft.com/office/drawing/2014/main" val="2876098226"/>
                    </a:ext>
                  </a:extLst>
                </a:gridCol>
                <a:gridCol w="3067875">
                  <a:extLst>
                    <a:ext uri="{9D8B030D-6E8A-4147-A177-3AD203B41FA5}">
                      <a16:colId xmlns:a16="http://schemas.microsoft.com/office/drawing/2014/main" val="2466473850"/>
                    </a:ext>
                  </a:extLst>
                </a:gridCol>
                <a:gridCol w="2532856">
                  <a:extLst>
                    <a:ext uri="{9D8B030D-6E8A-4147-A177-3AD203B41FA5}">
                      <a16:colId xmlns:a16="http://schemas.microsoft.com/office/drawing/2014/main" val="229015656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Cache Type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b="1"/>
                        <a:t>Location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b="1"/>
                        <a:t>Description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b="1"/>
                        <a:t>Persistence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494119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Result Cache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Metadata Layer (Cloud Services)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Stores results of previously executed queries.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Up to 24 hours.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364367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Local Disk Cache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Virtual Warehouse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Stores micro-partitions of data retrieved from remote storage.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Until warehouse is suspended or resized.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01184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Metadata Cache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Cloud Services Layer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Stores table and file metadata to avoid re-fetching from storage.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Persistent until underlying data changes.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88914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551576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1B12E08B-88C8-3FE8-4BE4-10AF2733B6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-233065"/>
            <a:ext cx="5879593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b="1" dirty="0">
              <a:latin typeface="Arial" panose="020B0604020202020204" pitchFamily="34" charset="0"/>
            </a:endParaRPr>
          </a:p>
          <a:p>
            <a:r>
              <a:rPr lang="en-US" b="1" dirty="0"/>
              <a:t> </a:t>
            </a:r>
          </a:p>
          <a:p>
            <a:r>
              <a:rPr lang="en-IN" dirty="0"/>
              <a:t>Snowflake Caching</a:t>
            </a:r>
            <a:endParaRPr lang="en-US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A785F7-A91C-6A8B-D52D-FD50502531B2}"/>
              </a:ext>
            </a:extLst>
          </p:cNvPr>
          <p:cNvSpPr txBox="1"/>
          <p:nvPr/>
        </p:nvSpPr>
        <p:spPr>
          <a:xfrm>
            <a:off x="3012948" y="1329541"/>
            <a:ext cx="6117336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         ┌──────────────────────────────┐</a:t>
            </a:r>
          </a:p>
          <a:p>
            <a:r>
              <a:rPr lang="en-IN" dirty="0"/>
              <a:t>         │        Cloud Services                                │</a:t>
            </a:r>
          </a:p>
          <a:p>
            <a:r>
              <a:rPr lang="en-IN" dirty="0"/>
              <a:t>         │  (Result Cache + Metadata)                 │</a:t>
            </a:r>
          </a:p>
          <a:p>
            <a:r>
              <a:rPr lang="en-IN" dirty="0"/>
              <a:t>         └─────────────┬────────────────┘</a:t>
            </a:r>
          </a:p>
          <a:p>
            <a:r>
              <a:rPr lang="en-IN" dirty="0"/>
              <a:t>                                        │</a:t>
            </a:r>
          </a:p>
          <a:p>
            <a:r>
              <a:rPr lang="en-IN" dirty="0"/>
              <a:t>         ┌─────────────┴────────────────┐</a:t>
            </a:r>
          </a:p>
          <a:p>
            <a:r>
              <a:rPr lang="en-IN" dirty="0"/>
              <a:t>         │   Virtual Warehouse Layer                    │</a:t>
            </a:r>
          </a:p>
          <a:p>
            <a:r>
              <a:rPr lang="en-IN" dirty="0"/>
              <a:t>         │  (Local Disk Cache / SSD)                      │</a:t>
            </a:r>
          </a:p>
          <a:p>
            <a:r>
              <a:rPr lang="en-IN" dirty="0"/>
              <a:t>         └─────────────┬────────────────┘</a:t>
            </a:r>
          </a:p>
          <a:p>
            <a:r>
              <a:rPr lang="en-IN" dirty="0"/>
              <a:t>                                        │</a:t>
            </a:r>
          </a:p>
          <a:p>
            <a:r>
              <a:rPr lang="en-IN" dirty="0"/>
              <a:t>         ┌─────────────┴────────────────┐</a:t>
            </a:r>
          </a:p>
          <a:p>
            <a:r>
              <a:rPr lang="en-IN" dirty="0"/>
              <a:t>         │     Remote Cloud Storage                      │</a:t>
            </a:r>
          </a:p>
          <a:p>
            <a:r>
              <a:rPr lang="en-IN" dirty="0"/>
              <a:t>         │ (Persistent Storage - S3/GCS)              │</a:t>
            </a:r>
          </a:p>
          <a:p>
            <a:r>
              <a:rPr lang="en-IN" dirty="0"/>
              <a:t>         └──────────────────────────────┘</a:t>
            </a:r>
          </a:p>
        </p:txBody>
      </p:sp>
    </p:spTree>
    <p:extLst>
      <p:ext uri="{BB962C8B-B14F-4D97-AF65-F5344CB8AC3E}">
        <p14:creationId xmlns:p14="http://schemas.microsoft.com/office/powerpoint/2010/main" val="46345177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1B12E08B-88C8-3FE8-4BE4-10AF2733B6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-233065"/>
            <a:ext cx="5879593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b="1" dirty="0">
              <a:latin typeface="Arial" panose="020B0604020202020204" pitchFamily="34" charset="0"/>
            </a:endParaRPr>
          </a:p>
          <a:p>
            <a:r>
              <a:rPr lang="en-US" b="1" dirty="0"/>
              <a:t> </a:t>
            </a:r>
          </a:p>
          <a:p>
            <a:r>
              <a:rPr lang="en-IN" dirty="0"/>
              <a:t>Snowflake Caching</a:t>
            </a:r>
            <a:endParaRPr lang="en-US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7C55B64-9DD9-30BB-9565-07D9BD1EBF20}"/>
              </a:ext>
            </a:extLst>
          </p:cNvPr>
          <p:cNvSpPr txBox="1"/>
          <p:nvPr/>
        </p:nvSpPr>
        <p:spPr>
          <a:xfrm>
            <a:off x="141732" y="1005715"/>
            <a:ext cx="10785348" cy="55245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b="1" dirty="0"/>
              <a:t>Snowflake Cache Lifecycle</a:t>
            </a:r>
          </a:p>
          <a:p>
            <a:pPr>
              <a:spcBef>
                <a:spcPts val="600"/>
              </a:spcBef>
            </a:pPr>
            <a:r>
              <a:rPr lang="en-US" b="1" dirty="0"/>
              <a:t>Step 1: First Query Execution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Data is read from </a:t>
            </a:r>
            <a:r>
              <a:rPr lang="en-US" b="1" dirty="0"/>
              <a:t>remote storage (S3, Azure Blob, GCS)</a:t>
            </a:r>
            <a:r>
              <a:rPr lang="en-US" dirty="0"/>
              <a:t>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Query results are computed and </a:t>
            </a:r>
            <a:r>
              <a:rPr lang="en-US" b="1" dirty="0"/>
              <a:t>stored in local disk cache</a:t>
            </a:r>
            <a:r>
              <a:rPr lang="en-US" dirty="0"/>
              <a:t>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Final results are also saved in the </a:t>
            </a:r>
            <a:r>
              <a:rPr lang="en-US" b="1" dirty="0"/>
              <a:t>result cache</a:t>
            </a:r>
            <a:r>
              <a:rPr lang="en-US" dirty="0"/>
              <a:t>.</a:t>
            </a:r>
          </a:p>
          <a:p>
            <a:pPr>
              <a:spcBef>
                <a:spcPts val="600"/>
              </a:spcBef>
            </a:pPr>
            <a:r>
              <a:rPr lang="en-US" b="1" dirty="0"/>
              <a:t>Step 2: Subsequent Query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If the query text and underlying data are unchanged:</a:t>
            </a:r>
          </a:p>
          <a:p>
            <a:pPr marL="1257300" lvl="2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dirty="0"/>
              <a:t>Result cache</a:t>
            </a:r>
            <a:r>
              <a:rPr lang="en-US" dirty="0"/>
              <a:t> returns the results instantly.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If data has changed but still exists in </a:t>
            </a:r>
            <a:r>
              <a:rPr lang="en-US" b="1" dirty="0"/>
              <a:t>local disk cache</a:t>
            </a:r>
            <a:r>
              <a:rPr lang="en-US" dirty="0"/>
              <a:t>, it reads data locally (faster than storage access)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dirty="0"/>
              <a:t>Types Explained in Detail</a:t>
            </a:r>
          </a:p>
          <a:p>
            <a:r>
              <a:rPr lang="en-US" b="1" dirty="0"/>
              <a:t>Result Cache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Stores results of previous queries for </a:t>
            </a:r>
            <a:r>
              <a:rPr lang="en-US" b="1" dirty="0"/>
              <a:t>24 hours</a:t>
            </a:r>
            <a:r>
              <a:rPr lang="en-US" dirty="0"/>
              <a:t>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Automatically used for </a:t>
            </a:r>
            <a:r>
              <a:rPr lang="en-US" b="1" dirty="0"/>
              <a:t>identical queries</a:t>
            </a:r>
            <a:r>
              <a:rPr lang="en-US" dirty="0"/>
              <a:t> by </a:t>
            </a:r>
            <a:r>
              <a:rPr lang="en-US" b="1" dirty="0"/>
              <a:t>any user with the same role</a:t>
            </a:r>
            <a:r>
              <a:rPr lang="en-US" dirty="0"/>
              <a:t>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dirty="0"/>
              <a:t>Does not require compute</a:t>
            </a:r>
            <a:r>
              <a:rPr lang="en-US" dirty="0"/>
              <a:t> — queries are served instantly.</a:t>
            </a:r>
          </a:p>
          <a:p>
            <a:pPr>
              <a:spcBef>
                <a:spcPts val="600"/>
              </a:spcBef>
            </a:pP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2605248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1B12E08B-88C8-3FE8-4BE4-10AF2733B6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-233065"/>
            <a:ext cx="5879593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b="1" dirty="0">
              <a:latin typeface="Arial" panose="020B0604020202020204" pitchFamily="34" charset="0"/>
            </a:endParaRPr>
          </a:p>
          <a:p>
            <a:r>
              <a:rPr lang="en-US" b="1" dirty="0"/>
              <a:t> </a:t>
            </a:r>
          </a:p>
          <a:p>
            <a:r>
              <a:rPr lang="en-IN" dirty="0"/>
              <a:t>Snowflake Caching</a:t>
            </a:r>
            <a:endParaRPr lang="en-US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7C55B64-9DD9-30BB-9565-07D9BD1EBF20}"/>
              </a:ext>
            </a:extLst>
          </p:cNvPr>
          <p:cNvSpPr txBox="1"/>
          <p:nvPr/>
        </p:nvSpPr>
        <p:spPr>
          <a:xfrm>
            <a:off x="141732" y="1005715"/>
            <a:ext cx="10785348" cy="6155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/>
              <a:t>Conditions for result cache usage:</a:t>
            </a:r>
            <a:endParaRPr lang="en-US" dirty="0"/>
          </a:p>
          <a:p>
            <a:pPr lvl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Same SQL text.</a:t>
            </a:r>
          </a:p>
          <a:p>
            <a:pPr lvl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Same role, warehouse, and user permissions.</a:t>
            </a:r>
          </a:p>
          <a:p>
            <a:pPr lvl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No change in underlying data or session parameters.</a:t>
            </a:r>
          </a:p>
          <a:p>
            <a:endParaRPr lang="en-US" b="1" dirty="0"/>
          </a:p>
          <a:p>
            <a:endParaRPr lang="en-US" b="1" dirty="0"/>
          </a:p>
          <a:p>
            <a:r>
              <a:rPr lang="en-US" b="1" dirty="0"/>
              <a:t>Local Disk Cache (Warehouse Cache)</a:t>
            </a:r>
          </a:p>
          <a:p>
            <a:pPr lvl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Each virtual warehouse caches </a:t>
            </a:r>
            <a:r>
              <a:rPr lang="en-US" b="1" dirty="0"/>
              <a:t>data micro-partitions</a:t>
            </a:r>
            <a:r>
              <a:rPr lang="en-US" dirty="0"/>
              <a:t> on local SSD.</a:t>
            </a:r>
          </a:p>
          <a:p>
            <a:pPr lvl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Improves performance when scanning large tables repeatedly.</a:t>
            </a:r>
          </a:p>
          <a:p>
            <a:pPr lvl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Cleared when:</a:t>
            </a:r>
          </a:p>
          <a:p>
            <a:pPr marL="1200150" lvl="2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Warehouse is </a:t>
            </a:r>
            <a:r>
              <a:rPr lang="en-US" b="1" dirty="0"/>
              <a:t>suspended</a:t>
            </a:r>
            <a:r>
              <a:rPr lang="en-US" dirty="0"/>
              <a:t>.</a:t>
            </a:r>
          </a:p>
          <a:p>
            <a:pPr marL="1200150" lvl="2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Warehouse is </a:t>
            </a:r>
            <a:r>
              <a:rPr lang="en-US" b="1" dirty="0"/>
              <a:t>resized</a:t>
            </a:r>
            <a:r>
              <a:rPr lang="en-US" dirty="0"/>
              <a:t>.</a:t>
            </a:r>
          </a:p>
          <a:p>
            <a:pPr marL="1200150" lvl="2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Data micro-partitions </a:t>
            </a:r>
            <a:r>
              <a:rPr lang="en-US" b="1" dirty="0"/>
              <a:t>evicted due to new queries</a:t>
            </a:r>
            <a:r>
              <a:rPr lang="en-US" dirty="0"/>
              <a:t>.</a:t>
            </a:r>
          </a:p>
          <a:p>
            <a:pPr lvl="1">
              <a:spcBef>
                <a:spcPts val="600"/>
              </a:spcBef>
            </a:pPr>
            <a:endParaRPr lang="en-US" dirty="0"/>
          </a:p>
          <a:p>
            <a:pPr>
              <a:spcBef>
                <a:spcPts val="600"/>
              </a:spcBef>
            </a:pPr>
            <a:r>
              <a:rPr lang="en-US" dirty="0"/>
              <a:t>SELECT * FROM SALES WHERE DATE BETWEEN '2025-01-01' AND '2025-01-10';</a:t>
            </a:r>
          </a:p>
          <a:p>
            <a:pPr>
              <a:spcBef>
                <a:spcPts val="600"/>
              </a:spcBef>
            </a:pPr>
            <a:r>
              <a:rPr lang="en-US" dirty="0"/>
              <a:t>-- Subsequent queries on same data range use local cache.</a:t>
            </a:r>
          </a:p>
          <a:p>
            <a:pPr>
              <a:spcBef>
                <a:spcPts val="600"/>
              </a:spcBef>
            </a:pPr>
            <a:endParaRPr lang="en-US" dirty="0"/>
          </a:p>
          <a:p>
            <a:pPr>
              <a:spcBef>
                <a:spcPts val="600"/>
              </a:spcBef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262047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1B12E08B-88C8-3FE8-4BE4-10AF2733B6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-233065"/>
            <a:ext cx="5879593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b="1" dirty="0">
              <a:latin typeface="Arial" panose="020B0604020202020204" pitchFamily="34" charset="0"/>
            </a:endParaRPr>
          </a:p>
          <a:p>
            <a:r>
              <a:rPr lang="en-US" b="1" dirty="0"/>
              <a:t> </a:t>
            </a:r>
          </a:p>
          <a:p>
            <a:r>
              <a:rPr lang="en-IN" dirty="0"/>
              <a:t>Snowflake Caching</a:t>
            </a:r>
            <a:endParaRPr lang="en-US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7C55B64-9DD9-30BB-9565-07D9BD1EBF20}"/>
              </a:ext>
            </a:extLst>
          </p:cNvPr>
          <p:cNvSpPr txBox="1"/>
          <p:nvPr/>
        </p:nvSpPr>
        <p:spPr>
          <a:xfrm>
            <a:off x="141732" y="1005715"/>
            <a:ext cx="10785348" cy="56015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dirty="0"/>
              <a:t>Metadata Cache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Caches table metadata, file locations, and column statistics.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Used to avoid redundant calls to storage metadata.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Reduces overhead for queries like SHOW TABLES or DESCRIBE TABLE.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dirty="0"/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SHOW TABLES LIKE 'SALES%';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-- Uses metadata cache for faster results.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IN" b="1" dirty="0"/>
              <a:t>Cache Invalidation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/>
              <a:t>Underlying data changes (INSERT, UPDATE, DELETE, MERGE).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/>
              <a:t>Schema changes (ALTER TABLE, DROP TABLE).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/>
              <a:t>Result cache exceeds 24-hour limit.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/>
              <a:t>Warehouse restarts or resizes (for local cache).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dirty="0"/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spcBef>
                <a:spcPts val="600"/>
              </a:spcBef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489714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1B12E08B-88C8-3FE8-4BE4-10AF2733B6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-233065"/>
            <a:ext cx="5879593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b="1" dirty="0">
              <a:latin typeface="Arial" panose="020B0604020202020204" pitchFamily="34" charset="0"/>
            </a:endParaRPr>
          </a:p>
          <a:p>
            <a:r>
              <a:rPr lang="en-US" b="1" dirty="0"/>
              <a:t> </a:t>
            </a:r>
          </a:p>
          <a:p>
            <a:r>
              <a:rPr lang="en-IN" dirty="0"/>
              <a:t>Snowflake Caching</a:t>
            </a:r>
            <a:endParaRPr lang="en-US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7C55B64-9DD9-30BB-9565-07D9BD1EBF20}"/>
              </a:ext>
            </a:extLst>
          </p:cNvPr>
          <p:cNvSpPr txBox="1"/>
          <p:nvPr/>
        </p:nvSpPr>
        <p:spPr>
          <a:xfrm>
            <a:off x="141732" y="1005715"/>
            <a:ext cx="10785348" cy="723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dirty="0"/>
              <a:t>Best Practice</a:t>
            </a:r>
          </a:p>
          <a:p>
            <a:pPr>
              <a:spcBef>
                <a:spcPts val="600"/>
              </a:spcBef>
            </a:pP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1D71A36-7FCE-1D1D-F37B-DDFB434331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2443989"/>
              </p:ext>
            </p:extLst>
          </p:nvPr>
        </p:nvGraphicFramePr>
        <p:xfrm>
          <a:off x="338328" y="1506633"/>
          <a:ext cx="10131424" cy="1828800"/>
        </p:xfrm>
        <a:graphic>
          <a:graphicData uri="http://schemas.openxmlformats.org/drawingml/2006/table">
            <a:tbl>
              <a:tblPr/>
              <a:tblGrid>
                <a:gridCol w="5065712">
                  <a:extLst>
                    <a:ext uri="{9D8B030D-6E8A-4147-A177-3AD203B41FA5}">
                      <a16:colId xmlns:a16="http://schemas.microsoft.com/office/drawing/2014/main" val="3548220256"/>
                    </a:ext>
                  </a:extLst>
                </a:gridCol>
                <a:gridCol w="5065712">
                  <a:extLst>
                    <a:ext uri="{9D8B030D-6E8A-4147-A177-3AD203B41FA5}">
                      <a16:colId xmlns:a16="http://schemas.microsoft.com/office/drawing/2014/main" val="423308796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IN" sz="1800" b="1"/>
                        <a:t>Best Practice</a:t>
                      </a:r>
                      <a:endParaRPr lang="en-IN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1"/>
                        <a:t>Benefit</a:t>
                      </a:r>
                      <a:endParaRPr lang="en-IN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303205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Avoid unnecessary warehouse suspensions.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Keeps local cache warm.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74994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US" sz="1800"/>
                        <a:t>Reuse same warehouse for repeated queries.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Improves performance.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10887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Limit frequent DML operations.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Preserves result cache validity.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746169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Optimize queries for deterministic results.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Maximizes cache reusability.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105552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F4AEBA99-EBC0-4331-B2DA-E3768C4BEE57}"/>
              </a:ext>
            </a:extLst>
          </p:cNvPr>
          <p:cNvSpPr txBox="1"/>
          <p:nvPr/>
        </p:nvSpPr>
        <p:spPr>
          <a:xfrm>
            <a:off x="251460" y="3836351"/>
            <a:ext cx="611733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/>
              <a:t>SELECT QUERY_TEXT, BYTES_SCANNED, CACHE_USAGE</a:t>
            </a:r>
          </a:p>
          <a:p>
            <a:r>
              <a:rPr lang="en-IN"/>
              <a:t>FROM TABLE(INFORMATION_SCHEMA.QUERY_HISTORY())</a:t>
            </a:r>
          </a:p>
          <a:p>
            <a:r>
              <a:rPr lang="en-IN"/>
              <a:t>WHERE QUERY_TEXT LIKE '%SALES%’;</a:t>
            </a:r>
          </a:p>
          <a:p>
            <a:endParaRPr lang="en-IN"/>
          </a:p>
          <a:p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266E399-0181-CF3F-4BCE-9A5D66EDB601}"/>
              </a:ext>
            </a:extLst>
          </p:cNvPr>
          <p:cNvSpPr txBox="1"/>
          <p:nvPr/>
        </p:nvSpPr>
        <p:spPr>
          <a:xfrm>
            <a:off x="338328" y="4902631"/>
            <a:ext cx="61173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BYTES_SCANNED = 0 indicates result cache usage.</a:t>
            </a:r>
          </a:p>
          <a:p>
            <a:r>
              <a:rPr lang="en-IN" dirty="0"/>
              <a:t>CACHE_USAGE = 'LOCAL DISK' means warehouse cache hit.</a:t>
            </a:r>
          </a:p>
        </p:txBody>
      </p:sp>
    </p:spTree>
    <p:extLst>
      <p:ext uri="{BB962C8B-B14F-4D97-AF65-F5344CB8AC3E}">
        <p14:creationId xmlns:p14="http://schemas.microsoft.com/office/powerpoint/2010/main" val="60089382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1B12E08B-88C8-3FE8-4BE4-10AF2733B6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-233065"/>
            <a:ext cx="5879593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b="1" dirty="0">
              <a:latin typeface="Arial" panose="020B0604020202020204" pitchFamily="34" charset="0"/>
            </a:endParaRPr>
          </a:p>
          <a:p>
            <a:r>
              <a:rPr lang="en-US" b="1" dirty="0"/>
              <a:t> </a:t>
            </a:r>
          </a:p>
          <a:p>
            <a:r>
              <a:rPr lang="en-IN" dirty="0"/>
              <a:t>Snowflake Caching</a:t>
            </a:r>
            <a:endParaRPr lang="en-US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7C55B64-9DD9-30BB-9565-07D9BD1EBF20}"/>
              </a:ext>
            </a:extLst>
          </p:cNvPr>
          <p:cNvSpPr txBox="1"/>
          <p:nvPr/>
        </p:nvSpPr>
        <p:spPr>
          <a:xfrm>
            <a:off x="141732" y="1005715"/>
            <a:ext cx="10785348" cy="723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Cache Performance Benefits</a:t>
            </a:r>
          </a:p>
          <a:p>
            <a:pPr>
              <a:spcBef>
                <a:spcPts val="600"/>
              </a:spcBef>
            </a:pPr>
            <a:endParaRPr lang="en-US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7682F7A-3E1C-0963-CC61-ED4DA87B32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3688805"/>
              </p:ext>
            </p:extLst>
          </p:nvPr>
        </p:nvGraphicFramePr>
        <p:xfrm>
          <a:off x="251460" y="1544321"/>
          <a:ext cx="10131424" cy="1463040"/>
        </p:xfrm>
        <a:graphic>
          <a:graphicData uri="http://schemas.openxmlformats.org/drawingml/2006/table">
            <a:tbl>
              <a:tblPr/>
              <a:tblGrid>
                <a:gridCol w="5065712">
                  <a:extLst>
                    <a:ext uri="{9D8B030D-6E8A-4147-A177-3AD203B41FA5}">
                      <a16:colId xmlns:a16="http://schemas.microsoft.com/office/drawing/2014/main" val="1962076764"/>
                    </a:ext>
                  </a:extLst>
                </a:gridCol>
                <a:gridCol w="5065712">
                  <a:extLst>
                    <a:ext uri="{9D8B030D-6E8A-4147-A177-3AD203B41FA5}">
                      <a16:colId xmlns:a16="http://schemas.microsoft.com/office/drawing/2014/main" val="1775806198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IN" sz="1800" b="1"/>
                        <a:t>Scenario</a:t>
                      </a:r>
                      <a:endParaRPr lang="en-IN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1"/>
                        <a:t>Performance Gain</a:t>
                      </a:r>
                      <a:endParaRPr lang="en-IN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60053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Result cache hit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Instant (no compute)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156776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 dirty="0"/>
                        <a:t>Local cache hit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3x–10x faster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616656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Metadata cache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2x faster metadata queries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7903869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971D2F9-941E-7A22-9A3D-0888181CE7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1005939"/>
              </p:ext>
            </p:extLst>
          </p:nvPr>
        </p:nvGraphicFramePr>
        <p:xfrm>
          <a:off x="251460" y="3986011"/>
          <a:ext cx="10131425" cy="2286000"/>
        </p:xfrm>
        <a:graphic>
          <a:graphicData uri="http://schemas.openxmlformats.org/drawingml/2006/table">
            <a:tbl>
              <a:tblPr/>
              <a:tblGrid>
                <a:gridCol w="2026285">
                  <a:extLst>
                    <a:ext uri="{9D8B030D-6E8A-4147-A177-3AD203B41FA5}">
                      <a16:colId xmlns:a16="http://schemas.microsoft.com/office/drawing/2014/main" val="1585293906"/>
                    </a:ext>
                  </a:extLst>
                </a:gridCol>
                <a:gridCol w="2026285">
                  <a:extLst>
                    <a:ext uri="{9D8B030D-6E8A-4147-A177-3AD203B41FA5}">
                      <a16:colId xmlns:a16="http://schemas.microsoft.com/office/drawing/2014/main" val="3401058237"/>
                    </a:ext>
                  </a:extLst>
                </a:gridCol>
                <a:gridCol w="2026285">
                  <a:extLst>
                    <a:ext uri="{9D8B030D-6E8A-4147-A177-3AD203B41FA5}">
                      <a16:colId xmlns:a16="http://schemas.microsoft.com/office/drawing/2014/main" val="4088133977"/>
                    </a:ext>
                  </a:extLst>
                </a:gridCol>
                <a:gridCol w="2026285">
                  <a:extLst>
                    <a:ext uri="{9D8B030D-6E8A-4147-A177-3AD203B41FA5}">
                      <a16:colId xmlns:a16="http://schemas.microsoft.com/office/drawing/2014/main" val="2264666589"/>
                    </a:ext>
                  </a:extLst>
                </a:gridCol>
                <a:gridCol w="2026285">
                  <a:extLst>
                    <a:ext uri="{9D8B030D-6E8A-4147-A177-3AD203B41FA5}">
                      <a16:colId xmlns:a16="http://schemas.microsoft.com/office/drawing/2014/main" val="292232884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Cache Type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b="1"/>
                        <a:t>Used By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b="1"/>
                        <a:t>Storage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b="1"/>
                        <a:t>Lifetime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b="1"/>
                        <a:t>Cleared When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414193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Result Cache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All Users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Cloud Services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24 hours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Data/schema change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510534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Local Disk Cache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Per Warehouse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SSD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Until suspend/resize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Warehouse suspend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739509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Metadata Cache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All Users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Cloud Services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Persistent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Data/schema change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0984173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5572230D-F1CF-53C2-DB2D-3D1347954179}"/>
              </a:ext>
            </a:extLst>
          </p:cNvPr>
          <p:cNvSpPr txBox="1"/>
          <p:nvPr/>
        </p:nvSpPr>
        <p:spPr>
          <a:xfrm>
            <a:off x="141732" y="3545967"/>
            <a:ext cx="61173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124361514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7C55B64-9DD9-30BB-9565-07D9BD1EBF20}"/>
              </a:ext>
            </a:extLst>
          </p:cNvPr>
          <p:cNvSpPr txBox="1"/>
          <p:nvPr/>
        </p:nvSpPr>
        <p:spPr>
          <a:xfrm>
            <a:off x="105156" y="338203"/>
            <a:ext cx="10785348" cy="58785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b="1" dirty="0"/>
              <a:t>What is Snowpark?</a:t>
            </a:r>
          </a:p>
          <a:p>
            <a:pPr>
              <a:spcBef>
                <a:spcPts val="600"/>
              </a:spcBef>
            </a:pPr>
            <a:r>
              <a:rPr lang="en-US" dirty="0"/>
              <a:t>Snowpark is a developer framework provided by Snowflake that allows you to write data engineering, data processing, and ML logic using programming languages while executing the code inside </a:t>
            </a:r>
            <a:r>
              <a:rPr lang="en-US" dirty="0" err="1"/>
              <a:t>Snowflake.Snowpark</a:t>
            </a:r>
            <a:r>
              <a:rPr lang="en-US" dirty="0"/>
              <a:t> brings code to data, instead of moving data to external systems.</a:t>
            </a:r>
          </a:p>
          <a:p>
            <a:pPr>
              <a:spcBef>
                <a:spcPts val="600"/>
              </a:spcBef>
            </a:pPr>
            <a:r>
              <a:rPr lang="en-US" b="1" dirty="0"/>
              <a:t>Why Snowpark Was </a:t>
            </a:r>
            <a:r>
              <a:rPr lang="en-US" b="1" dirty="0" err="1"/>
              <a:t>IntroducedTraditional</a:t>
            </a:r>
            <a:r>
              <a:rPr lang="en-US" b="1" dirty="0"/>
              <a:t> Problem	</a:t>
            </a:r>
          </a:p>
          <a:p>
            <a:pPr>
              <a:spcBef>
                <a:spcPts val="600"/>
              </a:spcBef>
            </a:pPr>
            <a:r>
              <a:rPr lang="en-US" dirty="0"/>
              <a:t>	SQL is excellent for analytics	</a:t>
            </a:r>
          </a:p>
          <a:p>
            <a:pPr>
              <a:spcBef>
                <a:spcPts val="600"/>
              </a:spcBef>
            </a:pPr>
            <a:r>
              <a:rPr lang="en-US" dirty="0"/>
              <a:t>	But complex logic requires:	Python / Java / Scala	</a:t>
            </a:r>
          </a:p>
          <a:p>
            <a:pPr>
              <a:spcBef>
                <a:spcPts val="600"/>
              </a:spcBef>
            </a:pPr>
            <a:r>
              <a:rPr lang="en-US" dirty="0"/>
              <a:t>	External compute (Spark, servers, ETL tools)</a:t>
            </a:r>
          </a:p>
          <a:p>
            <a:pPr>
              <a:spcBef>
                <a:spcPts val="600"/>
              </a:spcBef>
            </a:pPr>
            <a:r>
              <a:rPr lang="en-US" dirty="0"/>
              <a:t>This causes:	</a:t>
            </a:r>
          </a:p>
          <a:p>
            <a:pPr>
              <a:spcBef>
                <a:spcPts val="600"/>
              </a:spcBef>
            </a:pPr>
            <a:r>
              <a:rPr lang="en-US" dirty="0"/>
              <a:t>		Data movement	</a:t>
            </a:r>
          </a:p>
          <a:p>
            <a:pPr>
              <a:spcBef>
                <a:spcPts val="600"/>
              </a:spcBef>
            </a:pPr>
            <a:r>
              <a:rPr lang="en-US" dirty="0"/>
              <a:t>		Security risks	</a:t>
            </a:r>
          </a:p>
          <a:p>
            <a:pPr>
              <a:spcBef>
                <a:spcPts val="600"/>
              </a:spcBef>
            </a:pPr>
            <a:r>
              <a:rPr lang="en-US" dirty="0"/>
              <a:t>		Higher cost	</a:t>
            </a:r>
          </a:p>
          <a:p>
            <a:pPr>
              <a:spcBef>
                <a:spcPts val="600"/>
              </a:spcBef>
            </a:pPr>
            <a:r>
              <a:rPr lang="en-US" dirty="0"/>
              <a:t>		Latency</a:t>
            </a:r>
          </a:p>
          <a:p>
            <a:pPr>
              <a:spcBef>
                <a:spcPts val="600"/>
              </a:spcBef>
            </a:pPr>
            <a:r>
              <a:rPr lang="en-US" dirty="0"/>
              <a:t>Snowpark Solution	</a:t>
            </a:r>
          </a:p>
          <a:p>
            <a:pPr>
              <a:spcBef>
                <a:spcPts val="600"/>
              </a:spcBef>
            </a:pPr>
            <a:r>
              <a:rPr lang="en-US" dirty="0"/>
              <a:t>		Write logic in Python / Java / Scala	</a:t>
            </a:r>
          </a:p>
          <a:p>
            <a:pPr>
              <a:spcBef>
                <a:spcPts val="600"/>
              </a:spcBef>
            </a:pPr>
            <a:r>
              <a:rPr lang="en-US" dirty="0"/>
              <a:t>		Run it inside Snowflake compute	</a:t>
            </a:r>
          </a:p>
          <a:p>
            <a:pPr>
              <a:spcBef>
                <a:spcPts val="600"/>
              </a:spcBef>
            </a:pPr>
            <a:r>
              <a:rPr lang="en-US" dirty="0"/>
              <a:t>		No data movement	Same governance, security, and scalability</a:t>
            </a:r>
          </a:p>
        </p:txBody>
      </p:sp>
    </p:spTree>
    <p:extLst>
      <p:ext uri="{BB962C8B-B14F-4D97-AF65-F5344CB8AC3E}">
        <p14:creationId xmlns:p14="http://schemas.microsoft.com/office/powerpoint/2010/main" val="28025024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1B12E08B-88C8-3FE8-4BE4-10AF2733B6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-94566"/>
            <a:ext cx="5879593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b="1" dirty="0">
              <a:latin typeface="Arial" panose="020B0604020202020204" pitchFamily="34" charset="0"/>
            </a:endParaRPr>
          </a:p>
          <a:p>
            <a:r>
              <a:rPr lang="en-US" b="1" dirty="0"/>
              <a:t>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B6DFC83-2C6E-3D42-00A4-E4DA1B0E5B97}"/>
              </a:ext>
            </a:extLst>
          </p:cNvPr>
          <p:cNvSpPr txBox="1"/>
          <p:nvPr/>
        </p:nvSpPr>
        <p:spPr>
          <a:xfrm>
            <a:off x="816102" y="1088565"/>
            <a:ext cx="6094476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Client Code (Python / Java / Scala)</a:t>
            </a:r>
          </a:p>
          <a:p>
            <a:r>
              <a:rPr lang="en-IN" dirty="0"/>
              <a:t>        |</a:t>
            </a:r>
          </a:p>
          <a:p>
            <a:r>
              <a:rPr lang="en-IN" dirty="0"/>
              <a:t>        |  Logical Plan (Lazy Evaluation)</a:t>
            </a:r>
          </a:p>
          <a:p>
            <a:r>
              <a:rPr lang="en-IN" dirty="0"/>
              <a:t>        |</a:t>
            </a:r>
          </a:p>
          <a:p>
            <a:r>
              <a:rPr lang="en-IN" dirty="0"/>
              <a:t>Snowpark API</a:t>
            </a:r>
          </a:p>
          <a:p>
            <a:r>
              <a:rPr lang="en-IN" dirty="0"/>
              <a:t>        |</a:t>
            </a:r>
          </a:p>
          <a:p>
            <a:r>
              <a:rPr lang="en-IN" dirty="0"/>
              <a:t>        |  Optimized Query Plan</a:t>
            </a:r>
          </a:p>
          <a:p>
            <a:r>
              <a:rPr lang="en-IN" dirty="0"/>
              <a:t>        |</a:t>
            </a:r>
          </a:p>
          <a:p>
            <a:r>
              <a:rPr lang="en-IN" dirty="0"/>
              <a:t>Snowflake Compute Engine</a:t>
            </a:r>
          </a:p>
          <a:p>
            <a:r>
              <a:rPr lang="en-IN" dirty="0"/>
              <a:t>        |</a:t>
            </a:r>
          </a:p>
          <a:p>
            <a:r>
              <a:rPr lang="en-IN" dirty="0"/>
              <a:t>        |  Secure Execution</a:t>
            </a:r>
          </a:p>
          <a:p>
            <a:r>
              <a:rPr lang="en-IN" dirty="0"/>
              <a:t>        |</a:t>
            </a:r>
          </a:p>
          <a:p>
            <a:r>
              <a:rPr lang="en-IN" dirty="0"/>
              <a:t>Snowflake Tables / Views / Files</a:t>
            </a: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AE64DA82-24B5-4DCE-F30F-6D7AC198EB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448508"/>
            <a:ext cx="2294090" cy="13542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200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200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Snowpark Architecture </a:t>
            </a:r>
            <a:endParaRPr kumimoji="0" lang="en-US" altLang="en-US" sz="1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485073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1B12E08B-88C8-3FE8-4BE4-10AF2733B6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-94566"/>
            <a:ext cx="5879593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b="1" dirty="0">
              <a:latin typeface="Arial" panose="020B0604020202020204" pitchFamily="34" charset="0"/>
            </a:endParaRPr>
          </a:p>
          <a:p>
            <a:r>
              <a:rPr lang="en-US" b="1" dirty="0"/>
              <a:t> </a:t>
            </a: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AE64DA82-24B5-4DCE-F30F-6D7AC198EB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86952"/>
            <a:ext cx="2890087" cy="12311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400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400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IN" b="1" dirty="0"/>
              <a:t>Snowpark vs Traditional SQL</a:t>
            </a: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B147FC6-A380-834C-F6CB-044DA5B8F0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8460699"/>
              </p:ext>
            </p:extLst>
          </p:nvPr>
        </p:nvGraphicFramePr>
        <p:xfrm>
          <a:off x="201168" y="1095153"/>
          <a:ext cx="10131426" cy="2560320"/>
        </p:xfrm>
        <a:graphic>
          <a:graphicData uri="http://schemas.openxmlformats.org/drawingml/2006/table">
            <a:tbl>
              <a:tblPr/>
              <a:tblGrid>
                <a:gridCol w="3377142">
                  <a:extLst>
                    <a:ext uri="{9D8B030D-6E8A-4147-A177-3AD203B41FA5}">
                      <a16:colId xmlns:a16="http://schemas.microsoft.com/office/drawing/2014/main" val="4160368463"/>
                    </a:ext>
                  </a:extLst>
                </a:gridCol>
                <a:gridCol w="3377142">
                  <a:extLst>
                    <a:ext uri="{9D8B030D-6E8A-4147-A177-3AD203B41FA5}">
                      <a16:colId xmlns:a16="http://schemas.microsoft.com/office/drawing/2014/main" val="1370123150"/>
                    </a:ext>
                  </a:extLst>
                </a:gridCol>
                <a:gridCol w="3377142">
                  <a:extLst>
                    <a:ext uri="{9D8B030D-6E8A-4147-A177-3AD203B41FA5}">
                      <a16:colId xmlns:a16="http://schemas.microsoft.com/office/drawing/2014/main" val="401517645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Aspect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SQL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Snowpark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941508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Simple queries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✅ Best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⚠ Overkill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546191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Complex business logic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❌ Hard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✅ Easy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552569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Loops &amp; conditions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❌ Limited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✅ Natural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642669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 dirty="0"/>
                        <a:t>Reusability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147687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ML pipelines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808324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Procedural logic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05719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8390089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1B12E08B-88C8-3FE8-4BE4-10AF2733B6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-94566"/>
            <a:ext cx="5879593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b="1" dirty="0">
              <a:latin typeface="Arial" panose="020B0604020202020204" pitchFamily="34" charset="0"/>
            </a:endParaRPr>
          </a:p>
          <a:p>
            <a:r>
              <a:rPr lang="en-US" b="1" dirty="0"/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834479-F10D-C19C-C5AE-DAEAED3E94D9}"/>
              </a:ext>
            </a:extLst>
          </p:cNvPr>
          <p:cNvSpPr txBox="1"/>
          <p:nvPr/>
        </p:nvSpPr>
        <p:spPr>
          <a:xfrm>
            <a:off x="217934" y="197346"/>
            <a:ext cx="8798050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Snowpark Core Components</a:t>
            </a:r>
          </a:p>
          <a:p>
            <a:r>
              <a:rPr lang="en-IN" b="1" dirty="0"/>
              <a:t>Session</a:t>
            </a:r>
          </a:p>
          <a:p>
            <a:r>
              <a:rPr lang="en-IN" dirty="0"/>
              <a:t>	Entry point to Snowflake</a:t>
            </a:r>
          </a:p>
          <a:p>
            <a:r>
              <a:rPr lang="en-IN" dirty="0"/>
              <a:t>	Manages connection, role, warehouse</a:t>
            </a:r>
            <a:endParaRPr lang="en-IN" b="1" dirty="0"/>
          </a:p>
          <a:p>
            <a:r>
              <a:rPr lang="en-IN" b="1" dirty="0" err="1"/>
              <a:t>DataFrame</a:t>
            </a:r>
            <a:endParaRPr lang="en-IN" b="1" dirty="0"/>
          </a:p>
          <a:p>
            <a:r>
              <a:rPr lang="en-IN" dirty="0"/>
              <a:t>	Central abstraction</a:t>
            </a:r>
          </a:p>
          <a:p>
            <a:r>
              <a:rPr lang="en-IN" dirty="0"/>
              <a:t>	Similar to Spark </a:t>
            </a:r>
            <a:r>
              <a:rPr lang="en-IN" dirty="0" err="1"/>
              <a:t>DataFrame</a:t>
            </a:r>
            <a:endParaRPr lang="en-IN" dirty="0"/>
          </a:p>
          <a:p>
            <a:r>
              <a:rPr lang="en-IN" dirty="0"/>
              <a:t>	Immutable and lazily evaluated</a:t>
            </a:r>
          </a:p>
          <a:p>
            <a:r>
              <a:rPr lang="en-IN" b="1" dirty="0"/>
              <a:t>Transformations</a:t>
            </a:r>
          </a:p>
          <a:p>
            <a:r>
              <a:rPr lang="en-IN" dirty="0"/>
              <a:t>	select(), filter(), join(), </a:t>
            </a:r>
            <a:r>
              <a:rPr lang="en-IN" dirty="0" err="1"/>
              <a:t>group_by</a:t>
            </a:r>
            <a:r>
              <a:rPr lang="en-IN" dirty="0"/>
              <a:t>()</a:t>
            </a:r>
          </a:p>
          <a:p>
            <a:r>
              <a:rPr lang="en-IN" b="1" dirty="0"/>
              <a:t>Actions</a:t>
            </a:r>
          </a:p>
          <a:p>
            <a:r>
              <a:rPr lang="en-IN" dirty="0"/>
              <a:t>	collect(), count(), </a:t>
            </a:r>
            <a:r>
              <a:rPr lang="en-IN" dirty="0" err="1"/>
              <a:t>write.save_as_table</a:t>
            </a:r>
            <a:r>
              <a:rPr lang="en-IN" dirty="0"/>
              <a:t>()</a:t>
            </a:r>
          </a:p>
          <a:p>
            <a:endParaRPr lang="en-IN" dirty="0"/>
          </a:p>
          <a:p>
            <a:r>
              <a:rPr lang="en-IN" b="1" dirty="0"/>
              <a:t>Lazy Evaluation (Very Important)</a:t>
            </a:r>
          </a:p>
          <a:p>
            <a:r>
              <a:rPr lang="en-IN" dirty="0"/>
              <a:t>Snowpark does not execute immediately.</a:t>
            </a:r>
          </a:p>
          <a:p>
            <a:r>
              <a:rPr lang="en-IN" dirty="0"/>
              <a:t>	</a:t>
            </a:r>
            <a:r>
              <a:rPr lang="en-IN" dirty="0" err="1"/>
              <a:t>df.select</a:t>
            </a:r>
            <a:r>
              <a:rPr lang="en-IN" dirty="0"/>
              <a:t>().filter().join()</a:t>
            </a:r>
          </a:p>
          <a:p>
            <a:r>
              <a:rPr lang="en-IN" dirty="0"/>
              <a:t> Builds a logical plan</a:t>
            </a:r>
          </a:p>
          <a:p>
            <a:r>
              <a:rPr lang="en-IN" dirty="0"/>
              <a:t> Executes only when an action is called</a:t>
            </a:r>
          </a:p>
          <a:p>
            <a:endParaRPr lang="en-IN" dirty="0"/>
          </a:p>
          <a:p>
            <a:r>
              <a:rPr lang="en-IN" b="1" dirty="0"/>
              <a:t>Benefits</a:t>
            </a:r>
          </a:p>
          <a:p>
            <a:r>
              <a:rPr lang="en-IN" dirty="0"/>
              <a:t>	Query optimization</a:t>
            </a:r>
          </a:p>
          <a:p>
            <a:r>
              <a:rPr lang="en-IN" dirty="0"/>
              <a:t>	Reduced compute cost</a:t>
            </a:r>
          </a:p>
          <a:p>
            <a:r>
              <a:rPr lang="en-IN" dirty="0"/>
              <a:t>	Faster execution</a:t>
            </a:r>
          </a:p>
        </p:txBody>
      </p:sp>
    </p:spTree>
    <p:extLst>
      <p:ext uri="{BB962C8B-B14F-4D97-AF65-F5344CB8AC3E}">
        <p14:creationId xmlns:p14="http://schemas.microsoft.com/office/powerpoint/2010/main" val="302116186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1B12E08B-88C8-3FE8-4BE4-10AF2733B6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35957"/>
            <a:ext cx="587959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b="1" dirty="0"/>
              <a:t>Snowpark </a:t>
            </a:r>
            <a:r>
              <a:rPr lang="en-IN" b="1" dirty="0" err="1"/>
              <a:t>DataFrame</a:t>
            </a:r>
            <a:r>
              <a:rPr lang="en-IN" b="1" dirty="0"/>
              <a:t> Flow</a:t>
            </a:r>
            <a:endParaRPr lang="en-US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834479-F10D-C19C-C5AE-DAEAED3E94D9}"/>
              </a:ext>
            </a:extLst>
          </p:cNvPr>
          <p:cNvSpPr txBox="1"/>
          <p:nvPr/>
        </p:nvSpPr>
        <p:spPr>
          <a:xfrm>
            <a:off x="318518" y="835657"/>
            <a:ext cx="879805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Read Data</a:t>
            </a:r>
          </a:p>
          <a:p>
            <a:r>
              <a:rPr lang="en-IN" dirty="0"/>
              <a:t>   ↓</a:t>
            </a:r>
          </a:p>
          <a:p>
            <a:r>
              <a:rPr lang="en-IN" dirty="0"/>
              <a:t>Transform (select, filter, join)</a:t>
            </a:r>
          </a:p>
          <a:p>
            <a:r>
              <a:rPr lang="en-IN" dirty="0"/>
              <a:t>   ↓</a:t>
            </a:r>
          </a:p>
          <a:p>
            <a:r>
              <a:rPr lang="en-IN" dirty="0"/>
              <a:t>Optimize (Snowflake Optimizer)</a:t>
            </a:r>
          </a:p>
          <a:p>
            <a:r>
              <a:rPr lang="en-IN" dirty="0"/>
              <a:t>   ↓</a:t>
            </a:r>
          </a:p>
          <a:p>
            <a:r>
              <a:rPr lang="en-IN" dirty="0"/>
              <a:t>Execute in Warehouse</a:t>
            </a:r>
          </a:p>
          <a:p>
            <a:r>
              <a:rPr lang="en-IN" dirty="0"/>
              <a:t>   ↓</a:t>
            </a:r>
          </a:p>
          <a:p>
            <a:r>
              <a:rPr lang="en-IN" dirty="0"/>
              <a:t>Result</a:t>
            </a: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03E413-A84B-724B-C03D-E1C4803A7CD6}"/>
              </a:ext>
            </a:extLst>
          </p:cNvPr>
          <p:cNvSpPr txBox="1"/>
          <p:nvPr/>
        </p:nvSpPr>
        <p:spPr>
          <a:xfrm>
            <a:off x="190502" y="3626596"/>
            <a:ext cx="611733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Snowpark with Files (Stages)</a:t>
            </a:r>
          </a:p>
          <a:p>
            <a:r>
              <a:rPr lang="en-IN" dirty="0"/>
              <a:t>Snowpark can work with: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Internal stages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External stages (S3, ADLS, GCS)</a:t>
            </a:r>
          </a:p>
          <a:p>
            <a:endParaRPr lang="en-IN" b="1" dirty="0"/>
          </a:p>
          <a:p>
            <a:r>
              <a:rPr lang="en-IN" b="1" dirty="0"/>
              <a:t>File → </a:t>
            </a:r>
            <a:r>
              <a:rPr lang="en-IN" b="1" dirty="0" err="1"/>
              <a:t>DataFrame</a:t>
            </a:r>
            <a:r>
              <a:rPr lang="en-IN" b="1" dirty="0"/>
              <a:t> → Table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CSV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JSON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Parquet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Avro</a:t>
            </a:r>
          </a:p>
        </p:txBody>
      </p:sp>
    </p:spTree>
    <p:extLst>
      <p:ext uri="{BB962C8B-B14F-4D97-AF65-F5344CB8AC3E}">
        <p14:creationId xmlns:p14="http://schemas.microsoft.com/office/powerpoint/2010/main" val="301151621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1B12E08B-88C8-3FE8-4BE4-10AF2733B6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35957"/>
            <a:ext cx="587959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b="1" dirty="0"/>
              <a:t>User Defined Functions (UDFs)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2B9D90D-4244-8056-BE41-F8A795E65A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8615501"/>
              </p:ext>
            </p:extLst>
          </p:nvPr>
        </p:nvGraphicFramePr>
        <p:xfrm>
          <a:off x="210312" y="957993"/>
          <a:ext cx="10131424" cy="1463040"/>
        </p:xfrm>
        <a:graphic>
          <a:graphicData uri="http://schemas.openxmlformats.org/drawingml/2006/table">
            <a:tbl>
              <a:tblPr/>
              <a:tblGrid>
                <a:gridCol w="5065712">
                  <a:extLst>
                    <a:ext uri="{9D8B030D-6E8A-4147-A177-3AD203B41FA5}">
                      <a16:colId xmlns:a16="http://schemas.microsoft.com/office/drawing/2014/main" val="4033839371"/>
                    </a:ext>
                  </a:extLst>
                </a:gridCol>
                <a:gridCol w="5065712">
                  <a:extLst>
                    <a:ext uri="{9D8B030D-6E8A-4147-A177-3AD203B41FA5}">
                      <a16:colId xmlns:a16="http://schemas.microsoft.com/office/drawing/2014/main" val="301801341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691373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Scalar UDF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Row-by-row logic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874985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Vectorized UDF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Batch processing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402679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Stored Procedures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Control flow logic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0555605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A469B41B-1C4F-18FD-1A5C-FD9ECB9C223C}"/>
              </a:ext>
            </a:extLst>
          </p:cNvPr>
          <p:cNvSpPr txBox="1"/>
          <p:nvPr/>
        </p:nvSpPr>
        <p:spPr>
          <a:xfrm>
            <a:off x="342900" y="2552944"/>
            <a:ext cx="6117336" cy="28469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IN" dirty="0"/>
              <a:t>Written in Python / Java / Scala</a:t>
            </a:r>
          </a:p>
          <a:p>
            <a:pPr>
              <a:spcBef>
                <a:spcPts val="600"/>
              </a:spcBef>
            </a:pPr>
            <a:r>
              <a:rPr lang="en-IN" dirty="0"/>
              <a:t>✔ Stored &amp; executed inside Snowflake</a:t>
            </a:r>
          </a:p>
          <a:p>
            <a:pPr>
              <a:spcBef>
                <a:spcPts val="600"/>
              </a:spcBef>
            </a:pPr>
            <a:endParaRPr lang="en-IN" dirty="0"/>
          </a:p>
          <a:p>
            <a:pPr>
              <a:spcBef>
                <a:spcPts val="600"/>
              </a:spcBef>
            </a:pPr>
            <a:r>
              <a:rPr lang="en-IN" dirty="0"/>
              <a:t>Snowpark Stored Procedures</a:t>
            </a:r>
          </a:p>
          <a:p>
            <a:pPr>
              <a:spcBef>
                <a:spcPts val="600"/>
              </a:spcBef>
            </a:pPr>
            <a:r>
              <a:rPr lang="en-IN" dirty="0"/>
              <a:t>Used when:</a:t>
            </a:r>
          </a:p>
          <a:p>
            <a:pPr>
              <a:spcBef>
                <a:spcPts val="600"/>
              </a:spcBef>
            </a:pPr>
            <a:r>
              <a:rPr lang="en-IN" dirty="0"/>
              <a:t>	You need loops</a:t>
            </a:r>
          </a:p>
          <a:p>
            <a:pPr>
              <a:spcBef>
                <a:spcPts val="600"/>
              </a:spcBef>
            </a:pPr>
            <a:r>
              <a:rPr lang="en-IN" dirty="0"/>
              <a:t>	Error handling</a:t>
            </a:r>
          </a:p>
          <a:p>
            <a:pPr>
              <a:spcBef>
                <a:spcPts val="600"/>
              </a:spcBef>
            </a:pPr>
            <a:r>
              <a:rPr lang="en-IN" dirty="0"/>
              <a:t>	Multi-step logic</a:t>
            </a:r>
          </a:p>
        </p:txBody>
      </p:sp>
    </p:spTree>
    <p:extLst>
      <p:ext uri="{BB962C8B-B14F-4D97-AF65-F5344CB8AC3E}">
        <p14:creationId xmlns:p14="http://schemas.microsoft.com/office/powerpoint/2010/main" val="218328927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DD035340-9030-CE2B-5EC4-26B2012F54C2}"/>
              </a:ext>
            </a:extLst>
          </p:cNvPr>
          <p:cNvSpPr txBox="1"/>
          <p:nvPr/>
        </p:nvSpPr>
        <p:spPr>
          <a:xfrm>
            <a:off x="276606" y="392049"/>
            <a:ext cx="6094476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Security &amp; Governance</a:t>
            </a:r>
          </a:p>
          <a:p>
            <a:r>
              <a:rPr lang="en-IN" dirty="0"/>
              <a:t>Snowpark inherits:</a:t>
            </a:r>
          </a:p>
          <a:p>
            <a:r>
              <a:rPr lang="en-IN" dirty="0"/>
              <a:t>	Role-based access control	</a:t>
            </a:r>
          </a:p>
          <a:p>
            <a:r>
              <a:rPr lang="en-IN" dirty="0"/>
              <a:t>	Row access policies</a:t>
            </a:r>
          </a:p>
          <a:p>
            <a:r>
              <a:rPr lang="en-IN" dirty="0"/>
              <a:t>	Column masking</a:t>
            </a:r>
          </a:p>
          <a:p>
            <a:r>
              <a:rPr lang="en-IN" dirty="0"/>
              <a:t>	Network policies</a:t>
            </a:r>
          </a:p>
          <a:p>
            <a:r>
              <a:rPr lang="en-IN" dirty="0"/>
              <a:t>✔ No new security surface</a:t>
            </a:r>
          </a:p>
          <a:p>
            <a:r>
              <a:rPr lang="en-IN" dirty="0"/>
              <a:t>✔ Same compliance as Snowflake SQL</a:t>
            </a:r>
          </a:p>
          <a:p>
            <a:endParaRPr lang="en-IN" dirty="0"/>
          </a:p>
          <a:p>
            <a:r>
              <a:rPr lang="en-IN" b="1" dirty="0"/>
              <a:t>Performance Advantages</a:t>
            </a:r>
          </a:p>
          <a:p>
            <a:r>
              <a:rPr lang="en-IN" dirty="0"/>
              <a:t>	Push-down execution</a:t>
            </a:r>
          </a:p>
          <a:p>
            <a:r>
              <a:rPr lang="en-IN" dirty="0"/>
              <a:t>	Query pruning</a:t>
            </a:r>
          </a:p>
          <a:p>
            <a:r>
              <a:rPr lang="en-IN" dirty="0"/>
              <a:t>	Caching</a:t>
            </a:r>
          </a:p>
          <a:p>
            <a:r>
              <a:rPr lang="en-IN" dirty="0"/>
              <a:t>	Automatic scaling</a:t>
            </a:r>
          </a:p>
          <a:p>
            <a:r>
              <a:rPr lang="en-IN" dirty="0"/>
              <a:t>✔ Faster than external Spark in many cases</a:t>
            </a:r>
          </a:p>
          <a:p>
            <a:r>
              <a:rPr lang="en-IN" dirty="0"/>
              <a:t>✔ No data egress cost</a:t>
            </a:r>
          </a:p>
          <a:p>
            <a:endParaRPr lang="en-IN" dirty="0"/>
          </a:p>
          <a:p>
            <a:r>
              <a:rPr lang="en-IN" b="1" dirty="0"/>
              <a:t>Cost Optimization</a:t>
            </a:r>
          </a:p>
          <a:p>
            <a:r>
              <a:rPr lang="en-IN" dirty="0"/>
              <a:t>	Uses existing warehouses</a:t>
            </a:r>
          </a:p>
          <a:p>
            <a:r>
              <a:rPr lang="en-IN" dirty="0"/>
              <a:t>	No extra cluster management</a:t>
            </a:r>
          </a:p>
          <a:p>
            <a:r>
              <a:rPr lang="en-IN" dirty="0"/>
              <a:t>	Pay only for execution time</a:t>
            </a:r>
          </a:p>
        </p:txBody>
      </p:sp>
    </p:spTree>
    <p:extLst>
      <p:ext uri="{BB962C8B-B14F-4D97-AF65-F5344CB8AC3E}">
        <p14:creationId xmlns:p14="http://schemas.microsoft.com/office/powerpoint/2010/main" val="52114374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1B12E08B-88C8-3FE8-4BE4-10AF2733B6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43934"/>
            <a:ext cx="587959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C19B96-2835-17A4-CFB2-58FEC065D059}"/>
              </a:ext>
            </a:extLst>
          </p:cNvPr>
          <p:cNvSpPr txBox="1"/>
          <p:nvPr/>
        </p:nvSpPr>
        <p:spPr>
          <a:xfrm>
            <a:off x="217934" y="157216"/>
            <a:ext cx="10983466" cy="63555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Snowflake Cortex</a:t>
            </a:r>
          </a:p>
          <a:p>
            <a:endParaRPr lang="en-IN" dirty="0"/>
          </a:p>
          <a:p>
            <a:r>
              <a:rPr lang="en-IN" dirty="0"/>
              <a:t>Snowflake Cortex is an AI and ML layer embedded natively within the Snowflake Data Cloud.</a:t>
            </a:r>
          </a:p>
          <a:p>
            <a:r>
              <a:rPr lang="en-IN" dirty="0"/>
              <a:t>It enables organizations to apply AI directly on governed enterprise data without moving data outside Snowflake.</a:t>
            </a:r>
          </a:p>
          <a:p>
            <a:endParaRPr lang="en-IN" dirty="0"/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/>
              <a:t>Cortex is designed for: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/>
              <a:t>Enterprise-grade AI adoption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/>
              <a:t>Strong governance, security, and compliance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/>
              <a:t>Minimal operational complexity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/>
              <a:t>Business-ready AI use cases at scale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IN" dirty="0"/>
          </a:p>
          <a:p>
            <a:pPr>
              <a:spcBef>
                <a:spcPts val="600"/>
              </a:spcBef>
            </a:pPr>
            <a:r>
              <a:rPr lang="en-US" dirty="0"/>
              <a:t>Snowflake Cortex sits </a:t>
            </a:r>
            <a:r>
              <a:rPr lang="en-US" b="1" dirty="0"/>
              <a:t>above the core Snowflake data platform</a:t>
            </a:r>
            <a:r>
              <a:rPr lang="en-US" dirty="0"/>
              <a:t>, tightly integrated with: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Data storage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Compute engine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Security &amp; governance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Data sharing and collaboration</a:t>
            </a:r>
          </a:p>
          <a:p>
            <a:pPr>
              <a:spcBef>
                <a:spcPts val="600"/>
              </a:spcBef>
            </a:pPr>
            <a:r>
              <a:rPr lang="en-US" dirty="0"/>
              <a:t>It </a:t>
            </a:r>
            <a:r>
              <a:rPr lang="en-US" b="1" dirty="0"/>
              <a:t>bridges the gap between data and AI</a:t>
            </a:r>
            <a:r>
              <a:rPr lang="en-US" dirty="0"/>
              <a:t>, enabling analytics, BI, and AI workloads to operate on a </a:t>
            </a:r>
            <a:r>
              <a:rPr lang="en-US" b="1" dirty="0"/>
              <a:t>single source of truth</a:t>
            </a:r>
            <a:r>
              <a:rPr lang="en-US" dirty="0"/>
              <a:t>.</a:t>
            </a:r>
          </a:p>
          <a:p>
            <a:pPr>
              <a:spcBef>
                <a:spcPts val="600"/>
              </a:spcBef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8424019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1B12E08B-88C8-3FE8-4BE4-10AF2733B6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43934"/>
            <a:ext cx="587959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b="1" dirty="0"/>
          </a:p>
        </p:txBody>
      </p:sp>
      <p:sp>
        <p:nvSpPr>
          <p:cNvPr id="2" name="AutoShape 2" descr="Security and Governance Best Practices for Deploying ...">
            <a:extLst>
              <a:ext uri="{FF2B5EF4-FFF2-40B4-BE49-F238E27FC236}">
                <a16:creationId xmlns:a16="http://schemas.microsoft.com/office/drawing/2014/main" id="{80974920-A599-1B14-8E6D-A6D87A1687B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5" name="Picture 4" descr="A diagram of a computer">
            <a:extLst>
              <a:ext uri="{FF2B5EF4-FFF2-40B4-BE49-F238E27FC236}">
                <a16:creationId xmlns:a16="http://schemas.microsoft.com/office/drawing/2014/main" id="{110BDB72-8311-504C-4A98-939224AD1C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9297"/>
            <a:ext cx="11987784" cy="421752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371D336-6F52-3CB0-0AD6-40821B2509F7}"/>
              </a:ext>
            </a:extLst>
          </p:cNvPr>
          <p:cNvSpPr txBox="1"/>
          <p:nvPr/>
        </p:nvSpPr>
        <p:spPr>
          <a:xfrm>
            <a:off x="114300" y="4474964"/>
            <a:ext cx="11530584" cy="2339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IN" dirty="0"/>
              <a:t>User Interaction: Users access the system via the UI, where credentials and access controls are verified.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IN" dirty="0"/>
              <a:t>Governance: Snowflake Horizon enforces security policies (RBAC) on all requests.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IN" dirty="0"/>
              <a:t>AI Processing: Cortex Agents orchestrate tasks, routing requests to tools like Cortex Analyst (structured data) and Cortex Search (unstructured data).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IN" dirty="0"/>
              <a:t>Execution: A Virtual Warehouse runs the queries, interacting with integrated AI Models (e.g., OpenAI, Anthropic).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IN" dirty="0"/>
              <a:t>Data Access: The system utilizes data from internal tables, external sources, and the Snowflake Marketplace to generate responses.</a:t>
            </a:r>
          </a:p>
        </p:txBody>
      </p:sp>
    </p:spTree>
    <p:extLst>
      <p:ext uri="{BB962C8B-B14F-4D97-AF65-F5344CB8AC3E}">
        <p14:creationId xmlns:p14="http://schemas.microsoft.com/office/powerpoint/2010/main" val="64145421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1B12E08B-88C8-3FE8-4BE4-10AF2733B6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43934"/>
            <a:ext cx="587959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b="1" dirty="0"/>
          </a:p>
        </p:txBody>
      </p:sp>
      <p:sp>
        <p:nvSpPr>
          <p:cNvPr id="2" name="AutoShape 2" descr="Security and Governance Best Practices for Deploying ...">
            <a:extLst>
              <a:ext uri="{FF2B5EF4-FFF2-40B4-BE49-F238E27FC236}">
                <a16:creationId xmlns:a16="http://schemas.microsoft.com/office/drawing/2014/main" id="{80974920-A599-1B14-8E6D-A6D87A1687B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6E077D-0032-01CF-82D6-58E50740CD8E}"/>
              </a:ext>
            </a:extLst>
          </p:cNvPr>
          <p:cNvSpPr txBox="1"/>
          <p:nvPr/>
        </p:nvSpPr>
        <p:spPr>
          <a:xfrm>
            <a:off x="0" y="228600"/>
            <a:ext cx="11530584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IN" b="1" dirty="0"/>
              <a:t>Key Components of Snowflake Cortex</a:t>
            </a:r>
          </a:p>
          <a:p>
            <a:pPr>
              <a:spcBef>
                <a:spcPts val="600"/>
              </a:spcBef>
            </a:pPr>
            <a:r>
              <a:rPr lang="en-IN" b="1" dirty="0"/>
              <a:t>AI Services Layer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/>
              <a:t>Cortex provides built-in AI capabilities that operate directly on Snowflake data, including: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/>
              <a:t>Large Language Model (LLM) access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/>
              <a:t>Natural language understanding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/>
              <a:t>Text processing and semantic analysis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/>
              <a:t>Predictive and inferential capabilities</a:t>
            </a:r>
          </a:p>
          <a:p>
            <a:pPr>
              <a:spcBef>
                <a:spcPts val="600"/>
              </a:spcBef>
            </a:pPr>
            <a:r>
              <a:rPr lang="en-IN" dirty="0"/>
              <a:t>These services are serverless and fully managed by Snowflake.</a:t>
            </a:r>
          </a:p>
          <a:p>
            <a:pPr>
              <a:spcBef>
                <a:spcPts val="600"/>
              </a:spcBef>
            </a:pPr>
            <a:endParaRPr lang="en-IN" b="1" dirty="0"/>
          </a:p>
          <a:p>
            <a:pPr>
              <a:spcBef>
                <a:spcPts val="600"/>
              </a:spcBef>
            </a:pPr>
            <a:r>
              <a:rPr lang="en-IN" b="1" dirty="0"/>
              <a:t>Native Model Integration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/>
              <a:t>Snowflake Cortex integrates with: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/>
              <a:t>Snowflake-managed AI models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/>
              <a:t>Select third-party foundation models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/>
              <a:t>Secure model hosting within Snowflake’s environment</a:t>
            </a:r>
          </a:p>
          <a:p>
            <a:pPr>
              <a:spcBef>
                <a:spcPts val="600"/>
              </a:spcBef>
            </a:pPr>
            <a:r>
              <a:rPr lang="en-IN" b="1" dirty="0"/>
              <a:t>This avoids: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/>
              <a:t>External API dependency risks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/>
              <a:t>Data leakage concerns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/>
              <a:t>Complex integration pipelines</a:t>
            </a:r>
          </a:p>
          <a:p>
            <a:pPr>
              <a:spcBef>
                <a:spcPts val="600"/>
              </a:spcBef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1899546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1B12E08B-88C8-3FE8-4BE4-10AF2733B6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43934"/>
            <a:ext cx="587959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b="1" dirty="0"/>
          </a:p>
        </p:txBody>
      </p:sp>
      <p:sp>
        <p:nvSpPr>
          <p:cNvPr id="2" name="AutoShape 2" descr="Security and Governance Best Practices for Deploying ...">
            <a:extLst>
              <a:ext uri="{FF2B5EF4-FFF2-40B4-BE49-F238E27FC236}">
                <a16:creationId xmlns:a16="http://schemas.microsoft.com/office/drawing/2014/main" id="{80974920-A599-1B14-8E6D-A6D87A1687B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6E077D-0032-01CF-82D6-58E50740CD8E}"/>
              </a:ext>
            </a:extLst>
          </p:cNvPr>
          <p:cNvSpPr txBox="1"/>
          <p:nvPr/>
        </p:nvSpPr>
        <p:spPr>
          <a:xfrm>
            <a:off x="0" y="228600"/>
            <a:ext cx="11530584" cy="49705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dirty="0"/>
              <a:t>Governance &amp; Security Architecture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Data Governance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Cortex strictly follows Snowflake’s governance model: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Role-Based Access Control (RBAC)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Object-level and column-level security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Data masking and row-level access rules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Secure views and policies</a:t>
            </a:r>
          </a:p>
          <a:p>
            <a:pPr>
              <a:spcBef>
                <a:spcPts val="600"/>
              </a:spcBef>
            </a:pPr>
            <a:r>
              <a:rPr lang="en-US" dirty="0"/>
              <a:t>AI processes cannot access data beyond assigned privileges.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AI Governance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AI usage respects existing access policies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Model execution is auditable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Metadata and lineage are preserved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AI outputs are traceable back to source data</a:t>
            </a:r>
          </a:p>
          <a:p>
            <a:pPr>
              <a:spcBef>
                <a:spcPts val="600"/>
              </a:spcBef>
            </a:pPr>
            <a:r>
              <a:rPr lang="en-US" dirty="0"/>
              <a:t>This ensures regulatory compliance and enterprise trust.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4723804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1B12E08B-88C8-3FE8-4BE4-10AF2733B6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43934"/>
            <a:ext cx="587959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b="1" dirty="0"/>
          </a:p>
        </p:txBody>
      </p:sp>
      <p:sp>
        <p:nvSpPr>
          <p:cNvPr id="2" name="AutoShape 2" descr="Security and Governance Best Practices for Deploying ...">
            <a:extLst>
              <a:ext uri="{FF2B5EF4-FFF2-40B4-BE49-F238E27FC236}">
                <a16:creationId xmlns:a16="http://schemas.microsoft.com/office/drawing/2014/main" id="{80974920-A599-1B14-8E6D-A6D87A1687B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6E077D-0032-01CF-82D6-58E50740CD8E}"/>
              </a:ext>
            </a:extLst>
          </p:cNvPr>
          <p:cNvSpPr txBox="1"/>
          <p:nvPr/>
        </p:nvSpPr>
        <p:spPr>
          <a:xfrm>
            <a:off x="0" y="228600"/>
            <a:ext cx="11530584" cy="63863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b="1" dirty="0"/>
              <a:t>Governance &amp; Security Architecture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dirty="0"/>
              <a:t>Data Governance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dirty="0"/>
              <a:t>Cortex strictly follows Snowflake’s governance model: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dirty="0"/>
              <a:t>Role-Based Access Control (RBAC)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dirty="0"/>
              <a:t>Object-level and column-level security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dirty="0"/>
              <a:t>Data masking and row-level access rules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dirty="0"/>
              <a:t>Secure views and policies</a:t>
            </a:r>
          </a:p>
          <a:p>
            <a:pPr>
              <a:spcBef>
                <a:spcPts val="600"/>
              </a:spcBef>
            </a:pPr>
            <a:r>
              <a:rPr lang="en-US" b="1" dirty="0"/>
              <a:t>AI processes cannot access data beyond assigned privileges.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dirty="0"/>
              <a:t>AI Governance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dirty="0"/>
              <a:t>AI usage respects existing access policies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dirty="0"/>
              <a:t>Model execution is auditable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dirty="0"/>
              <a:t>Metadata and lineage are preserved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dirty="0"/>
              <a:t>AI outputs are traceable back to source data</a:t>
            </a:r>
          </a:p>
          <a:p>
            <a:pPr>
              <a:spcBef>
                <a:spcPts val="600"/>
              </a:spcBef>
            </a:pPr>
            <a:r>
              <a:rPr lang="en-US" b="1" dirty="0"/>
              <a:t>This ensures regulatory compliance and enterprise trust.</a:t>
            </a:r>
          </a:p>
          <a:p>
            <a:pPr>
              <a:spcBef>
                <a:spcPts val="600"/>
              </a:spcBef>
            </a:pPr>
            <a:r>
              <a:rPr lang="en-US" b="1" dirty="0"/>
              <a:t>Privacy &amp; Compliance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Snowflake Cortex is designed to meet enterprise compliance standards: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No unauthorized data export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No training on customer data unless explicitly configured</a:t>
            </a:r>
          </a:p>
        </p:txBody>
      </p:sp>
    </p:spTree>
    <p:extLst>
      <p:ext uri="{BB962C8B-B14F-4D97-AF65-F5344CB8AC3E}">
        <p14:creationId xmlns:p14="http://schemas.microsoft.com/office/powerpoint/2010/main" val="176348401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1B12E08B-88C8-3FE8-4BE4-10AF2733B6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43934"/>
            <a:ext cx="587959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b="1" dirty="0"/>
          </a:p>
        </p:txBody>
      </p:sp>
      <p:sp>
        <p:nvSpPr>
          <p:cNvPr id="2" name="AutoShape 2" descr="Security and Governance Best Practices for Deploying ...">
            <a:extLst>
              <a:ext uri="{FF2B5EF4-FFF2-40B4-BE49-F238E27FC236}">
                <a16:creationId xmlns:a16="http://schemas.microsoft.com/office/drawing/2014/main" id="{80974920-A599-1B14-8E6D-A6D87A1687B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6E077D-0032-01CF-82D6-58E50740CD8E}"/>
              </a:ext>
            </a:extLst>
          </p:cNvPr>
          <p:cNvSpPr txBox="1"/>
          <p:nvPr/>
        </p:nvSpPr>
        <p:spPr>
          <a:xfrm>
            <a:off x="0" y="228600"/>
            <a:ext cx="11530584" cy="4262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b="1" dirty="0"/>
              <a:t>Integration with Snowflake Ecosystem</a:t>
            </a:r>
          </a:p>
          <a:p>
            <a:pPr>
              <a:spcBef>
                <a:spcPts val="600"/>
              </a:spcBef>
            </a:pPr>
            <a:r>
              <a:rPr lang="en-US" b="1" dirty="0"/>
              <a:t>Analytics &amp; BI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Cortex integrates seamlessly with: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SQL analytics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Dashboards and reporting tools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Natural language querying layers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AI insights become part of standard analytics workflows.</a:t>
            </a:r>
          </a:p>
          <a:p>
            <a:pPr>
              <a:spcBef>
                <a:spcPts val="600"/>
              </a:spcBef>
            </a:pPr>
            <a:endParaRPr lang="en-US" dirty="0"/>
          </a:p>
          <a:p>
            <a:pPr>
              <a:spcBef>
                <a:spcPts val="600"/>
              </a:spcBef>
            </a:pPr>
            <a:r>
              <a:rPr lang="en-US" b="1" dirty="0"/>
              <a:t>Data Engineering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Works with structured, semi-structured, and unstructured data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Supports pipelines built using Snowflake-native tools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Operates alongside transformation and orchestration layers</a:t>
            </a:r>
          </a:p>
        </p:txBody>
      </p:sp>
    </p:spTree>
    <p:extLst>
      <p:ext uri="{BB962C8B-B14F-4D97-AF65-F5344CB8AC3E}">
        <p14:creationId xmlns:p14="http://schemas.microsoft.com/office/powerpoint/2010/main" val="26814600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1B12E08B-88C8-3FE8-4BE4-10AF2733B6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43934"/>
            <a:ext cx="587959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b="1" dirty="0"/>
          </a:p>
        </p:txBody>
      </p:sp>
      <p:sp>
        <p:nvSpPr>
          <p:cNvPr id="2" name="AutoShape 2" descr="Security and Governance Best Practices for Deploying ...">
            <a:extLst>
              <a:ext uri="{FF2B5EF4-FFF2-40B4-BE49-F238E27FC236}">
                <a16:creationId xmlns:a16="http://schemas.microsoft.com/office/drawing/2014/main" id="{80974920-A599-1B14-8E6D-A6D87A1687B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6E077D-0032-01CF-82D6-58E50740CD8E}"/>
              </a:ext>
            </a:extLst>
          </p:cNvPr>
          <p:cNvSpPr txBox="1"/>
          <p:nvPr/>
        </p:nvSpPr>
        <p:spPr>
          <a:xfrm>
            <a:off x="0" y="228600"/>
            <a:ext cx="11530584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b="1" dirty="0"/>
              <a:t>Performance &amp; Scalability</a:t>
            </a:r>
          </a:p>
          <a:p>
            <a:pPr>
              <a:spcBef>
                <a:spcPts val="600"/>
              </a:spcBef>
            </a:pPr>
            <a:r>
              <a:rPr lang="en-US" b="1" dirty="0"/>
              <a:t>Snowflake Cortex benefits from: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Snowflake’s elastic compute model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Automatic scaling and workload isolation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No infrastructure provisioning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Predictable performance under enterprise loads</a:t>
            </a:r>
          </a:p>
          <a:p>
            <a:pPr>
              <a:spcBef>
                <a:spcPts val="600"/>
              </a:spcBef>
            </a:pPr>
            <a:r>
              <a:rPr lang="en-US" dirty="0"/>
              <a:t>AI workloads scale independently and efficiently.</a:t>
            </a:r>
          </a:p>
          <a:p>
            <a:pPr>
              <a:spcBef>
                <a:spcPts val="600"/>
              </a:spcBef>
            </a:pPr>
            <a:endParaRPr lang="en-US" dirty="0"/>
          </a:p>
          <a:p>
            <a:pPr>
              <a:spcBef>
                <a:spcPts val="600"/>
              </a:spcBef>
            </a:pPr>
            <a:r>
              <a:rPr lang="en-US" b="1" dirty="0"/>
              <a:t>Cost Management</a:t>
            </a:r>
          </a:p>
          <a:p>
            <a:pPr>
              <a:spcBef>
                <a:spcPts val="600"/>
              </a:spcBef>
            </a:pPr>
            <a:r>
              <a:rPr lang="en-US" b="1" dirty="0"/>
              <a:t>Cortex follows Snowflake’s consumption-based pricing philosophy: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Pay for usage, not capacity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No idle infrastructure cost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Transparent billing aligned with compute consumption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Easier forecasting and chargeback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This aligns AI costs with business value delivered.</a:t>
            </a:r>
          </a:p>
        </p:txBody>
      </p:sp>
    </p:spTree>
    <p:extLst>
      <p:ext uri="{BB962C8B-B14F-4D97-AF65-F5344CB8AC3E}">
        <p14:creationId xmlns:p14="http://schemas.microsoft.com/office/powerpoint/2010/main" val="130508519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1B12E08B-88C8-3FE8-4BE4-10AF2733B6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43934"/>
            <a:ext cx="587959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b="1" dirty="0"/>
          </a:p>
        </p:txBody>
      </p:sp>
      <p:sp>
        <p:nvSpPr>
          <p:cNvPr id="2" name="AutoShape 2" descr="Security and Governance Best Practices for Deploying ...">
            <a:extLst>
              <a:ext uri="{FF2B5EF4-FFF2-40B4-BE49-F238E27FC236}">
                <a16:creationId xmlns:a16="http://schemas.microsoft.com/office/drawing/2014/main" id="{80974920-A599-1B14-8E6D-A6D87A1687B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BD8CE0B-8A92-B929-29A0-8D2590546A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9865738"/>
              </p:ext>
            </p:extLst>
          </p:nvPr>
        </p:nvGraphicFramePr>
        <p:xfrm>
          <a:off x="292608" y="413266"/>
          <a:ext cx="10131424" cy="2560320"/>
        </p:xfrm>
        <a:graphic>
          <a:graphicData uri="http://schemas.openxmlformats.org/drawingml/2006/table">
            <a:tbl>
              <a:tblPr/>
              <a:tblGrid>
                <a:gridCol w="5065712">
                  <a:extLst>
                    <a:ext uri="{9D8B030D-6E8A-4147-A177-3AD203B41FA5}">
                      <a16:colId xmlns:a16="http://schemas.microsoft.com/office/drawing/2014/main" val="1175453088"/>
                    </a:ext>
                  </a:extLst>
                </a:gridCol>
                <a:gridCol w="5065712">
                  <a:extLst>
                    <a:ext uri="{9D8B030D-6E8A-4147-A177-3AD203B41FA5}">
                      <a16:colId xmlns:a16="http://schemas.microsoft.com/office/drawing/2014/main" val="402528002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IN" sz="1800" b="1"/>
                        <a:t>Area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1" dirty="0"/>
                        <a:t>Advantage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088637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Architecture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AI runs where data lives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095063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Security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Inherits Snowflake’s security model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493377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Governance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Centralized, policy-driven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436816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Operations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Fully managed, serverless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102974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Scalability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Elastic and cloud-native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990211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Adoption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Accessible to non-ML experts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28048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28361133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1B12E08B-88C8-3FE8-4BE4-10AF2733B6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43934"/>
            <a:ext cx="587959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b="1" dirty="0"/>
          </a:p>
        </p:txBody>
      </p:sp>
      <p:sp>
        <p:nvSpPr>
          <p:cNvPr id="2" name="AutoShape 2" descr="Security and Governance Best Practices for Deploying ...">
            <a:extLst>
              <a:ext uri="{FF2B5EF4-FFF2-40B4-BE49-F238E27FC236}">
                <a16:creationId xmlns:a16="http://schemas.microsoft.com/office/drawing/2014/main" id="{80974920-A599-1B14-8E6D-A6D87A1687B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8C78CF-EC1B-F527-3D52-147911E68BAD}"/>
              </a:ext>
            </a:extLst>
          </p:cNvPr>
          <p:cNvSpPr txBox="1"/>
          <p:nvPr/>
        </p:nvSpPr>
        <p:spPr>
          <a:xfrm>
            <a:off x="310896" y="474345"/>
            <a:ext cx="10904220" cy="5386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Core Components</a:t>
            </a:r>
          </a:p>
          <a:p>
            <a:r>
              <a:rPr lang="en-IN" b="1" dirty="0"/>
              <a:t>Cortex AI Functions</a:t>
            </a:r>
            <a:r>
              <a:rPr lang="en-IN" dirty="0"/>
              <a:t>: Ready-to-use LLM functions accessible via SQL or Python for common tasks: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/>
              <a:t>COMPLETE: Generates text based on a prompt using models like Llama, Claude, and Mistral.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/>
              <a:t>TRANSLATE: Converts text between languages (e.g., English, German, French, Japanese).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/>
              <a:t>SENTIMENT: Scores text from -1 (negative) to 1 (positive).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/>
              <a:t>SUMMARIZE: Condenses long-form text into concise summaries.</a:t>
            </a:r>
          </a:p>
          <a:p>
            <a:endParaRPr lang="en-IN" dirty="0"/>
          </a:p>
          <a:p>
            <a:r>
              <a:rPr lang="en-IN" b="1" dirty="0"/>
              <a:t>Cortex Analyst:</a:t>
            </a:r>
            <a:r>
              <a:rPr lang="en-IN" dirty="0"/>
              <a:t> A conversational interface that allows business users to ask questions about structured data in natural language, which is then converted into accurate SQL queries using a semantic model.</a:t>
            </a:r>
          </a:p>
          <a:p>
            <a:endParaRPr lang="en-IN" dirty="0"/>
          </a:p>
          <a:p>
            <a:r>
              <a:rPr lang="en-IN" b="1" dirty="0"/>
              <a:t>Cortex Search:</a:t>
            </a:r>
            <a:r>
              <a:rPr lang="en-IN" dirty="0"/>
              <a:t> A hybrid search service (combining semantic and keyword search) designed for high-performance retrieval-augmented generation (RAG) applications over unstructured data like documents.</a:t>
            </a:r>
          </a:p>
          <a:p>
            <a:endParaRPr lang="en-IN" dirty="0"/>
          </a:p>
          <a:p>
            <a:r>
              <a:rPr lang="en-IN" b="1" dirty="0"/>
              <a:t>Cortex Agents: </a:t>
            </a:r>
            <a:r>
              <a:rPr lang="en-IN" dirty="0"/>
              <a:t>Intelligent agents that orchestrate across both structured (Analyst) and unstructured (Search) sources to answer complex, multi-step business queries.</a:t>
            </a:r>
          </a:p>
          <a:p>
            <a:endParaRPr lang="en-IN" b="1" dirty="0"/>
          </a:p>
          <a:p>
            <a:r>
              <a:rPr lang="en-IN" b="1" dirty="0"/>
              <a:t>Cortex Fine-Tuning: </a:t>
            </a:r>
            <a:r>
              <a:rPr lang="en-IN" dirty="0"/>
              <a:t>A managed service that allows users to customize base LLMs with their own data to improve performance on domain-specific tasks while reducing latency and cost. </a:t>
            </a:r>
          </a:p>
        </p:txBody>
      </p:sp>
    </p:spTree>
    <p:extLst>
      <p:ext uri="{BB962C8B-B14F-4D97-AF65-F5344CB8AC3E}">
        <p14:creationId xmlns:p14="http://schemas.microsoft.com/office/powerpoint/2010/main" val="833414240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1B12E08B-88C8-3FE8-4BE4-10AF2733B6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43934"/>
            <a:ext cx="587959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b="1" dirty="0"/>
          </a:p>
        </p:txBody>
      </p:sp>
      <p:sp>
        <p:nvSpPr>
          <p:cNvPr id="2" name="AutoShape 2" descr="Security and Governance Best Practices for Deploying ...">
            <a:extLst>
              <a:ext uri="{FF2B5EF4-FFF2-40B4-BE49-F238E27FC236}">
                <a16:creationId xmlns:a16="http://schemas.microsoft.com/office/drawing/2014/main" id="{80974920-A599-1B14-8E6D-A6D87A1687B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8C78CF-EC1B-F527-3D52-147911E68BAD}"/>
              </a:ext>
            </a:extLst>
          </p:cNvPr>
          <p:cNvSpPr txBox="1"/>
          <p:nvPr/>
        </p:nvSpPr>
        <p:spPr>
          <a:xfrm>
            <a:off x="310896" y="474345"/>
            <a:ext cx="10904220" cy="2616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IN" b="1" dirty="0"/>
              <a:t>Developer Tools</a:t>
            </a:r>
          </a:p>
          <a:p>
            <a:pPr>
              <a:spcBef>
                <a:spcPts val="600"/>
              </a:spcBef>
            </a:pPr>
            <a:r>
              <a:rPr lang="en-IN" dirty="0"/>
              <a:t>Cortex Playground: A visual interface in </a:t>
            </a:r>
            <a:r>
              <a:rPr lang="en-IN" dirty="0" err="1"/>
              <a:t>Snowsight</a:t>
            </a:r>
            <a:r>
              <a:rPr lang="en-IN" dirty="0"/>
              <a:t> (AI &amp; ML Studio) to test, compare, and refine prompts across different LLMs before deployment.</a:t>
            </a:r>
          </a:p>
          <a:p>
            <a:pPr>
              <a:spcBef>
                <a:spcPts val="600"/>
              </a:spcBef>
            </a:pPr>
            <a:r>
              <a:rPr lang="en-IN" b="1" dirty="0"/>
              <a:t>AI Observability: </a:t>
            </a:r>
            <a:r>
              <a:rPr lang="en-IN" dirty="0"/>
              <a:t>Features for tracing, evaluating, and benchmarking AI applications to ensure accuracy and cost-efficiency using "LLM-as-a-judge" techniques.</a:t>
            </a:r>
          </a:p>
          <a:p>
            <a:pPr>
              <a:spcBef>
                <a:spcPts val="600"/>
              </a:spcBef>
            </a:pPr>
            <a:r>
              <a:rPr lang="en-IN" b="1" dirty="0"/>
              <a:t>Cortex REST API: </a:t>
            </a:r>
            <a:r>
              <a:rPr lang="en-IN" dirty="0"/>
              <a:t>Enables developers to integrate Cortex AI capabilities into external custom applications using standard HTTP requests.</a:t>
            </a:r>
          </a:p>
          <a:p>
            <a:pPr>
              <a:spcBef>
                <a:spcPts val="600"/>
              </a:spcBef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83958071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1B12E08B-88C8-3FE8-4BE4-10AF2733B6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43934"/>
            <a:ext cx="587959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b="1" dirty="0"/>
          </a:p>
        </p:txBody>
      </p:sp>
      <p:sp>
        <p:nvSpPr>
          <p:cNvPr id="2" name="AutoShape 2" descr="Security and Governance Best Practices for Deploying ...">
            <a:extLst>
              <a:ext uri="{FF2B5EF4-FFF2-40B4-BE49-F238E27FC236}">
                <a16:creationId xmlns:a16="http://schemas.microsoft.com/office/drawing/2014/main" id="{80974920-A599-1B14-8E6D-A6D87A1687B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8C78CF-EC1B-F527-3D52-147911E68BAD}"/>
              </a:ext>
            </a:extLst>
          </p:cNvPr>
          <p:cNvSpPr txBox="1"/>
          <p:nvPr/>
        </p:nvSpPr>
        <p:spPr>
          <a:xfrm>
            <a:off x="310896" y="474345"/>
            <a:ext cx="10904220" cy="320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IN" b="1" dirty="0"/>
              <a:t>Cortex AI Functions</a:t>
            </a:r>
          </a:p>
          <a:p>
            <a:pPr>
              <a:spcBef>
                <a:spcPts val="600"/>
              </a:spcBef>
            </a:pPr>
            <a:r>
              <a:rPr lang="en-US" b="1" i="0" dirty="0">
                <a:effectLst/>
                <a:latin typeface="Google Sans"/>
              </a:rPr>
              <a:t>Cortex AI Functions</a:t>
            </a:r>
            <a:r>
              <a:rPr lang="en-US" b="0" i="0" dirty="0">
                <a:effectLst/>
                <a:latin typeface="Google Sans"/>
              </a:rPr>
              <a:t>: Ready-to-use LLM functions accessible via SQL or Python for common tasks:</a:t>
            </a:r>
          </a:p>
          <a:p>
            <a:pPr>
              <a:spcBef>
                <a:spcPts val="600"/>
              </a:spcBef>
            </a:pPr>
            <a:r>
              <a:rPr lang="en-US" b="1" dirty="0"/>
              <a:t>Cortex Function Categories</a:t>
            </a:r>
          </a:p>
          <a:p>
            <a:pPr>
              <a:spcBef>
                <a:spcPts val="600"/>
              </a:spcBef>
            </a:pPr>
            <a:r>
              <a:rPr lang="en-US" b="1" dirty="0"/>
              <a:t>LLM &amp; Text Generation Functions use for</a:t>
            </a:r>
          </a:p>
          <a:p>
            <a:pPr lvl="1">
              <a:spcBef>
                <a:spcPts val="600"/>
              </a:spcBef>
            </a:pPr>
            <a:r>
              <a:rPr lang="en-US" dirty="0"/>
              <a:t>Summarization</a:t>
            </a:r>
          </a:p>
          <a:p>
            <a:pPr lvl="1">
              <a:spcBef>
                <a:spcPts val="600"/>
              </a:spcBef>
            </a:pPr>
            <a:r>
              <a:rPr lang="en-US" dirty="0"/>
              <a:t>Explanation</a:t>
            </a:r>
          </a:p>
          <a:p>
            <a:pPr lvl="1">
              <a:spcBef>
                <a:spcPts val="600"/>
              </a:spcBef>
            </a:pPr>
            <a:r>
              <a:rPr lang="en-US" dirty="0"/>
              <a:t>Content creation</a:t>
            </a:r>
          </a:p>
          <a:p>
            <a:pPr lvl="1">
              <a:spcBef>
                <a:spcPts val="600"/>
              </a:spcBef>
            </a:pPr>
            <a:r>
              <a:rPr lang="en-US" dirty="0"/>
              <a:t>Chatbots</a:t>
            </a:r>
          </a:p>
          <a:p>
            <a:pPr lvl="1">
              <a:spcBef>
                <a:spcPts val="600"/>
              </a:spcBef>
            </a:pPr>
            <a:r>
              <a:rPr lang="en-US" dirty="0"/>
              <a:t>Report generation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84130433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1B12E08B-88C8-3FE8-4BE4-10AF2733B6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43934"/>
            <a:ext cx="587959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b="1" dirty="0"/>
          </a:p>
        </p:txBody>
      </p:sp>
      <p:sp>
        <p:nvSpPr>
          <p:cNvPr id="2" name="AutoShape 2" descr="Security and Governance Best Practices for Deploying ...">
            <a:extLst>
              <a:ext uri="{FF2B5EF4-FFF2-40B4-BE49-F238E27FC236}">
                <a16:creationId xmlns:a16="http://schemas.microsoft.com/office/drawing/2014/main" id="{80974920-A599-1B14-8E6D-A6D87A1687B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8C78CF-EC1B-F527-3D52-147911E68BAD}"/>
              </a:ext>
            </a:extLst>
          </p:cNvPr>
          <p:cNvSpPr txBox="1"/>
          <p:nvPr/>
        </p:nvSpPr>
        <p:spPr>
          <a:xfrm>
            <a:off x="310896" y="474345"/>
            <a:ext cx="10904220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b="1" dirty="0"/>
              <a:t>COMPLETE() </a:t>
            </a:r>
            <a:r>
              <a:rPr lang="en-US" dirty="0"/>
              <a:t>as a serverless SQL function that calls a Large Language Model (LLM) to generate text completions—summaries, explanations, rewrites, SQL help, classifications, and more—directly inside Snowflake.</a:t>
            </a:r>
          </a:p>
          <a:p>
            <a:pPr>
              <a:spcBef>
                <a:spcPts val="600"/>
              </a:spcBef>
            </a:pPr>
            <a:endParaRPr lang="en-US" dirty="0"/>
          </a:p>
          <a:p>
            <a:pPr>
              <a:spcBef>
                <a:spcPts val="600"/>
              </a:spcBef>
            </a:pPr>
            <a:r>
              <a:rPr lang="en-US" b="1" dirty="0"/>
              <a:t>What COMPLETE() does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Takes a prompt (text) as input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Sends it to an LLM hosted/managed by Snowflake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Returns generated text as a SQL result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spcBef>
                <a:spcPts val="600"/>
              </a:spcBef>
            </a:pPr>
            <a:r>
              <a:rPr lang="en-IN" dirty="0"/>
              <a:t>Syntax</a:t>
            </a:r>
          </a:p>
          <a:p>
            <a:pPr lvl="1">
              <a:spcBef>
                <a:spcPts val="600"/>
              </a:spcBef>
            </a:pPr>
            <a:r>
              <a:rPr lang="en-IN" dirty="0"/>
              <a:t>SNOWFLAKE.CORTEX.COMPLETE(</a:t>
            </a:r>
          </a:p>
          <a:p>
            <a:pPr lvl="1">
              <a:spcBef>
                <a:spcPts val="600"/>
              </a:spcBef>
            </a:pPr>
            <a:r>
              <a:rPr lang="en-IN" dirty="0"/>
              <a:t>   </a:t>
            </a:r>
            <a:r>
              <a:rPr lang="en-IN" dirty="0" err="1"/>
              <a:t>model_name</a:t>
            </a:r>
            <a:r>
              <a:rPr lang="en-IN" dirty="0"/>
              <a:t>,</a:t>
            </a:r>
          </a:p>
          <a:p>
            <a:pPr lvl="1">
              <a:spcBef>
                <a:spcPts val="600"/>
              </a:spcBef>
            </a:pPr>
            <a:r>
              <a:rPr lang="en-IN" dirty="0"/>
              <a:t>   prompt</a:t>
            </a:r>
          </a:p>
          <a:p>
            <a:pPr lvl="1">
              <a:spcBef>
                <a:spcPts val="600"/>
              </a:spcBef>
            </a:pPr>
            <a:r>
              <a:rPr lang="en-IN" dirty="0"/>
              <a:t>)</a:t>
            </a:r>
          </a:p>
          <a:p>
            <a:pPr lvl="1">
              <a:spcBef>
                <a:spcPts val="600"/>
              </a:spcBef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02988184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1B12E08B-88C8-3FE8-4BE4-10AF2733B6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43934"/>
            <a:ext cx="587959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b="1" dirty="0"/>
          </a:p>
        </p:txBody>
      </p:sp>
      <p:sp>
        <p:nvSpPr>
          <p:cNvPr id="2" name="AutoShape 2" descr="Security and Governance Best Practices for Deploying ...">
            <a:extLst>
              <a:ext uri="{FF2B5EF4-FFF2-40B4-BE49-F238E27FC236}">
                <a16:creationId xmlns:a16="http://schemas.microsoft.com/office/drawing/2014/main" id="{80974920-A599-1B14-8E6D-A6D87A1687B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F4B674E-315B-9440-5609-665C993C34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4855072"/>
              </p:ext>
            </p:extLst>
          </p:nvPr>
        </p:nvGraphicFramePr>
        <p:xfrm>
          <a:off x="658368" y="573945"/>
          <a:ext cx="9390888" cy="2194560"/>
        </p:xfrm>
        <a:graphic>
          <a:graphicData uri="http://schemas.openxmlformats.org/drawingml/2006/table">
            <a:tbl>
              <a:tblPr/>
              <a:tblGrid>
                <a:gridCol w="4695444">
                  <a:extLst>
                    <a:ext uri="{9D8B030D-6E8A-4147-A177-3AD203B41FA5}">
                      <a16:colId xmlns:a16="http://schemas.microsoft.com/office/drawing/2014/main" val="4265953440"/>
                    </a:ext>
                  </a:extLst>
                </a:gridCol>
                <a:gridCol w="4695444">
                  <a:extLst>
                    <a:ext uri="{9D8B030D-6E8A-4147-A177-3AD203B41FA5}">
                      <a16:colId xmlns:a16="http://schemas.microsoft.com/office/drawing/2014/main" val="255544745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Use case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How COMPLETE() helps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401419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 b="1"/>
                        <a:t>Data summarization</a:t>
                      </a:r>
                      <a:endParaRPr lang="en-IN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Summarize reports, logs, comments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058307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 b="1"/>
                        <a:t>SQL explanation</a:t>
                      </a:r>
                      <a:endParaRPr lang="en-IN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Explain complex SQL to users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959509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 b="1"/>
                        <a:t>Text rewriting</a:t>
                      </a:r>
                      <a:endParaRPr lang="en-IN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Formalize emails, simplify notes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577671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 b="1" dirty="0"/>
                        <a:t>Documentation</a:t>
                      </a:r>
                      <a:endParaRPr lang="en-IN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Auto-generate column or table descriptions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149064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 b="1"/>
                        <a:t>Analytics narratives</a:t>
                      </a:r>
                      <a:endParaRPr lang="en-IN" sz="18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Convert numbers into insights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84392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36956277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1B12E08B-88C8-3FE8-4BE4-10AF2733B6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43934"/>
            <a:ext cx="587959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b="1" dirty="0"/>
          </a:p>
        </p:txBody>
      </p:sp>
      <p:sp>
        <p:nvSpPr>
          <p:cNvPr id="2" name="AutoShape 2" descr="Security and Governance Best Practices for Deploying ...">
            <a:extLst>
              <a:ext uri="{FF2B5EF4-FFF2-40B4-BE49-F238E27FC236}">
                <a16:creationId xmlns:a16="http://schemas.microsoft.com/office/drawing/2014/main" id="{80974920-A599-1B14-8E6D-A6D87A1687B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B8CC08-5024-F35B-1FCA-154C2C971B5B}"/>
              </a:ext>
            </a:extLst>
          </p:cNvPr>
          <p:cNvSpPr txBox="1"/>
          <p:nvPr/>
        </p:nvSpPr>
        <p:spPr>
          <a:xfrm>
            <a:off x="395478" y="413266"/>
            <a:ext cx="11564874" cy="3677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What is CLASSIFY_TEXT()?</a:t>
            </a:r>
          </a:p>
          <a:p>
            <a:endParaRPr lang="en-IN" dirty="0"/>
          </a:p>
          <a:p>
            <a:pPr>
              <a:spcBef>
                <a:spcPts val="600"/>
              </a:spcBef>
            </a:pPr>
            <a:r>
              <a:rPr lang="en-IN" dirty="0"/>
              <a:t>SNOWFLAKE.CORTEX.CLASSIFY_TEXT() is an AI function that classifies text into one predefined category</a:t>
            </a:r>
          </a:p>
          <a:p>
            <a:pPr lvl="1">
              <a:spcBef>
                <a:spcPts val="600"/>
              </a:spcBef>
            </a:pPr>
            <a:r>
              <a:rPr lang="en-IN" dirty="0"/>
              <a:t>Used for intent detection, tagging, routing, and categorization</a:t>
            </a:r>
          </a:p>
          <a:p>
            <a:pPr lvl="1">
              <a:spcBef>
                <a:spcPts val="600"/>
              </a:spcBef>
            </a:pPr>
            <a:r>
              <a:rPr lang="en-IN" dirty="0"/>
              <a:t>Returns the best matching label from your list</a:t>
            </a:r>
          </a:p>
          <a:p>
            <a:endParaRPr lang="en-IN" dirty="0"/>
          </a:p>
          <a:p>
            <a:r>
              <a:rPr lang="en-IN" dirty="0"/>
              <a:t>When to Use</a:t>
            </a:r>
          </a:p>
          <a:p>
            <a:pPr lvl="1">
              <a:spcBef>
                <a:spcPts val="600"/>
              </a:spcBef>
            </a:pPr>
            <a:r>
              <a:rPr lang="en-IN" dirty="0"/>
              <a:t>Support ticket routing</a:t>
            </a:r>
          </a:p>
          <a:p>
            <a:pPr lvl="1">
              <a:spcBef>
                <a:spcPts val="600"/>
              </a:spcBef>
            </a:pPr>
            <a:r>
              <a:rPr lang="en-IN" dirty="0"/>
              <a:t>Email / feedback classification</a:t>
            </a:r>
          </a:p>
          <a:p>
            <a:pPr lvl="1">
              <a:spcBef>
                <a:spcPts val="600"/>
              </a:spcBef>
            </a:pPr>
            <a:r>
              <a:rPr lang="en-IN" dirty="0"/>
              <a:t>Expense narration tagging</a:t>
            </a:r>
          </a:p>
          <a:p>
            <a:pPr lvl="1">
              <a:spcBef>
                <a:spcPts val="600"/>
              </a:spcBef>
            </a:pPr>
            <a:r>
              <a:rPr lang="en-IN" dirty="0"/>
              <a:t>Review or comment categorization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40A9B1C-F795-C469-7CA4-CB1A78E8273C}"/>
              </a:ext>
            </a:extLst>
          </p:cNvPr>
          <p:cNvSpPr txBox="1"/>
          <p:nvPr/>
        </p:nvSpPr>
        <p:spPr>
          <a:xfrm>
            <a:off x="642366" y="4592288"/>
            <a:ext cx="609447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SNOWFLAKE.CORTEX.CLASSIFY_TEXT(</a:t>
            </a:r>
          </a:p>
          <a:p>
            <a:r>
              <a:rPr lang="en-IN" dirty="0"/>
              <a:t>  &lt;text&gt;,</a:t>
            </a:r>
          </a:p>
          <a:p>
            <a:r>
              <a:rPr lang="en-IN" dirty="0"/>
              <a:t>  &lt;categories&gt;,</a:t>
            </a:r>
          </a:p>
          <a:p>
            <a:r>
              <a:rPr lang="en-IN" dirty="0"/>
              <a:t>  [options]</a:t>
            </a:r>
          </a:p>
          <a:p>
            <a:r>
              <a:rPr lang="en-IN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741254871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1B12E08B-88C8-3FE8-4BE4-10AF2733B6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43934"/>
            <a:ext cx="587959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b="1" dirty="0"/>
          </a:p>
        </p:txBody>
      </p:sp>
      <p:sp>
        <p:nvSpPr>
          <p:cNvPr id="2" name="AutoShape 2" descr="Security and Governance Best Practices for Deploying ...">
            <a:extLst>
              <a:ext uri="{FF2B5EF4-FFF2-40B4-BE49-F238E27FC236}">
                <a16:creationId xmlns:a16="http://schemas.microsoft.com/office/drawing/2014/main" id="{80974920-A599-1B14-8E6D-A6D87A1687B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40A9B1C-F795-C469-7CA4-CB1A78E8273C}"/>
              </a:ext>
            </a:extLst>
          </p:cNvPr>
          <p:cNvSpPr txBox="1"/>
          <p:nvPr/>
        </p:nvSpPr>
        <p:spPr>
          <a:xfrm>
            <a:off x="505206" y="4061936"/>
            <a:ext cx="609447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TRANSLATE(</a:t>
            </a:r>
          </a:p>
          <a:p>
            <a:r>
              <a:rPr lang="en-IN" dirty="0"/>
              <a:t>   &lt;text&gt;,</a:t>
            </a:r>
          </a:p>
          <a:p>
            <a:r>
              <a:rPr lang="en-IN" dirty="0"/>
              <a:t>   &lt;</a:t>
            </a:r>
            <a:r>
              <a:rPr lang="en-IN" dirty="0" err="1"/>
              <a:t>source_language</a:t>
            </a:r>
            <a:r>
              <a:rPr lang="en-IN" dirty="0"/>
              <a:t>&gt;,</a:t>
            </a:r>
          </a:p>
          <a:p>
            <a:r>
              <a:rPr lang="en-IN" dirty="0"/>
              <a:t>   &lt;</a:t>
            </a:r>
            <a:r>
              <a:rPr lang="en-IN" dirty="0" err="1"/>
              <a:t>target_language</a:t>
            </a:r>
            <a:r>
              <a:rPr lang="en-IN" dirty="0"/>
              <a:t>&gt;</a:t>
            </a:r>
          </a:p>
          <a:p>
            <a:r>
              <a:rPr lang="en-IN" dirty="0"/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F2BC4C-529C-16F0-586D-E94DB632D471}"/>
              </a:ext>
            </a:extLst>
          </p:cNvPr>
          <p:cNvSpPr txBox="1"/>
          <p:nvPr/>
        </p:nvSpPr>
        <p:spPr>
          <a:xfrm>
            <a:off x="569214" y="624358"/>
            <a:ext cx="10165842" cy="28469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IN" b="1" dirty="0"/>
              <a:t>TRANSLATE()</a:t>
            </a:r>
            <a:r>
              <a:rPr lang="en-IN" dirty="0"/>
              <a:t> is a Cortex AI function used to translate text from one language to another using </a:t>
            </a:r>
          </a:p>
          <a:p>
            <a:pPr>
              <a:spcBef>
                <a:spcPts val="600"/>
              </a:spcBef>
            </a:pPr>
            <a:r>
              <a:rPr lang="en-IN" dirty="0"/>
              <a:t>large language models.</a:t>
            </a:r>
          </a:p>
          <a:p>
            <a:pPr>
              <a:spcBef>
                <a:spcPts val="600"/>
              </a:spcBef>
            </a:pPr>
            <a:endParaRPr lang="en-IN" dirty="0"/>
          </a:p>
          <a:p>
            <a:pPr>
              <a:spcBef>
                <a:spcPts val="600"/>
              </a:spcBef>
            </a:pPr>
            <a:r>
              <a:rPr lang="en-IN" b="1" dirty="0"/>
              <a:t>Key Capabilities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/>
              <a:t>Works on VARCHAR / TEXT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/>
              <a:t>Supports 100+ languages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/>
              <a:t>Handles sentences, paragraphs, business text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/>
              <a:t>Runs fully inside Snowflake</a:t>
            </a:r>
          </a:p>
        </p:txBody>
      </p:sp>
    </p:spTree>
    <p:extLst>
      <p:ext uri="{BB962C8B-B14F-4D97-AF65-F5344CB8AC3E}">
        <p14:creationId xmlns:p14="http://schemas.microsoft.com/office/powerpoint/2010/main" val="293975909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1B12E08B-88C8-3FE8-4BE4-10AF2733B6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487" y="285988"/>
            <a:ext cx="587959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b="1" dirty="0"/>
              <a:t>Language Codes (Examples)</a:t>
            </a:r>
          </a:p>
        </p:txBody>
      </p:sp>
      <p:sp>
        <p:nvSpPr>
          <p:cNvPr id="2" name="AutoShape 2" descr="Security and Governance Best Practices for Deploying ...">
            <a:extLst>
              <a:ext uri="{FF2B5EF4-FFF2-40B4-BE49-F238E27FC236}">
                <a16:creationId xmlns:a16="http://schemas.microsoft.com/office/drawing/2014/main" id="{80974920-A599-1B14-8E6D-A6D87A1687B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915B99C-67BC-0A25-296B-53C1BA113D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0149440"/>
              </p:ext>
            </p:extLst>
          </p:nvPr>
        </p:nvGraphicFramePr>
        <p:xfrm>
          <a:off x="621792" y="747681"/>
          <a:ext cx="10131424" cy="2926080"/>
        </p:xfrm>
        <a:graphic>
          <a:graphicData uri="http://schemas.openxmlformats.org/drawingml/2006/table">
            <a:tbl>
              <a:tblPr/>
              <a:tblGrid>
                <a:gridCol w="5065712">
                  <a:extLst>
                    <a:ext uri="{9D8B030D-6E8A-4147-A177-3AD203B41FA5}">
                      <a16:colId xmlns:a16="http://schemas.microsoft.com/office/drawing/2014/main" val="694401802"/>
                    </a:ext>
                  </a:extLst>
                </a:gridCol>
                <a:gridCol w="5065712">
                  <a:extLst>
                    <a:ext uri="{9D8B030D-6E8A-4147-A177-3AD203B41FA5}">
                      <a16:colId xmlns:a16="http://schemas.microsoft.com/office/drawing/2014/main" val="2345293507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Language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Code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927951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English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en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799613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Hindi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hi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0704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Tamil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097907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Telugu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73947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French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fr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214909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German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239336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Spanish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12686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74031837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Security and Governance Best Practices for Deploying ...">
            <a:extLst>
              <a:ext uri="{FF2B5EF4-FFF2-40B4-BE49-F238E27FC236}">
                <a16:creationId xmlns:a16="http://schemas.microsoft.com/office/drawing/2014/main" id="{80974920-A599-1B14-8E6D-A6D87A1687B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9568602-968A-C8AC-6925-40590A6342FD}"/>
              </a:ext>
            </a:extLst>
          </p:cNvPr>
          <p:cNvSpPr txBox="1"/>
          <p:nvPr/>
        </p:nvSpPr>
        <p:spPr>
          <a:xfrm>
            <a:off x="109728" y="402336"/>
            <a:ext cx="9031986" cy="56015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IN" b="1" dirty="0"/>
              <a:t>What is SNOWFLAKE.CORTEX.SENTIMENT?</a:t>
            </a:r>
          </a:p>
          <a:p>
            <a:pPr>
              <a:spcBef>
                <a:spcPts val="600"/>
              </a:spcBef>
            </a:pPr>
            <a:r>
              <a:rPr lang="en-IN" dirty="0"/>
              <a:t>SNOWFLAKE.CORTEX.SENTIMENT is an AI function that </a:t>
            </a:r>
            <a:r>
              <a:rPr lang="en-IN" dirty="0" err="1"/>
              <a:t>analyzes</a:t>
            </a:r>
            <a:r>
              <a:rPr lang="en-IN" dirty="0"/>
              <a:t> text and determines the emotional tone of the content.</a:t>
            </a:r>
          </a:p>
          <a:p>
            <a:pPr>
              <a:spcBef>
                <a:spcPts val="600"/>
              </a:spcBef>
            </a:pPr>
            <a:r>
              <a:rPr lang="en-IN" dirty="0"/>
              <a:t>It answers: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/>
              <a:t>“Is this text Positive, Negative, or Neutral?”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/>
              <a:t>Works directly in SQL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/>
              <a:t>No model training required</a:t>
            </a:r>
          </a:p>
          <a:p>
            <a:pPr>
              <a:spcBef>
                <a:spcPts val="600"/>
              </a:spcBef>
            </a:pPr>
            <a:r>
              <a:rPr lang="en-IN" dirty="0"/>
              <a:t>Uses Snowflake-managed Large Language Models (LLMs)</a:t>
            </a:r>
          </a:p>
          <a:p>
            <a:pPr>
              <a:spcBef>
                <a:spcPts val="600"/>
              </a:spcBef>
            </a:pPr>
            <a:endParaRPr lang="en-IN" dirty="0"/>
          </a:p>
          <a:p>
            <a:pPr>
              <a:spcBef>
                <a:spcPts val="600"/>
              </a:spcBef>
            </a:pPr>
            <a:r>
              <a:rPr lang="en-IN" b="1" dirty="0"/>
              <a:t>Why Sentiment Analysis Matters (Business Context)</a:t>
            </a:r>
          </a:p>
          <a:p>
            <a:pPr>
              <a:spcBef>
                <a:spcPts val="600"/>
              </a:spcBef>
            </a:pPr>
            <a:r>
              <a:rPr lang="en-IN" b="1" dirty="0"/>
              <a:t>Common business questions:</a:t>
            </a:r>
          </a:p>
          <a:p>
            <a:pPr lvl="1">
              <a:spcBef>
                <a:spcPts val="600"/>
              </a:spcBef>
            </a:pPr>
            <a:r>
              <a:rPr lang="en-IN" dirty="0"/>
              <a:t>Are customers happy or unhappy?</a:t>
            </a:r>
          </a:p>
          <a:p>
            <a:pPr lvl="1">
              <a:spcBef>
                <a:spcPts val="600"/>
              </a:spcBef>
            </a:pPr>
            <a:r>
              <a:rPr lang="en-IN" dirty="0"/>
              <a:t>Which products generate negative feedback?</a:t>
            </a:r>
          </a:p>
          <a:p>
            <a:pPr lvl="1">
              <a:spcBef>
                <a:spcPts val="600"/>
              </a:spcBef>
            </a:pPr>
            <a:r>
              <a:rPr lang="en-IN" dirty="0"/>
              <a:t>Are complaints increasing month-over-month?</a:t>
            </a:r>
          </a:p>
          <a:p>
            <a:pPr lvl="1">
              <a:spcBef>
                <a:spcPts val="600"/>
              </a:spcBef>
            </a:pPr>
            <a:r>
              <a:rPr lang="en-IN" dirty="0"/>
              <a:t>What is the overall mood of users?</a:t>
            </a:r>
          </a:p>
          <a:p>
            <a:pPr>
              <a:spcBef>
                <a:spcPts val="600"/>
              </a:spcBef>
            </a:pPr>
            <a:r>
              <a:rPr lang="en-IN" dirty="0"/>
              <a:t>Cortex SENTIMENT solves this at scale inside Snowflake.</a:t>
            </a:r>
          </a:p>
        </p:txBody>
      </p:sp>
    </p:spTree>
    <p:extLst>
      <p:ext uri="{BB962C8B-B14F-4D97-AF65-F5344CB8AC3E}">
        <p14:creationId xmlns:p14="http://schemas.microsoft.com/office/powerpoint/2010/main" val="959084818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Security and Governance Best Practices for Deploying ...">
            <a:extLst>
              <a:ext uri="{FF2B5EF4-FFF2-40B4-BE49-F238E27FC236}">
                <a16:creationId xmlns:a16="http://schemas.microsoft.com/office/drawing/2014/main" id="{80974920-A599-1B14-8E6D-A6D87A1687B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9568602-968A-C8AC-6925-40590A6342FD}"/>
              </a:ext>
            </a:extLst>
          </p:cNvPr>
          <p:cNvSpPr txBox="1"/>
          <p:nvPr/>
        </p:nvSpPr>
        <p:spPr>
          <a:xfrm>
            <a:off x="109728" y="402336"/>
            <a:ext cx="9031986" cy="35548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b="1" dirty="0"/>
              <a:t>Function Syntax</a:t>
            </a:r>
          </a:p>
          <a:p>
            <a:pPr>
              <a:spcBef>
                <a:spcPts val="600"/>
              </a:spcBef>
            </a:pPr>
            <a:r>
              <a:rPr lang="en-US" dirty="0"/>
              <a:t>SNOWFLAKE.CORTEX.SENTIMENT(&lt;text&gt;)</a:t>
            </a:r>
          </a:p>
          <a:p>
            <a:pPr>
              <a:spcBef>
                <a:spcPts val="600"/>
              </a:spcBef>
            </a:pPr>
            <a:r>
              <a:rPr lang="en-US" b="1" dirty="0"/>
              <a:t>Input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STRING / VARCHAR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Can be a literal or column value</a:t>
            </a:r>
          </a:p>
          <a:p>
            <a:pPr>
              <a:spcBef>
                <a:spcPts val="600"/>
              </a:spcBef>
            </a:pPr>
            <a:endParaRPr lang="en-US" dirty="0"/>
          </a:p>
          <a:p>
            <a:pPr>
              <a:spcBef>
                <a:spcPts val="600"/>
              </a:spcBef>
            </a:pPr>
            <a:r>
              <a:rPr lang="en-US" b="1" dirty="0"/>
              <a:t>Output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POSITIVE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NEGATIVE</a:t>
            </a:r>
          </a:p>
          <a:p>
            <a:pPr marL="742950" lvl="1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NEUTRAL</a:t>
            </a: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DDF8265-0537-65F3-DEB1-1C4E16C0A4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2020241"/>
              </p:ext>
            </p:extLst>
          </p:nvPr>
        </p:nvGraphicFramePr>
        <p:xfrm>
          <a:off x="402336" y="4478433"/>
          <a:ext cx="10131424" cy="1463040"/>
        </p:xfrm>
        <a:graphic>
          <a:graphicData uri="http://schemas.openxmlformats.org/drawingml/2006/table">
            <a:tbl>
              <a:tblPr/>
              <a:tblGrid>
                <a:gridCol w="5065712">
                  <a:extLst>
                    <a:ext uri="{9D8B030D-6E8A-4147-A177-3AD203B41FA5}">
                      <a16:colId xmlns:a16="http://schemas.microsoft.com/office/drawing/2014/main" val="2739573581"/>
                    </a:ext>
                  </a:extLst>
                </a:gridCol>
                <a:gridCol w="5065712">
                  <a:extLst>
                    <a:ext uri="{9D8B030D-6E8A-4147-A177-3AD203B41FA5}">
                      <a16:colId xmlns:a16="http://schemas.microsoft.com/office/drawing/2014/main" val="220296674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Score range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Meaning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353859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+0.25 to +1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Positive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094227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–0.25 to +0.25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Neutral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738811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–1 to –0.25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Negative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70380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51753173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Security and Governance Best Practices for Deploying ...">
            <a:extLst>
              <a:ext uri="{FF2B5EF4-FFF2-40B4-BE49-F238E27FC236}">
                <a16:creationId xmlns:a16="http://schemas.microsoft.com/office/drawing/2014/main" id="{80974920-A599-1B14-8E6D-A6D87A1687B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9568602-968A-C8AC-6925-40590A6342FD}"/>
              </a:ext>
            </a:extLst>
          </p:cNvPr>
          <p:cNvSpPr txBox="1"/>
          <p:nvPr/>
        </p:nvSpPr>
        <p:spPr>
          <a:xfrm>
            <a:off x="109728" y="402336"/>
            <a:ext cx="9031986" cy="4539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dirty="0"/>
              <a:t>What is EXTRACT_ANSWER()?</a:t>
            </a:r>
          </a:p>
          <a:p>
            <a:pPr>
              <a:spcBef>
                <a:spcPts val="600"/>
              </a:spcBef>
            </a:pPr>
            <a:endParaRPr lang="en-US" dirty="0"/>
          </a:p>
          <a:p>
            <a:pPr>
              <a:spcBef>
                <a:spcPts val="600"/>
              </a:spcBef>
            </a:pPr>
            <a:r>
              <a:rPr lang="en-US" dirty="0"/>
              <a:t>SNOWFLAKE.CORTEX.EXTRACT_ANSWER() is a question-answer extraction function.</a:t>
            </a:r>
          </a:p>
          <a:p>
            <a:pPr>
              <a:spcBef>
                <a:spcPts val="600"/>
              </a:spcBef>
            </a:pPr>
            <a:r>
              <a:rPr lang="en-US" dirty="0"/>
              <a:t>It reads a given passage of text and extracts the most relevant answer to a specific question — without generating new content.</a:t>
            </a:r>
          </a:p>
          <a:p>
            <a:pPr>
              <a:spcBef>
                <a:spcPts val="600"/>
              </a:spcBef>
            </a:pPr>
            <a:endParaRPr lang="en-US" dirty="0"/>
          </a:p>
          <a:p>
            <a:pPr>
              <a:spcBef>
                <a:spcPts val="600"/>
              </a:spcBef>
            </a:pPr>
            <a:r>
              <a:rPr lang="en-US" dirty="0"/>
              <a:t>Think of it as “find the answer inside this text”.</a:t>
            </a:r>
          </a:p>
          <a:p>
            <a:pPr>
              <a:spcBef>
                <a:spcPts val="600"/>
              </a:spcBef>
            </a:pPr>
            <a:endParaRPr lang="en-US" dirty="0"/>
          </a:p>
          <a:p>
            <a:pPr>
              <a:spcBef>
                <a:spcPts val="600"/>
              </a:spcBef>
            </a:pPr>
            <a:r>
              <a:rPr lang="en-US" dirty="0"/>
              <a:t>Basic Syntax</a:t>
            </a:r>
          </a:p>
          <a:p>
            <a:pPr>
              <a:spcBef>
                <a:spcPts val="600"/>
              </a:spcBef>
            </a:pPr>
            <a:r>
              <a:rPr lang="en-US" dirty="0"/>
              <a:t>SNOWFLAKE.CORTEX.EXTRACT_ANSWER(</a:t>
            </a:r>
          </a:p>
          <a:p>
            <a:pPr>
              <a:spcBef>
                <a:spcPts val="600"/>
              </a:spcBef>
            </a:pPr>
            <a:r>
              <a:rPr lang="en-US" dirty="0"/>
              <a:t>  &lt;</a:t>
            </a:r>
            <a:r>
              <a:rPr lang="en-US" dirty="0" err="1"/>
              <a:t>context_text</a:t>
            </a:r>
            <a:r>
              <a:rPr lang="en-US" dirty="0"/>
              <a:t>&gt;,</a:t>
            </a:r>
          </a:p>
          <a:p>
            <a:pPr>
              <a:spcBef>
                <a:spcPts val="600"/>
              </a:spcBef>
            </a:pPr>
            <a:r>
              <a:rPr lang="en-US" dirty="0"/>
              <a:t>  &lt;question&gt;</a:t>
            </a:r>
          </a:p>
          <a:p>
            <a:pPr>
              <a:spcBef>
                <a:spcPts val="600"/>
              </a:spcBef>
            </a:pPr>
            <a:r>
              <a:rPr lang="en-US" dirty="0"/>
              <a:t>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59222052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Security and Governance Best Practices for Deploying ...">
            <a:extLst>
              <a:ext uri="{FF2B5EF4-FFF2-40B4-BE49-F238E27FC236}">
                <a16:creationId xmlns:a16="http://schemas.microsoft.com/office/drawing/2014/main" id="{80974920-A599-1B14-8E6D-A6D87A1687B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9568602-968A-C8AC-6925-40590A6342FD}"/>
              </a:ext>
            </a:extLst>
          </p:cNvPr>
          <p:cNvSpPr txBox="1"/>
          <p:nvPr/>
        </p:nvSpPr>
        <p:spPr>
          <a:xfrm>
            <a:off x="109728" y="402336"/>
            <a:ext cx="9031986" cy="63863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b="1" dirty="0"/>
              <a:t>Snowflake </a:t>
            </a:r>
            <a:r>
              <a:rPr lang="en-US" b="1" dirty="0" err="1"/>
              <a:t>Streamlit</a:t>
            </a:r>
            <a:r>
              <a:rPr lang="en-US" dirty="0"/>
              <a:t> is the </a:t>
            </a:r>
            <a:r>
              <a:rPr lang="en-US" b="1" dirty="0"/>
              <a:t>native integration of </a:t>
            </a:r>
            <a:r>
              <a:rPr lang="en-US" b="1" dirty="0" err="1"/>
              <a:t>Streamlit</a:t>
            </a:r>
            <a:r>
              <a:rPr lang="en-US" b="1" dirty="0"/>
              <a:t> inside Snowflake</a:t>
            </a:r>
            <a:r>
              <a:rPr lang="en-US" dirty="0"/>
              <a:t>, allowing you to: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Build </a:t>
            </a:r>
            <a:r>
              <a:rPr lang="en-US" b="1" dirty="0"/>
              <a:t>interactive dashboards</a:t>
            </a:r>
            <a:endParaRPr lang="en-US" dirty="0"/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Use </a:t>
            </a:r>
            <a:r>
              <a:rPr lang="en-US" b="1" dirty="0"/>
              <a:t>Python only</a:t>
            </a:r>
            <a:endParaRPr lang="en-US" dirty="0"/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Run apps </a:t>
            </a:r>
            <a:r>
              <a:rPr lang="en-US" b="1" dirty="0"/>
              <a:t>inside Snowflake</a:t>
            </a:r>
            <a:endParaRPr lang="en-US" dirty="0"/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dirty="0"/>
              <a:t>Securely access Snowflake data</a:t>
            </a:r>
          </a:p>
          <a:p>
            <a:pPr lvl="1">
              <a:spcBef>
                <a:spcPts val="600"/>
              </a:spcBef>
            </a:pPr>
            <a:r>
              <a:rPr lang="en-US" dirty="0"/>
              <a:t>Think of it as </a:t>
            </a:r>
            <a:r>
              <a:rPr lang="en-US" b="1" dirty="0"/>
              <a:t>BI + Python + Governance</a:t>
            </a:r>
            <a:r>
              <a:rPr lang="en-US" dirty="0"/>
              <a:t> in one platform.</a:t>
            </a:r>
          </a:p>
          <a:p>
            <a:pPr>
              <a:spcBef>
                <a:spcPts val="600"/>
              </a:spcBef>
            </a:pPr>
            <a:endParaRPr lang="en-IN" b="1" dirty="0"/>
          </a:p>
          <a:p>
            <a:pPr>
              <a:spcBef>
                <a:spcPts val="600"/>
              </a:spcBef>
            </a:pPr>
            <a:r>
              <a:rPr lang="en-IN" b="1" dirty="0"/>
              <a:t>Why Snowflake Introduced </a:t>
            </a:r>
            <a:r>
              <a:rPr lang="en-IN" b="1" dirty="0" err="1"/>
              <a:t>Streamlit</a:t>
            </a:r>
            <a:endParaRPr lang="en-IN" b="1" dirty="0"/>
          </a:p>
          <a:p>
            <a:pPr>
              <a:spcBef>
                <a:spcPts val="600"/>
              </a:spcBef>
            </a:pPr>
            <a:r>
              <a:rPr lang="en-IN" b="1" dirty="0"/>
              <a:t>Traditional BI challenges: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/>
              <a:t>Complex licensing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/>
              <a:t>Separate data movement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/>
              <a:t>Weak AI integration</a:t>
            </a:r>
          </a:p>
          <a:p>
            <a:pPr>
              <a:spcBef>
                <a:spcPts val="600"/>
              </a:spcBef>
            </a:pPr>
            <a:r>
              <a:rPr lang="en-IN" b="1" dirty="0"/>
              <a:t>Snowflake </a:t>
            </a:r>
            <a:r>
              <a:rPr lang="en-IN" b="1" dirty="0" err="1"/>
              <a:t>Streamlit</a:t>
            </a:r>
            <a:r>
              <a:rPr lang="en-IN" b="1" dirty="0"/>
              <a:t> solves: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/>
              <a:t>Custom business logic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/>
              <a:t>Secure in-platform execution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/>
              <a:t>Real-time analytics</a:t>
            </a:r>
          </a:p>
          <a:p>
            <a:pPr marL="800100" lvl="1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dirty="0"/>
              <a:t>AI-ready applications</a:t>
            </a:r>
          </a:p>
          <a:p>
            <a:pPr>
              <a:spcBef>
                <a:spcPts val="600"/>
              </a:spcBef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242587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Security and Governance Best Practices for Deploying ...">
            <a:extLst>
              <a:ext uri="{FF2B5EF4-FFF2-40B4-BE49-F238E27FC236}">
                <a16:creationId xmlns:a16="http://schemas.microsoft.com/office/drawing/2014/main" id="{80974920-A599-1B14-8E6D-A6D87A1687B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DD0415-1FA6-D972-E848-D4D4101A2BE1}"/>
              </a:ext>
            </a:extLst>
          </p:cNvPr>
          <p:cNvSpPr txBox="1"/>
          <p:nvPr/>
        </p:nvSpPr>
        <p:spPr>
          <a:xfrm>
            <a:off x="450342" y="539925"/>
            <a:ext cx="6094476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Snowflake </a:t>
            </a:r>
            <a:r>
              <a:rPr lang="en-IN" b="1" dirty="0" err="1"/>
              <a:t>Streamlit</a:t>
            </a:r>
            <a:r>
              <a:rPr lang="en-IN" b="1" dirty="0"/>
              <a:t> Architecture</a:t>
            </a:r>
          </a:p>
          <a:p>
            <a:endParaRPr lang="en-IN" dirty="0"/>
          </a:p>
          <a:p>
            <a:pPr lvl="2"/>
            <a:r>
              <a:rPr lang="en-IN" dirty="0"/>
              <a:t>User Browser</a:t>
            </a:r>
          </a:p>
          <a:p>
            <a:pPr lvl="2"/>
            <a:r>
              <a:rPr lang="en-IN" dirty="0"/>
              <a:t>     ↓</a:t>
            </a:r>
          </a:p>
          <a:p>
            <a:pPr lvl="2"/>
            <a:r>
              <a:rPr lang="en-IN" dirty="0"/>
              <a:t>Snowflake UI (</a:t>
            </a:r>
            <a:r>
              <a:rPr lang="en-IN" dirty="0" err="1"/>
              <a:t>Streamlit</a:t>
            </a:r>
            <a:r>
              <a:rPr lang="en-IN" dirty="0"/>
              <a:t> App)</a:t>
            </a:r>
          </a:p>
          <a:p>
            <a:pPr lvl="2"/>
            <a:r>
              <a:rPr lang="en-IN" dirty="0"/>
              <a:t>     ↓</a:t>
            </a:r>
          </a:p>
          <a:p>
            <a:pPr lvl="2"/>
            <a:r>
              <a:rPr lang="en-IN" dirty="0"/>
              <a:t>Snowpark Python Runtime</a:t>
            </a:r>
          </a:p>
          <a:p>
            <a:pPr lvl="2"/>
            <a:r>
              <a:rPr lang="en-IN" dirty="0"/>
              <a:t>     ↓</a:t>
            </a:r>
          </a:p>
          <a:p>
            <a:pPr lvl="2"/>
            <a:r>
              <a:rPr lang="en-IN" dirty="0"/>
              <a:t>Snowflake Tables / Views</a:t>
            </a:r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✔ Runs inside Snowflake</a:t>
            </a:r>
          </a:p>
          <a:p>
            <a:r>
              <a:rPr lang="en-IN" dirty="0"/>
              <a:t>✔ Uses logged-in user’s role</a:t>
            </a:r>
          </a:p>
          <a:p>
            <a:r>
              <a:rPr lang="en-IN" dirty="0"/>
              <a:t>✔ Fully governed</a:t>
            </a:r>
          </a:p>
        </p:txBody>
      </p:sp>
    </p:spTree>
    <p:extLst>
      <p:ext uri="{BB962C8B-B14F-4D97-AF65-F5344CB8AC3E}">
        <p14:creationId xmlns:p14="http://schemas.microsoft.com/office/powerpoint/2010/main" val="178082714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Security and Governance Best Practices for Deploying ...">
            <a:extLst>
              <a:ext uri="{FF2B5EF4-FFF2-40B4-BE49-F238E27FC236}">
                <a16:creationId xmlns:a16="http://schemas.microsoft.com/office/drawing/2014/main" id="{80974920-A599-1B14-8E6D-A6D87A1687B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DD0415-1FA6-D972-E848-D4D4101A2BE1}"/>
              </a:ext>
            </a:extLst>
          </p:cNvPr>
          <p:cNvSpPr txBox="1"/>
          <p:nvPr/>
        </p:nvSpPr>
        <p:spPr>
          <a:xfrm>
            <a:off x="450342" y="539925"/>
            <a:ext cx="60944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Slide 6: How It Differs from Open-Source </a:t>
            </a:r>
            <a:r>
              <a:rPr lang="en-US" b="1" dirty="0" err="1"/>
              <a:t>Streamlit</a:t>
            </a:r>
            <a:endParaRPr lang="en-US" b="1" dirty="0"/>
          </a:p>
          <a:p>
            <a:endParaRPr lang="en-IN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1BF2C76-7491-2C18-B639-872952BF8B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381189"/>
              </p:ext>
            </p:extLst>
          </p:nvPr>
        </p:nvGraphicFramePr>
        <p:xfrm>
          <a:off x="450342" y="1234440"/>
          <a:ext cx="8556498" cy="2194560"/>
        </p:xfrm>
        <a:graphic>
          <a:graphicData uri="http://schemas.openxmlformats.org/drawingml/2006/table">
            <a:tbl>
              <a:tblPr/>
              <a:tblGrid>
                <a:gridCol w="2852166">
                  <a:extLst>
                    <a:ext uri="{9D8B030D-6E8A-4147-A177-3AD203B41FA5}">
                      <a16:colId xmlns:a16="http://schemas.microsoft.com/office/drawing/2014/main" val="1957615528"/>
                    </a:ext>
                  </a:extLst>
                </a:gridCol>
                <a:gridCol w="2852166">
                  <a:extLst>
                    <a:ext uri="{9D8B030D-6E8A-4147-A177-3AD203B41FA5}">
                      <a16:colId xmlns:a16="http://schemas.microsoft.com/office/drawing/2014/main" val="1618605064"/>
                    </a:ext>
                  </a:extLst>
                </a:gridCol>
                <a:gridCol w="2852166">
                  <a:extLst>
                    <a:ext uri="{9D8B030D-6E8A-4147-A177-3AD203B41FA5}">
                      <a16:colId xmlns:a16="http://schemas.microsoft.com/office/drawing/2014/main" val="106126218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Open Streamlit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Snowflake Streamlit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776576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Hosting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External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Inside Snowflake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564941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Security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Manual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Automatic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309483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Credentials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Required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Not needed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338279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/>
                        <a:t>Governance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Limited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Full RBAC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25782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sz="1800" dirty="0"/>
                        <a:t>Data Access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External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Native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78752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30007086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381248E8-92DC-B766-2411-BDAB432B2D59}"/>
              </a:ext>
            </a:extLst>
          </p:cNvPr>
          <p:cNvSpPr txBox="1"/>
          <p:nvPr/>
        </p:nvSpPr>
        <p:spPr>
          <a:xfrm>
            <a:off x="496062" y="474345"/>
            <a:ext cx="6094476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UI Components</a:t>
            </a:r>
          </a:p>
          <a:p>
            <a:r>
              <a:rPr lang="en-IN" b="1" dirty="0"/>
              <a:t>Display</a:t>
            </a:r>
          </a:p>
          <a:p>
            <a:r>
              <a:rPr lang="en-IN" dirty="0"/>
              <a:t>	</a:t>
            </a:r>
            <a:r>
              <a:rPr lang="en-IN" dirty="0" err="1"/>
              <a:t>st.title</a:t>
            </a:r>
            <a:r>
              <a:rPr lang="en-IN" dirty="0"/>
              <a:t>()</a:t>
            </a:r>
          </a:p>
          <a:p>
            <a:r>
              <a:rPr lang="en-IN" dirty="0"/>
              <a:t>	</a:t>
            </a:r>
            <a:r>
              <a:rPr lang="en-IN" dirty="0" err="1"/>
              <a:t>st.header</a:t>
            </a:r>
            <a:r>
              <a:rPr lang="en-IN" dirty="0"/>
              <a:t>()</a:t>
            </a:r>
          </a:p>
          <a:p>
            <a:r>
              <a:rPr lang="en-IN" dirty="0"/>
              <a:t>	</a:t>
            </a:r>
            <a:r>
              <a:rPr lang="en-IN" dirty="0" err="1"/>
              <a:t>st.metric</a:t>
            </a:r>
            <a:r>
              <a:rPr lang="en-IN" dirty="0"/>
              <a:t>()</a:t>
            </a:r>
          </a:p>
          <a:p>
            <a:r>
              <a:rPr lang="en-IN" dirty="0"/>
              <a:t>	</a:t>
            </a:r>
            <a:r>
              <a:rPr lang="en-IN" dirty="0" err="1"/>
              <a:t>st.markdown</a:t>
            </a:r>
            <a:r>
              <a:rPr lang="en-IN" dirty="0"/>
              <a:t>()</a:t>
            </a:r>
          </a:p>
          <a:p>
            <a:r>
              <a:rPr lang="en-IN" b="1" dirty="0"/>
              <a:t>Data</a:t>
            </a:r>
            <a:r>
              <a:rPr lang="en-IN" dirty="0"/>
              <a:t>	</a:t>
            </a:r>
            <a:r>
              <a:rPr lang="en-IN" dirty="0" err="1"/>
              <a:t>st.dataframe</a:t>
            </a:r>
            <a:r>
              <a:rPr lang="en-IN" dirty="0"/>
              <a:t>()</a:t>
            </a:r>
          </a:p>
          <a:p>
            <a:r>
              <a:rPr lang="en-IN" dirty="0"/>
              <a:t>	</a:t>
            </a:r>
            <a:r>
              <a:rPr lang="en-IN" dirty="0" err="1"/>
              <a:t>st.table</a:t>
            </a:r>
            <a:r>
              <a:rPr lang="en-IN" dirty="0"/>
              <a:t>()</a:t>
            </a:r>
          </a:p>
          <a:p>
            <a:endParaRPr lang="en-IN" dirty="0"/>
          </a:p>
          <a:p>
            <a:r>
              <a:rPr lang="en-IN" b="1" dirty="0"/>
              <a:t>Input Controls</a:t>
            </a:r>
          </a:p>
          <a:p>
            <a:r>
              <a:rPr lang="en-IN" dirty="0"/>
              <a:t>	</a:t>
            </a:r>
            <a:r>
              <a:rPr lang="en-IN" dirty="0" err="1"/>
              <a:t>st.selectbox</a:t>
            </a:r>
            <a:r>
              <a:rPr lang="en-IN" dirty="0"/>
              <a:t>()</a:t>
            </a:r>
          </a:p>
          <a:p>
            <a:r>
              <a:rPr lang="en-IN" dirty="0"/>
              <a:t>	</a:t>
            </a:r>
            <a:r>
              <a:rPr lang="en-IN" dirty="0" err="1"/>
              <a:t>st.multiselect</a:t>
            </a:r>
            <a:r>
              <a:rPr lang="en-IN" dirty="0"/>
              <a:t>()</a:t>
            </a:r>
          </a:p>
          <a:p>
            <a:r>
              <a:rPr lang="en-IN" dirty="0"/>
              <a:t>	</a:t>
            </a:r>
            <a:r>
              <a:rPr lang="en-IN" dirty="0" err="1"/>
              <a:t>st.date_input</a:t>
            </a:r>
            <a:r>
              <a:rPr lang="en-IN" dirty="0"/>
              <a:t>()</a:t>
            </a:r>
          </a:p>
          <a:p>
            <a:r>
              <a:rPr lang="en-IN" dirty="0"/>
              <a:t>	</a:t>
            </a:r>
            <a:r>
              <a:rPr lang="en-IN" dirty="0" err="1"/>
              <a:t>st.slider</a:t>
            </a:r>
            <a:r>
              <a:rPr lang="en-IN" dirty="0"/>
              <a:t>()</a:t>
            </a:r>
          </a:p>
          <a:p>
            <a:r>
              <a:rPr lang="en-IN" dirty="0"/>
              <a:t>	</a:t>
            </a:r>
            <a:r>
              <a:rPr lang="en-IN" dirty="0" err="1"/>
              <a:t>st.button</a:t>
            </a:r>
            <a:r>
              <a:rPr lang="en-IN" dirty="0"/>
              <a:t>()</a:t>
            </a:r>
          </a:p>
          <a:p>
            <a:endParaRPr lang="en-IN" dirty="0"/>
          </a:p>
          <a:p>
            <a:r>
              <a:rPr lang="en-IN" b="1" dirty="0"/>
              <a:t>Used for:</a:t>
            </a:r>
          </a:p>
          <a:p>
            <a:r>
              <a:rPr lang="en-IN" dirty="0"/>
              <a:t>	Date filters</a:t>
            </a:r>
          </a:p>
          <a:p>
            <a:r>
              <a:rPr lang="en-IN" dirty="0"/>
              <a:t>	Region selection</a:t>
            </a:r>
          </a:p>
          <a:p>
            <a:r>
              <a:rPr lang="en-IN" dirty="0"/>
              <a:t>	KPI slicing</a:t>
            </a:r>
          </a:p>
          <a:p>
            <a:r>
              <a:rPr lang="en-IN" dirty="0"/>
              <a:t>	Drill-downs</a:t>
            </a:r>
          </a:p>
        </p:txBody>
      </p:sp>
    </p:spTree>
    <p:extLst>
      <p:ext uri="{BB962C8B-B14F-4D97-AF65-F5344CB8AC3E}">
        <p14:creationId xmlns:p14="http://schemas.microsoft.com/office/powerpoint/2010/main" val="2187956295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381248E8-92DC-B766-2411-BDAB432B2D59}"/>
              </a:ext>
            </a:extLst>
          </p:cNvPr>
          <p:cNvSpPr txBox="1"/>
          <p:nvPr/>
        </p:nvSpPr>
        <p:spPr>
          <a:xfrm>
            <a:off x="496062" y="474345"/>
            <a:ext cx="609447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Layout Management</a:t>
            </a:r>
          </a:p>
          <a:p>
            <a:r>
              <a:rPr lang="en-IN" dirty="0"/>
              <a:t>	</a:t>
            </a:r>
            <a:r>
              <a:rPr lang="en-IN" dirty="0" err="1"/>
              <a:t>st.columns</a:t>
            </a:r>
            <a:r>
              <a:rPr lang="en-IN" dirty="0"/>
              <a:t>()</a:t>
            </a:r>
          </a:p>
          <a:p>
            <a:r>
              <a:rPr lang="en-IN" dirty="0"/>
              <a:t>	</a:t>
            </a:r>
            <a:r>
              <a:rPr lang="en-IN" dirty="0" err="1"/>
              <a:t>st.container</a:t>
            </a:r>
            <a:r>
              <a:rPr lang="en-IN" dirty="0"/>
              <a:t>()</a:t>
            </a:r>
          </a:p>
          <a:p>
            <a:r>
              <a:rPr lang="en-IN" dirty="0"/>
              <a:t>	</a:t>
            </a:r>
            <a:r>
              <a:rPr lang="en-IN" dirty="0" err="1"/>
              <a:t>st.sidebar</a:t>
            </a:r>
            <a:endParaRPr lang="en-IN" dirty="0"/>
          </a:p>
          <a:p>
            <a:r>
              <a:rPr lang="en-IN" dirty="0"/>
              <a:t>	</a:t>
            </a:r>
            <a:r>
              <a:rPr lang="en-IN" dirty="0" err="1"/>
              <a:t>st.expander</a:t>
            </a:r>
            <a:r>
              <a:rPr lang="en-IN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277705672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{04468A7E-B669-4DE0-85AB-C388E7CF73F0}tf03457452</Template>
  <TotalTime>7464</TotalTime>
  <Words>7592</Words>
  <Application>Microsoft Office PowerPoint</Application>
  <PresentationFormat>Widescreen</PresentationFormat>
  <Paragraphs>1425</Paragraphs>
  <Slides>87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87</vt:i4>
      </vt:variant>
    </vt:vector>
  </HeadingPairs>
  <TitlesOfParts>
    <vt:vector size="94" baseType="lpstr">
      <vt:lpstr>Aptos</vt:lpstr>
      <vt:lpstr>Arial</vt:lpstr>
      <vt:lpstr>Calibri</vt:lpstr>
      <vt:lpstr>Calibri Light</vt:lpstr>
      <vt:lpstr>Google Sans</vt:lpstr>
      <vt:lpstr>Segoe UI</vt:lpstr>
      <vt:lpstr>Celestial</vt:lpstr>
      <vt:lpstr>Snowflake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ponnamreddybabjee@outlook.com</dc:creator>
  <cp:lastModifiedBy>ponnamreddybabjee@outlook.com</cp:lastModifiedBy>
  <cp:revision>13</cp:revision>
  <dcterms:created xsi:type="dcterms:W3CDTF">2025-09-01T11:43:39Z</dcterms:created>
  <dcterms:modified xsi:type="dcterms:W3CDTF">2026-01-03T10:29:40Z</dcterms:modified>
</cp:coreProperties>
</file>