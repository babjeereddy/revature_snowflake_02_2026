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271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2" r:id="rId18"/>
    <p:sldId id="273" r:id="rId19"/>
    <p:sldId id="274" r:id="rId20"/>
    <p:sldId id="276" r:id="rId21"/>
    <p:sldId id="277" r:id="rId22"/>
    <p:sldId id="278" r:id="rId23"/>
    <p:sldId id="275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588" autoAdjust="0"/>
    <p:restoredTop sz="94624" autoAdjust="0"/>
  </p:normalViewPr>
  <p:slideViewPr>
    <p:cSldViewPr>
      <p:cViewPr>
        <p:scale>
          <a:sx n="77" d="100"/>
          <a:sy n="77" d="100"/>
        </p:scale>
        <p:origin x="-1164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D98151-061A-443A-AF66-59C1FCB0739F}" type="datetimeFigureOut">
              <a:rPr lang="en-US" smtClean="0"/>
              <a:pPr/>
              <a:t>11/20/2017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EF74DD-60FD-4570-AF81-418D93E6317D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EA428-871E-45FD-867C-A2F442D77DCB}" type="datetimeFigureOut">
              <a:rPr lang="en-US" smtClean="0"/>
              <a:pPr/>
              <a:t>11/20/2017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88872-030C-478C-BA1C-D318258C348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EA428-871E-45FD-867C-A2F442D77DCB}" type="datetimeFigureOut">
              <a:rPr lang="en-US" smtClean="0"/>
              <a:pPr/>
              <a:t>11/20/2017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88872-030C-478C-BA1C-D318258C348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EA428-871E-45FD-867C-A2F442D77DCB}" type="datetimeFigureOut">
              <a:rPr lang="en-US" smtClean="0"/>
              <a:pPr/>
              <a:t>11/20/2017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88872-030C-478C-BA1C-D318258C348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EA428-871E-45FD-867C-A2F442D77DCB}" type="datetimeFigureOut">
              <a:rPr lang="en-US" smtClean="0"/>
              <a:pPr/>
              <a:t>11/20/2017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88872-030C-478C-BA1C-D318258C348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EA428-871E-45FD-867C-A2F442D77DCB}" type="datetimeFigureOut">
              <a:rPr lang="en-US" smtClean="0"/>
              <a:pPr/>
              <a:t>11/20/2017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88872-030C-478C-BA1C-D318258C348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EA428-871E-45FD-867C-A2F442D77DCB}" type="datetimeFigureOut">
              <a:rPr lang="en-US" smtClean="0"/>
              <a:pPr/>
              <a:t>11/20/2017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88872-030C-478C-BA1C-D318258C348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EA428-871E-45FD-867C-A2F442D77DCB}" type="datetimeFigureOut">
              <a:rPr lang="en-US" smtClean="0"/>
              <a:pPr/>
              <a:t>11/20/2017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88872-030C-478C-BA1C-D318258C348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EA428-871E-45FD-867C-A2F442D77DCB}" type="datetimeFigureOut">
              <a:rPr lang="en-US" smtClean="0"/>
              <a:pPr/>
              <a:t>11/20/2017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88872-030C-478C-BA1C-D318258C348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EA428-871E-45FD-867C-A2F442D77DCB}" type="datetimeFigureOut">
              <a:rPr lang="en-US" smtClean="0"/>
              <a:pPr/>
              <a:t>11/20/2017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88872-030C-478C-BA1C-D318258C348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EA428-871E-45FD-867C-A2F442D77DCB}" type="datetimeFigureOut">
              <a:rPr lang="en-US" smtClean="0"/>
              <a:pPr/>
              <a:t>11/20/2017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88872-030C-478C-BA1C-D318258C348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EA428-871E-45FD-867C-A2F442D77DCB}" type="datetimeFigureOut">
              <a:rPr lang="en-US" smtClean="0"/>
              <a:pPr/>
              <a:t>11/20/2017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88872-030C-478C-BA1C-D318258C348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BEA428-871E-45FD-867C-A2F442D77DCB}" type="datetimeFigureOut">
              <a:rPr lang="en-US" smtClean="0"/>
              <a:pPr/>
              <a:t>11/20/2017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888872-030C-478C-BA1C-D318258C3488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0" y="5334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 userDrawn="1"/>
        </p:nvSpPr>
        <p:spPr>
          <a:xfrm>
            <a:off x="6629400" y="228600"/>
            <a:ext cx="22336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Bi-Gems</a:t>
            </a:r>
            <a:r>
              <a:rPr lang="en-US" baseline="0" dirty="0" smtClean="0"/>
              <a:t> Technologies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52400" y="685800"/>
            <a:ext cx="449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2060"/>
                </a:solidFill>
              </a:rPr>
              <a:t>Agenda</a:t>
            </a:r>
            <a:endParaRPr lang="en-US" sz="2400" b="1" dirty="0">
              <a:solidFill>
                <a:srgbClr val="00206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38200" y="1524000"/>
            <a:ext cx="64008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288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b="1" dirty="0" smtClean="0"/>
              <a:t>Discuss the component of  Hadoop</a:t>
            </a:r>
          </a:p>
          <a:p>
            <a:pPr marL="18288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b="1" dirty="0" smtClean="0"/>
              <a:t>Describe different Nodes in Hadoop Cluster</a:t>
            </a:r>
          </a:p>
          <a:p>
            <a:pPr marL="18288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b="1" dirty="0" smtClean="0"/>
              <a:t>Explain the  Hadoop replication Factor</a:t>
            </a:r>
          </a:p>
          <a:p>
            <a:pPr marL="18288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b="1" dirty="0" smtClean="0"/>
              <a:t>Discuss how Hadoop use rack awareness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52400" y="685800"/>
            <a:ext cx="449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2060"/>
                </a:solidFill>
              </a:rPr>
              <a:t>Terminology review </a:t>
            </a:r>
            <a:endParaRPr lang="en-US" sz="2400" b="1" dirty="0">
              <a:solidFill>
                <a:srgbClr val="002060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66800" y="1828800"/>
            <a:ext cx="1247775" cy="962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14400" y="3048000"/>
            <a:ext cx="1514475" cy="1076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914400" y="4038600"/>
            <a:ext cx="1571625" cy="118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3200400" y="1524000"/>
            <a:ext cx="2438400" cy="426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533399" y="1447800"/>
            <a:ext cx="2438401" cy="434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5791200" y="1524000"/>
            <a:ext cx="2590800" cy="434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533400" y="1219200"/>
            <a:ext cx="7848600" cy="46444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1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52400" y="685800"/>
            <a:ext cx="449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2060"/>
                </a:solidFill>
              </a:rPr>
              <a:t>Pre-Hadoop 2.2 architecture</a:t>
            </a:r>
            <a:endParaRPr lang="en-US" sz="2400" b="1" dirty="0">
              <a:solidFill>
                <a:srgbClr val="00206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90600" y="1676400"/>
            <a:ext cx="63246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b="1" dirty="0" smtClean="0"/>
              <a:t>   Two Main Components</a:t>
            </a:r>
          </a:p>
          <a:p>
            <a:pPr lvl="1"/>
            <a:r>
              <a:rPr lang="en-US" b="1" dirty="0" smtClean="0">
                <a:solidFill>
                  <a:srgbClr val="002060"/>
                </a:solidFill>
              </a:rPr>
              <a:t>-Hadoop Distributed File System(HDFS)</a:t>
            </a:r>
          </a:p>
          <a:p>
            <a:pPr lvl="1"/>
            <a:endParaRPr lang="en-US" b="1" dirty="0"/>
          </a:p>
          <a:p>
            <a:pPr lvl="1"/>
            <a:r>
              <a:rPr lang="en-US" b="1" dirty="0" smtClean="0">
                <a:solidFill>
                  <a:srgbClr val="002060"/>
                </a:solidFill>
              </a:rPr>
              <a:t>-MapReduce Engine</a:t>
            </a:r>
          </a:p>
          <a:p>
            <a:pPr lvl="1">
              <a:buFont typeface="Arial" pitchFamily="34" charset="0"/>
              <a:buChar char="•"/>
            </a:pPr>
            <a:r>
              <a:rPr lang="en-US" b="1" dirty="0">
                <a:solidFill>
                  <a:srgbClr val="002060"/>
                </a:solidFill>
              </a:rPr>
              <a:t>	</a:t>
            </a:r>
            <a:r>
              <a:rPr lang="en-US" b="1" dirty="0" smtClean="0"/>
              <a:t>Framework for performing Calculations on the data in 	the file system </a:t>
            </a:r>
          </a:p>
          <a:p>
            <a:pPr lvl="1"/>
            <a:r>
              <a:rPr lang="en-US" b="1" dirty="0">
                <a:solidFill>
                  <a:srgbClr val="002060"/>
                </a:solidFill>
              </a:rPr>
              <a:t>	</a:t>
            </a:r>
            <a:endParaRPr lang="en-US" b="1" dirty="0" smtClean="0">
              <a:solidFill>
                <a:srgbClr val="002060"/>
              </a:solidFill>
            </a:endParaRPr>
          </a:p>
          <a:p>
            <a:pPr lvl="1">
              <a:buFont typeface="Arial" pitchFamily="34" charset="0"/>
              <a:buChar char="•"/>
            </a:pPr>
            <a:r>
              <a:rPr lang="en-US" b="1" dirty="0">
                <a:solidFill>
                  <a:srgbClr val="002060"/>
                </a:solidFill>
              </a:rPr>
              <a:t>	</a:t>
            </a:r>
            <a:r>
              <a:rPr lang="en-US" b="1" dirty="0" smtClean="0"/>
              <a:t>Has built in resource management and schedule</a:t>
            </a:r>
            <a:endParaRPr lang="en-US" b="1" dirty="0">
              <a:solidFill>
                <a:srgbClr val="00206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52400" y="685800"/>
            <a:ext cx="5486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2060"/>
                </a:solidFill>
              </a:rPr>
              <a:t>Hadoop Distributed File System(HDFC)</a:t>
            </a:r>
            <a:endParaRPr lang="en-US" sz="2400" b="1" dirty="0">
              <a:solidFill>
                <a:srgbClr val="00206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14400" y="1447800"/>
            <a:ext cx="5486400" cy="43858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b="1" dirty="0" smtClean="0"/>
              <a:t>   HDFC runs on top of the </a:t>
            </a:r>
            <a:r>
              <a:rPr lang="en-US" b="1" dirty="0" smtClean="0">
                <a:solidFill>
                  <a:srgbClr val="002060"/>
                </a:solidFill>
              </a:rPr>
              <a:t>existing file system</a:t>
            </a:r>
          </a:p>
          <a:p>
            <a:pPr>
              <a:buFont typeface="Arial" pitchFamily="34" charset="0"/>
              <a:buChar char="•"/>
            </a:pPr>
            <a:endParaRPr lang="en-US" b="1" dirty="0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002060"/>
                </a:solidFill>
              </a:rPr>
              <a:t> </a:t>
            </a:r>
            <a:r>
              <a:rPr lang="en-US" b="1" dirty="0" smtClean="0">
                <a:solidFill>
                  <a:srgbClr val="002060"/>
                </a:solidFill>
              </a:rPr>
              <a:t>    -Not POSIX compliant</a:t>
            </a:r>
          </a:p>
          <a:p>
            <a:pPr>
              <a:lnSpc>
                <a:spcPct val="150000"/>
              </a:lnSpc>
            </a:pPr>
            <a:r>
              <a:rPr lang="en-US" b="1" dirty="0" smtClean="0">
                <a:solidFill>
                  <a:srgbClr val="002060"/>
                </a:solidFill>
              </a:rPr>
              <a:t>     -Designed to tolerate high component failure rate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002060"/>
                </a:solidFill>
              </a:rPr>
              <a:t>	</a:t>
            </a:r>
            <a:r>
              <a:rPr lang="en-US" b="1" dirty="0" smtClean="0"/>
              <a:t>Reliability is through replication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b="1" dirty="0" smtClean="0"/>
              <a:t>   Designed to handle very large files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002060"/>
                </a:solidFill>
              </a:rPr>
              <a:t> </a:t>
            </a:r>
            <a:r>
              <a:rPr lang="en-US" b="1" dirty="0" smtClean="0">
                <a:solidFill>
                  <a:srgbClr val="002060"/>
                </a:solidFill>
              </a:rPr>
              <a:t>   -Large Streaming data across patters</a:t>
            </a:r>
          </a:p>
          <a:p>
            <a:pPr>
              <a:lnSpc>
                <a:spcPct val="150000"/>
              </a:lnSpc>
            </a:pPr>
            <a:r>
              <a:rPr lang="en-US" b="1" dirty="0"/>
              <a:t> </a:t>
            </a:r>
            <a:r>
              <a:rPr lang="en-US" b="1" dirty="0" smtClean="0"/>
              <a:t>                No random access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b="1" dirty="0"/>
              <a:t>  </a:t>
            </a:r>
            <a:r>
              <a:rPr lang="en-US" b="1" dirty="0" smtClean="0"/>
              <a:t> Use blocks to store a file or part of file</a:t>
            </a:r>
          </a:p>
          <a:p>
            <a:r>
              <a:rPr lang="en-US" b="1" dirty="0" smtClean="0"/>
              <a:t>   </a:t>
            </a:r>
          </a:p>
          <a:p>
            <a:r>
              <a:rPr lang="en-US" b="1" dirty="0"/>
              <a:t>	</a:t>
            </a:r>
            <a:endParaRPr lang="en-US" b="1" dirty="0" smtClean="0"/>
          </a:p>
          <a:p>
            <a:r>
              <a:rPr lang="en-US" b="1" dirty="0" smtClean="0"/>
              <a:t>    </a:t>
            </a:r>
            <a:endParaRPr lang="en-US" b="1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71600" y="5181600"/>
            <a:ext cx="3286125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52400" y="685800"/>
            <a:ext cx="449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2060"/>
                </a:solidFill>
              </a:rPr>
              <a:t>Hadoop Blocks</a:t>
            </a:r>
            <a:endParaRPr lang="en-US" sz="2400" b="1" dirty="0">
              <a:solidFill>
                <a:srgbClr val="00206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09600" y="1752600"/>
            <a:ext cx="6705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Not same as operating system’s  file blocks</a:t>
            </a:r>
          </a:p>
          <a:p>
            <a:r>
              <a:rPr lang="en-US" sz="2000" b="1" dirty="0" smtClean="0"/>
              <a:t>   </a:t>
            </a:r>
            <a:r>
              <a:rPr lang="en-US" sz="2000" b="1" dirty="0" smtClean="0">
                <a:solidFill>
                  <a:srgbClr val="002060"/>
                </a:solidFill>
              </a:rPr>
              <a:t>-HDFS blocks </a:t>
            </a:r>
            <a:r>
              <a:rPr lang="en-US" sz="2000" b="1" dirty="0" err="1" smtClean="0">
                <a:solidFill>
                  <a:srgbClr val="002060"/>
                </a:solidFill>
              </a:rPr>
              <a:t>ade</a:t>
            </a:r>
            <a:r>
              <a:rPr lang="en-US" sz="2000" b="1" dirty="0" smtClean="0">
                <a:solidFill>
                  <a:srgbClr val="002060"/>
                </a:solidFill>
              </a:rPr>
              <a:t> up of multiple operating system blocks</a:t>
            </a:r>
            <a:endParaRPr lang="en-US" sz="2000" b="1" dirty="0">
              <a:solidFill>
                <a:srgbClr val="00206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6056" y="2590800"/>
            <a:ext cx="69377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Default for Hadoop  is 64 Mb</a:t>
            </a:r>
          </a:p>
          <a:p>
            <a:r>
              <a:rPr lang="en-US" sz="2000" b="1" dirty="0"/>
              <a:t> </a:t>
            </a:r>
            <a:r>
              <a:rPr lang="en-US" sz="2000" b="1" dirty="0" smtClean="0"/>
              <a:t>   </a:t>
            </a:r>
            <a:r>
              <a:rPr lang="en-US" sz="2000" b="1" dirty="0" smtClean="0">
                <a:solidFill>
                  <a:srgbClr val="002060"/>
                </a:solidFill>
              </a:rPr>
              <a:t>- Recommended is 128 </a:t>
            </a:r>
            <a:r>
              <a:rPr lang="en-US" sz="2000" b="1" dirty="0" err="1" smtClean="0">
                <a:solidFill>
                  <a:srgbClr val="002060"/>
                </a:solidFill>
              </a:rPr>
              <a:t>mb</a:t>
            </a:r>
            <a:endParaRPr lang="en-US" sz="2000" b="1" dirty="0" smtClean="0">
              <a:solidFill>
                <a:srgbClr val="002060"/>
              </a:solidFill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47800" y="5867400"/>
            <a:ext cx="5715000" cy="704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685800" y="3581400"/>
            <a:ext cx="8153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Size of the file can be larger than single disk in the cluster</a:t>
            </a:r>
          </a:p>
          <a:p>
            <a:r>
              <a:rPr lang="en-US" sz="2000" b="1" dirty="0"/>
              <a:t> </a:t>
            </a:r>
            <a:r>
              <a:rPr lang="en-US" sz="2000" b="1" dirty="0" smtClean="0"/>
              <a:t>   </a:t>
            </a:r>
            <a:r>
              <a:rPr lang="en-US" sz="2000" b="1" dirty="0" smtClean="0">
                <a:solidFill>
                  <a:srgbClr val="002060"/>
                </a:solidFill>
              </a:rPr>
              <a:t>- Blocks for the single file are spread across multiple node in the cluster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419600"/>
            <a:ext cx="7543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If Chunk of the file is smaller than the HDFS block size</a:t>
            </a:r>
          </a:p>
          <a:p>
            <a:r>
              <a:rPr lang="en-US" sz="2000" b="1" dirty="0"/>
              <a:t> </a:t>
            </a:r>
            <a:r>
              <a:rPr lang="en-US" sz="2000" b="1" dirty="0" smtClean="0"/>
              <a:t>   </a:t>
            </a:r>
            <a:r>
              <a:rPr lang="en-US" sz="2000" b="1" dirty="0" smtClean="0">
                <a:solidFill>
                  <a:srgbClr val="002060"/>
                </a:solidFill>
              </a:rPr>
              <a:t>- only needed space is use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257800"/>
            <a:ext cx="5334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Blocks work well with replication</a:t>
            </a:r>
            <a:endParaRPr lang="en-US" sz="20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7" grpId="0"/>
      <p:bldP spid="8" grpId="0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52400" y="685800"/>
            <a:ext cx="449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2060"/>
                </a:solidFill>
              </a:rPr>
              <a:t>HDFC Replication</a:t>
            </a:r>
            <a:endParaRPr lang="en-US" sz="2400" b="1" dirty="0">
              <a:solidFill>
                <a:srgbClr val="002060"/>
              </a:solidFill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9600" y="1524000"/>
            <a:ext cx="7700482" cy="4729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52400" y="685800"/>
            <a:ext cx="449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2060"/>
                </a:solidFill>
              </a:rPr>
              <a:t>Type of Nodes in Hadoop</a:t>
            </a:r>
            <a:endParaRPr lang="en-US" sz="2400" b="1" dirty="0">
              <a:solidFill>
                <a:srgbClr val="002060"/>
              </a:solidFill>
            </a:endParaRPr>
          </a:p>
        </p:txBody>
      </p:sp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5800" y="1371600"/>
            <a:ext cx="7924800" cy="4886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52400" y="685800"/>
            <a:ext cx="449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2060"/>
                </a:solidFill>
              </a:rPr>
              <a:t>Type of node Name node</a:t>
            </a:r>
            <a:endParaRPr lang="en-US" sz="2400" b="1" dirty="0">
              <a:solidFill>
                <a:srgbClr val="002060"/>
              </a:solidFill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477000" y="2362200"/>
            <a:ext cx="1933575" cy="2638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228600" y="1524000"/>
            <a:ext cx="57912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 smtClean="0"/>
              <a:t> </a:t>
            </a:r>
            <a:r>
              <a:rPr lang="en-US" b="1" dirty="0" smtClean="0"/>
              <a:t>Only one Name Node for Cluster</a:t>
            </a:r>
          </a:p>
          <a:p>
            <a:pPr>
              <a:buFont typeface="Arial" pitchFamily="34" charset="0"/>
              <a:buChar char="•"/>
            </a:pPr>
            <a:endParaRPr lang="en-US" b="1" dirty="0" smtClean="0"/>
          </a:p>
          <a:p>
            <a:pPr>
              <a:buFont typeface="Arial" pitchFamily="34" charset="0"/>
              <a:buChar char="•"/>
            </a:pPr>
            <a:r>
              <a:rPr lang="en-US" b="1" dirty="0" smtClean="0"/>
              <a:t> Manages file system namespace and metadata</a:t>
            </a:r>
          </a:p>
          <a:p>
            <a:pPr lvl="1"/>
            <a:r>
              <a:rPr lang="en-US" b="1" dirty="0" smtClean="0">
                <a:solidFill>
                  <a:srgbClr val="002060"/>
                </a:solidFill>
              </a:rPr>
              <a:t>-Data does not go through name node</a:t>
            </a:r>
          </a:p>
          <a:p>
            <a:pPr lvl="1">
              <a:buFontTx/>
              <a:buChar char="-"/>
            </a:pPr>
            <a:r>
              <a:rPr lang="en-US" b="1" dirty="0" smtClean="0">
                <a:solidFill>
                  <a:srgbClr val="002060"/>
                </a:solidFill>
              </a:rPr>
              <a:t>Data Does not Store in the name node</a:t>
            </a:r>
          </a:p>
          <a:p>
            <a:pPr lvl="1">
              <a:buFontTx/>
              <a:buChar char="-"/>
            </a:pPr>
            <a:endParaRPr lang="en-US" b="1" dirty="0">
              <a:solidFill>
                <a:srgbClr val="002060"/>
              </a:solidFill>
            </a:endParaRPr>
          </a:p>
          <a:p>
            <a:pPr>
              <a:buFont typeface="Arial" pitchFamily="34" charset="0"/>
              <a:buChar char="•"/>
            </a:pPr>
            <a:r>
              <a:rPr lang="en-US" b="1" dirty="0" smtClean="0"/>
              <a:t> Single point of failure</a:t>
            </a:r>
          </a:p>
          <a:p>
            <a:pPr lvl="1"/>
            <a:r>
              <a:rPr lang="en-US" b="1" dirty="0" smtClean="0">
                <a:solidFill>
                  <a:srgbClr val="002060"/>
                </a:solidFill>
              </a:rPr>
              <a:t>-Good idea mirror name node</a:t>
            </a:r>
          </a:p>
          <a:p>
            <a:r>
              <a:rPr lang="en-US" b="1" dirty="0" smtClean="0">
                <a:solidFill>
                  <a:srgbClr val="002060"/>
                </a:solidFill>
              </a:rPr>
              <a:t>         -Do not  use in expensive commodity hardware</a:t>
            </a:r>
          </a:p>
          <a:p>
            <a:endParaRPr lang="en-US" b="1" dirty="0" smtClean="0">
              <a:solidFill>
                <a:srgbClr val="002060"/>
              </a:solidFill>
            </a:endParaRPr>
          </a:p>
          <a:p>
            <a:pPr>
              <a:buFont typeface="Arial" pitchFamily="34" charset="0"/>
              <a:buChar char="•"/>
            </a:pPr>
            <a:r>
              <a:rPr lang="en-US" b="1" dirty="0" smtClean="0"/>
              <a:t>Has large memory requirement </a:t>
            </a:r>
          </a:p>
          <a:p>
            <a:pPr lvl="1"/>
            <a:r>
              <a:rPr lang="en-US" b="1" dirty="0" smtClean="0">
                <a:solidFill>
                  <a:srgbClr val="002060"/>
                </a:solidFill>
              </a:rPr>
              <a:t>-File system metadata  is maintained in RAM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52400" y="685800"/>
            <a:ext cx="449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2060"/>
                </a:solidFill>
              </a:rPr>
              <a:t>Type of node : Data node</a:t>
            </a:r>
            <a:endParaRPr lang="en-US" sz="2400" b="1" dirty="0">
              <a:solidFill>
                <a:srgbClr val="002060"/>
              </a:solidFill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324600" y="1219200"/>
            <a:ext cx="2819400" cy="446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381000" y="1600200"/>
            <a:ext cx="56388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b="1" dirty="0" smtClean="0"/>
              <a:t> Many for Hadoop cluster</a:t>
            </a:r>
          </a:p>
          <a:p>
            <a:pPr>
              <a:buFont typeface="Arial" pitchFamily="34" charset="0"/>
              <a:buChar char="•"/>
            </a:pPr>
            <a:endParaRPr lang="en-US" b="1" dirty="0" smtClean="0"/>
          </a:p>
          <a:p>
            <a:pPr>
              <a:buFont typeface="Arial" pitchFamily="34" charset="0"/>
              <a:buChar char="•"/>
            </a:pPr>
            <a:r>
              <a:rPr lang="en-US" b="1" dirty="0"/>
              <a:t> </a:t>
            </a:r>
            <a:r>
              <a:rPr lang="en-US" b="1" dirty="0" smtClean="0"/>
              <a:t>Manages blocks with data and server the to clients</a:t>
            </a:r>
          </a:p>
          <a:p>
            <a:pPr>
              <a:buFont typeface="Arial" pitchFamily="34" charset="0"/>
              <a:buChar char="•"/>
            </a:pPr>
            <a:endParaRPr lang="en-US" b="1" dirty="0" smtClean="0"/>
          </a:p>
          <a:p>
            <a:pPr>
              <a:buFont typeface="Arial" pitchFamily="34" charset="0"/>
              <a:buChar char="•"/>
            </a:pPr>
            <a:r>
              <a:rPr lang="en-US" b="1" dirty="0" smtClean="0"/>
              <a:t>Blocks from different files can be stored on the same data node </a:t>
            </a:r>
          </a:p>
          <a:p>
            <a:pPr>
              <a:buFont typeface="Arial" pitchFamily="34" charset="0"/>
              <a:buChar char="•"/>
            </a:pPr>
            <a:endParaRPr lang="en-US" b="1" dirty="0" smtClean="0"/>
          </a:p>
          <a:p>
            <a:pPr>
              <a:buFont typeface="Arial" pitchFamily="34" charset="0"/>
              <a:buChar char="•"/>
            </a:pPr>
            <a:r>
              <a:rPr lang="en-US" b="1" dirty="0"/>
              <a:t> </a:t>
            </a:r>
            <a:r>
              <a:rPr lang="en-US" b="1" dirty="0" smtClean="0"/>
              <a:t>Periodically notify to name node list of block is stored</a:t>
            </a:r>
          </a:p>
          <a:p>
            <a:pPr>
              <a:buFont typeface="Arial" pitchFamily="34" charset="0"/>
              <a:buChar char="•"/>
            </a:pPr>
            <a:endParaRPr lang="en-US" b="1" dirty="0"/>
          </a:p>
          <a:p>
            <a:pPr>
              <a:buFont typeface="Arial" pitchFamily="34" charset="0"/>
              <a:buChar char="•"/>
            </a:pPr>
            <a:r>
              <a:rPr lang="en-US" b="1" dirty="0" smtClean="0"/>
              <a:t> Suitable for inexpensive ,commodity hardware</a:t>
            </a:r>
            <a:endParaRPr 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52400" y="685800"/>
            <a:ext cx="449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2060"/>
                </a:solidFill>
              </a:rPr>
              <a:t>Type of nodes: </a:t>
            </a:r>
            <a:r>
              <a:rPr lang="en-US" sz="2400" b="1" dirty="0" err="1" smtClean="0">
                <a:solidFill>
                  <a:srgbClr val="002060"/>
                </a:solidFill>
              </a:rPr>
              <a:t>JobTracker</a:t>
            </a:r>
            <a:endParaRPr lang="en-US" sz="2400" b="1" dirty="0">
              <a:solidFill>
                <a:srgbClr val="002060"/>
              </a:solidFill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391275" y="1524000"/>
            <a:ext cx="2752725" cy="3448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304800" y="1600200"/>
            <a:ext cx="60960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b="1" dirty="0" smtClean="0"/>
              <a:t>   One per Hadoop cluster</a:t>
            </a:r>
            <a:endParaRPr lang="en-US" b="1" dirty="0"/>
          </a:p>
          <a:p>
            <a:pPr>
              <a:buFont typeface="Arial" pitchFamily="34" charset="0"/>
              <a:buChar char="•"/>
            </a:pPr>
            <a:endParaRPr lang="en-US" b="1" dirty="0" smtClean="0"/>
          </a:p>
          <a:p>
            <a:pPr>
              <a:buFont typeface="Arial" pitchFamily="34" charset="0"/>
              <a:buChar char="•"/>
            </a:pPr>
            <a:r>
              <a:rPr lang="en-US" b="1" dirty="0"/>
              <a:t> </a:t>
            </a:r>
            <a:r>
              <a:rPr lang="en-US" b="1" dirty="0" smtClean="0"/>
              <a:t>  Manages MapReduce job in the cluster</a:t>
            </a:r>
          </a:p>
          <a:p>
            <a:pPr>
              <a:buFont typeface="Arial" pitchFamily="34" charset="0"/>
              <a:buChar char="•"/>
            </a:pPr>
            <a:endParaRPr lang="en-US" b="1" dirty="0"/>
          </a:p>
          <a:p>
            <a:pPr>
              <a:buFont typeface="Arial" pitchFamily="34" charset="0"/>
              <a:buChar char="•"/>
            </a:pPr>
            <a:r>
              <a:rPr lang="en-US" b="1" dirty="0"/>
              <a:t> </a:t>
            </a:r>
            <a:r>
              <a:rPr lang="en-US" b="1" dirty="0" smtClean="0"/>
              <a:t>  Receives job request submitted by  the client</a:t>
            </a:r>
          </a:p>
          <a:p>
            <a:pPr>
              <a:buFont typeface="Arial" pitchFamily="34" charset="0"/>
              <a:buChar char="•"/>
            </a:pPr>
            <a:endParaRPr lang="en-US" b="1" dirty="0"/>
          </a:p>
          <a:p>
            <a:pPr>
              <a:buFont typeface="Arial" pitchFamily="34" charset="0"/>
              <a:buChar char="•"/>
            </a:pPr>
            <a:r>
              <a:rPr lang="en-US" b="1" dirty="0"/>
              <a:t> </a:t>
            </a:r>
            <a:r>
              <a:rPr lang="en-US" b="1" dirty="0" smtClean="0"/>
              <a:t>  Schedules and  Monitors MapReduce jobs on Task </a:t>
            </a:r>
            <a:r>
              <a:rPr lang="en-US" b="1" dirty="0" err="1" smtClean="0"/>
              <a:t>Traker</a:t>
            </a:r>
            <a:endParaRPr lang="en-US" b="1" dirty="0" smtClean="0"/>
          </a:p>
          <a:p>
            <a:pPr>
              <a:buFont typeface="Arial" pitchFamily="34" charset="0"/>
              <a:buChar char="•"/>
            </a:pPr>
            <a:endParaRPr lang="en-US" b="1" dirty="0" smtClean="0"/>
          </a:p>
          <a:p>
            <a:pPr lvl="1">
              <a:buFontTx/>
              <a:buChar char="-"/>
            </a:pPr>
            <a:r>
              <a:rPr lang="en-US" b="1" dirty="0" smtClean="0"/>
              <a:t>Attempts to detect a task to the </a:t>
            </a:r>
            <a:r>
              <a:rPr lang="en-US" b="1" dirty="0" err="1" smtClean="0"/>
              <a:t>TakTracker</a:t>
            </a:r>
            <a:r>
              <a:rPr lang="en-US" b="1" dirty="0" smtClean="0"/>
              <a:t> Where the</a:t>
            </a:r>
          </a:p>
          <a:p>
            <a:pPr lvl="1">
              <a:buFontTx/>
              <a:buChar char="-"/>
            </a:pPr>
            <a:r>
              <a:rPr lang="en-US" b="1" dirty="0" smtClean="0"/>
              <a:t>Data is resides </a:t>
            </a:r>
            <a:endParaRPr 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52400" y="685800"/>
            <a:ext cx="449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2060"/>
                </a:solidFill>
              </a:rPr>
              <a:t>Types of nodes </a:t>
            </a:r>
            <a:r>
              <a:rPr lang="en-US" sz="2400" b="1" dirty="0" err="1" smtClean="0">
                <a:solidFill>
                  <a:srgbClr val="002060"/>
                </a:solidFill>
              </a:rPr>
              <a:t>TaskTracker</a:t>
            </a:r>
            <a:endParaRPr lang="en-US" sz="2400" b="1" dirty="0">
              <a:solidFill>
                <a:srgbClr val="002060"/>
              </a:solidFill>
            </a:endParaRP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629400" y="1828800"/>
            <a:ext cx="1838325" cy="403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685800" y="1600200"/>
            <a:ext cx="57912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Many per Cluster</a:t>
            </a:r>
          </a:p>
          <a:p>
            <a:endParaRPr lang="en-US" b="1" dirty="0"/>
          </a:p>
          <a:p>
            <a:r>
              <a:rPr lang="en-US" b="1" dirty="0" smtClean="0"/>
              <a:t>Execute MapReduce Operations</a:t>
            </a:r>
          </a:p>
          <a:p>
            <a:r>
              <a:rPr lang="en-US" b="1" dirty="0"/>
              <a:t>	</a:t>
            </a:r>
            <a:r>
              <a:rPr lang="en-US" b="1" dirty="0" smtClean="0">
                <a:solidFill>
                  <a:srgbClr val="002060"/>
                </a:solidFill>
              </a:rPr>
              <a:t>-Runs the MapReduce task in JVM</a:t>
            </a:r>
          </a:p>
          <a:p>
            <a:endParaRPr lang="en-US" b="1" dirty="0" smtClean="0">
              <a:solidFill>
                <a:srgbClr val="002060"/>
              </a:solidFill>
            </a:endParaRPr>
          </a:p>
          <a:p>
            <a:r>
              <a:rPr lang="en-US" b="1" dirty="0">
                <a:solidFill>
                  <a:srgbClr val="002060"/>
                </a:solidFill>
              </a:rPr>
              <a:t>	</a:t>
            </a:r>
            <a:r>
              <a:rPr lang="en-US" b="1" dirty="0" smtClean="0">
                <a:solidFill>
                  <a:srgbClr val="002060"/>
                </a:solidFill>
              </a:rPr>
              <a:t>-Have set number of slots used to run task</a:t>
            </a:r>
          </a:p>
          <a:p>
            <a:endParaRPr lang="en-US" b="1" dirty="0" smtClean="0">
              <a:solidFill>
                <a:srgbClr val="002060"/>
              </a:solidFill>
            </a:endParaRPr>
          </a:p>
          <a:p>
            <a:r>
              <a:rPr lang="en-US" b="1" dirty="0">
                <a:solidFill>
                  <a:srgbClr val="002060"/>
                </a:solidFill>
              </a:rPr>
              <a:t>	</a:t>
            </a:r>
            <a:r>
              <a:rPr lang="en-US" b="1" dirty="0" smtClean="0">
                <a:solidFill>
                  <a:srgbClr val="002060"/>
                </a:solidFill>
              </a:rPr>
              <a:t>-Communicate JobTraker via heart beat message</a:t>
            </a:r>
          </a:p>
          <a:p>
            <a:endParaRPr lang="en-US" b="1" dirty="0" smtClean="0">
              <a:solidFill>
                <a:srgbClr val="002060"/>
              </a:solidFill>
            </a:endParaRPr>
          </a:p>
          <a:p>
            <a:r>
              <a:rPr lang="en-US" b="1" dirty="0">
                <a:solidFill>
                  <a:srgbClr val="002060"/>
                </a:solidFill>
              </a:rPr>
              <a:t>	</a:t>
            </a:r>
            <a:r>
              <a:rPr lang="en-US" b="1" dirty="0" smtClean="0">
                <a:solidFill>
                  <a:srgbClr val="002060"/>
                </a:solidFill>
              </a:rPr>
              <a:t>-Read blocks form </a:t>
            </a:r>
            <a:r>
              <a:rPr lang="en-US" b="1" dirty="0" err="1" smtClean="0">
                <a:solidFill>
                  <a:srgbClr val="002060"/>
                </a:solidFill>
              </a:rPr>
              <a:t>DataNode</a:t>
            </a:r>
            <a:endParaRPr lang="en-US" b="1" dirty="0" smtClean="0">
              <a:solidFill>
                <a:srgbClr val="002060"/>
              </a:solidFill>
            </a:endParaRPr>
          </a:p>
          <a:p>
            <a:r>
              <a:rPr lang="en-US" dirty="0">
                <a:solidFill>
                  <a:srgbClr val="002060"/>
                </a:solidFill>
              </a:rPr>
              <a:t>	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52400" y="685800"/>
            <a:ext cx="449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 smtClean="0">
                <a:solidFill>
                  <a:srgbClr val="002060"/>
                </a:solidFill>
              </a:rPr>
              <a:t>Hadoop</a:t>
            </a:r>
            <a:r>
              <a:rPr lang="en-US" sz="2400" b="1" dirty="0" smtClean="0">
                <a:solidFill>
                  <a:srgbClr val="002060"/>
                </a:solidFill>
              </a:rPr>
              <a:t> 2.2 architecture</a:t>
            </a:r>
            <a:endParaRPr lang="en-US" sz="2400" b="1" dirty="0">
              <a:solidFill>
                <a:srgbClr val="00206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67818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YARN provide </a:t>
            </a:r>
          </a:p>
          <a:p>
            <a:endParaRPr lang="en-US" b="1" dirty="0" smtClean="0"/>
          </a:p>
          <a:p>
            <a:pPr>
              <a:lnSpc>
                <a:spcPct val="150000"/>
              </a:lnSpc>
            </a:pPr>
            <a:r>
              <a:rPr lang="en-US" b="1" dirty="0" smtClean="0">
                <a:solidFill>
                  <a:srgbClr val="002060"/>
                </a:solidFill>
              </a:rPr>
              <a:t>      -Referred to as </a:t>
            </a:r>
            <a:r>
              <a:rPr lang="en-US" b="1" dirty="0" err="1" smtClean="0">
                <a:solidFill>
                  <a:srgbClr val="002060"/>
                </a:solidFill>
              </a:rPr>
              <a:t>MapReduce</a:t>
            </a:r>
            <a:r>
              <a:rPr lang="en-US" b="1" dirty="0" smtClean="0">
                <a:solidFill>
                  <a:srgbClr val="002060"/>
                </a:solidFill>
              </a:rPr>
              <a:t> V2</a:t>
            </a:r>
          </a:p>
          <a:p>
            <a:pPr>
              <a:lnSpc>
                <a:spcPct val="150000"/>
              </a:lnSpc>
            </a:pPr>
            <a:r>
              <a:rPr lang="en-US" b="1" dirty="0" smtClean="0">
                <a:solidFill>
                  <a:srgbClr val="002060"/>
                </a:solidFill>
              </a:rPr>
              <a:t>     - Resource Manager and scheduler external  to  an </a:t>
            </a:r>
            <a:r>
              <a:rPr lang="en-US" b="1" dirty="0" err="1" smtClean="0">
                <a:solidFill>
                  <a:srgbClr val="002060"/>
                </a:solidFill>
              </a:rPr>
              <a:t>framwork</a:t>
            </a:r>
            <a:endParaRPr lang="en-US" b="1" dirty="0" smtClean="0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r>
              <a:rPr lang="en-US" b="1" dirty="0" smtClean="0">
                <a:solidFill>
                  <a:srgbClr val="002060"/>
                </a:solidFill>
              </a:rPr>
              <a:t>     - </a:t>
            </a:r>
            <a:r>
              <a:rPr lang="en-US" b="1" dirty="0" err="1" smtClean="0">
                <a:solidFill>
                  <a:srgbClr val="002060"/>
                </a:solidFill>
              </a:rPr>
              <a:t>DataNodes</a:t>
            </a:r>
            <a:r>
              <a:rPr lang="en-US" b="1" dirty="0" smtClean="0">
                <a:solidFill>
                  <a:srgbClr val="002060"/>
                </a:solidFill>
              </a:rPr>
              <a:t>  Still exist </a:t>
            </a:r>
          </a:p>
          <a:p>
            <a:pPr>
              <a:lnSpc>
                <a:spcPct val="150000"/>
              </a:lnSpc>
            </a:pPr>
            <a:r>
              <a:rPr lang="en-US" b="1" dirty="0" smtClean="0">
                <a:solidFill>
                  <a:srgbClr val="002060"/>
                </a:solidFill>
              </a:rPr>
              <a:t>     - Job Tracker and Task Trackers no longer exist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52400" y="685800"/>
            <a:ext cx="449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2060"/>
                </a:solidFill>
              </a:rPr>
              <a:t>YARN</a:t>
            </a:r>
            <a:endParaRPr lang="en-US" sz="2400" b="1" dirty="0">
              <a:solidFill>
                <a:srgbClr val="002060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9600" y="1380279"/>
            <a:ext cx="7620000" cy="44279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52400" y="685800"/>
            <a:ext cx="449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2060"/>
                </a:solidFill>
              </a:rPr>
              <a:t>YERN </a:t>
            </a:r>
            <a:endParaRPr lang="en-US" sz="2400" b="1" dirty="0">
              <a:solidFill>
                <a:srgbClr val="002060"/>
              </a:solidFill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2000" y="1905000"/>
            <a:ext cx="6534150" cy="4200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52400" y="685800"/>
            <a:ext cx="449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 smtClean="0">
                <a:solidFill>
                  <a:srgbClr val="002060"/>
                </a:solidFill>
              </a:rPr>
              <a:t>Hadoop</a:t>
            </a:r>
            <a:r>
              <a:rPr lang="en-US" sz="2400" b="1" dirty="0" smtClean="0">
                <a:solidFill>
                  <a:srgbClr val="002060"/>
                </a:solidFill>
              </a:rPr>
              <a:t> high availability </a:t>
            </a:r>
            <a:endParaRPr lang="en-US" sz="2400" b="1" dirty="0">
              <a:solidFill>
                <a:srgbClr val="002060"/>
              </a:solidFill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90600" y="1600200"/>
            <a:ext cx="7467600" cy="4924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52400" y="685800"/>
            <a:ext cx="449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 smtClean="0">
                <a:solidFill>
                  <a:srgbClr val="002060"/>
                </a:solidFill>
              </a:rPr>
              <a:t>Hadoop</a:t>
            </a:r>
            <a:r>
              <a:rPr lang="en-US" sz="2400" b="1" dirty="0" smtClean="0">
                <a:solidFill>
                  <a:srgbClr val="002060"/>
                </a:solidFill>
              </a:rPr>
              <a:t> Federation</a:t>
            </a:r>
            <a:endParaRPr lang="en-US" sz="2400" b="1" dirty="0">
              <a:solidFill>
                <a:srgbClr val="002060"/>
              </a:solidFill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95400" y="1600200"/>
            <a:ext cx="7276274" cy="48625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52400" y="685800"/>
            <a:ext cx="4495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 smtClean="0">
                <a:solidFill>
                  <a:srgbClr val="002060"/>
                </a:solidFill>
              </a:rPr>
              <a:t>Hadoop</a:t>
            </a:r>
            <a:r>
              <a:rPr lang="en-US" sz="2400" b="1" dirty="0" smtClean="0">
                <a:solidFill>
                  <a:srgbClr val="002060"/>
                </a:solidFill>
              </a:rPr>
              <a:t> Federation</a:t>
            </a:r>
          </a:p>
          <a:p>
            <a:endParaRPr lang="en-US" sz="2400" b="1" dirty="0">
              <a:solidFill>
                <a:srgbClr val="002060"/>
              </a:solidFill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28800" y="1600201"/>
            <a:ext cx="6064298" cy="4591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52400" y="685800"/>
            <a:ext cx="449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 smtClean="0">
                <a:solidFill>
                  <a:srgbClr val="002060"/>
                </a:solidFill>
              </a:rPr>
              <a:t>Hadoop</a:t>
            </a:r>
            <a:r>
              <a:rPr lang="en-US" sz="2400" b="1" dirty="0" smtClean="0">
                <a:solidFill>
                  <a:srgbClr val="002060"/>
                </a:solidFill>
              </a:rPr>
              <a:t> Federation</a:t>
            </a:r>
            <a:endParaRPr lang="en-US" sz="2400" b="1" dirty="0">
              <a:solidFill>
                <a:srgbClr val="002060"/>
              </a:solidFill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95400" y="1524000"/>
            <a:ext cx="6629400" cy="48162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52400" y="685800"/>
            <a:ext cx="4495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 smtClean="0">
                <a:solidFill>
                  <a:srgbClr val="002060"/>
                </a:solidFill>
              </a:rPr>
              <a:t>Hadoop</a:t>
            </a:r>
            <a:r>
              <a:rPr lang="en-US" sz="2400" b="1" dirty="0" smtClean="0">
                <a:solidFill>
                  <a:srgbClr val="002060"/>
                </a:solidFill>
              </a:rPr>
              <a:t> Federation</a:t>
            </a:r>
          </a:p>
          <a:p>
            <a:endParaRPr lang="en-US" sz="2400" b="1" dirty="0">
              <a:solidFill>
                <a:srgbClr val="002060"/>
              </a:solidFill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71663" y="1447800"/>
            <a:ext cx="5400675" cy="396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52400" y="685800"/>
            <a:ext cx="449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2060"/>
                </a:solidFill>
              </a:rPr>
              <a:t>Topology awareness</a:t>
            </a:r>
            <a:endParaRPr lang="en-US" sz="2400" b="1" dirty="0">
              <a:solidFill>
                <a:srgbClr val="002060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5789" y="1143000"/>
            <a:ext cx="9088211" cy="52288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-10230" y="1494994"/>
            <a:ext cx="9154229" cy="50737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600200" y="2209800"/>
            <a:ext cx="5791200" cy="3733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676400" y="1905000"/>
            <a:ext cx="6248400" cy="41462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52400" y="685800"/>
            <a:ext cx="449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 smtClean="0">
                <a:solidFill>
                  <a:srgbClr val="002060"/>
                </a:solidFill>
              </a:rPr>
              <a:t>Hdfc</a:t>
            </a:r>
            <a:r>
              <a:rPr lang="en-US" sz="2400" b="1" dirty="0" smtClean="0">
                <a:solidFill>
                  <a:srgbClr val="002060"/>
                </a:solidFill>
              </a:rPr>
              <a:t> Replication</a:t>
            </a:r>
            <a:endParaRPr lang="en-US" sz="2400" b="1" dirty="0">
              <a:solidFill>
                <a:srgbClr val="002060"/>
              </a:solidFill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9600" y="1600200"/>
            <a:ext cx="7528601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33400" y="1447800"/>
            <a:ext cx="7924800" cy="4895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33399" y="1447800"/>
            <a:ext cx="8439661" cy="4781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066800" y="1524000"/>
            <a:ext cx="7467600" cy="4486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1295400" y="1600200"/>
            <a:ext cx="7010400" cy="4248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52400" y="685800"/>
            <a:ext cx="449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 smtClean="0">
                <a:solidFill>
                  <a:srgbClr val="002060"/>
                </a:solidFill>
              </a:rPr>
              <a:t>Hdfs</a:t>
            </a:r>
            <a:r>
              <a:rPr lang="en-US" sz="2400" b="1" dirty="0" smtClean="0">
                <a:solidFill>
                  <a:srgbClr val="002060"/>
                </a:solidFill>
              </a:rPr>
              <a:t> Command</a:t>
            </a:r>
            <a:endParaRPr lang="en-US" sz="2400" b="1" dirty="0">
              <a:solidFill>
                <a:srgbClr val="00206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09600" y="1295400"/>
            <a:ext cx="640080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The File </a:t>
            </a:r>
            <a:r>
              <a:rPr lang="en-US" dirty="0" err="1" smtClean="0"/>
              <a:t>Sytem</a:t>
            </a:r>
            <a:r>
              <a:rPr lang="en-US" dirty="0" smtClean="0"/>
              <a:t> (</a:t>
            </a:r>
            <a:r>
              <a:rPr lang="en-US" dirty="0" err="1" smtClean="0"/>
              <a:t>fs</a:t>
            </a:r>
            <a:r>
              <a:rPr lang="en-US" dirty="0" smtClean="0"/>
              <a:t>) Shell can be invoked</a:t>
            </a:r>
          </a:p>
          <a:p>
            <a:r>
              <a:rPr lang="en-US" dirty="0" smtClean="0"/>
              <a:t>	</a:t>
            </a:r>
            <a:r>
              <a:rPr lang="en-US" dirty="0" err="1" smtClean="0"/>
              <a:t>hadoop</a:t>
            </a:r>
            <a:r>
              <a:rPr lang="en-US" dirty="0" smtClean="0"/>
              <a:t> </a:t>
            </a:r>
            <a:r>
              <a:rPr lang="en-US" dirty="0" err="1" smtClean="0"/>
              <a:t>fs</a:t>
            </a:r>
            <a:r>
              <a:rPr lang="en-US" dirty="0" smtClean="0"/>
              <a:t> &lt;</a:t>
            </a:r>
            <a:r>
              <a:rPr lang="en-US" dirty="0" err="1" smtClean="0"/>
              <a:t>args</a:t>
            </a:r>
            <a:r>
              <a:rPr lang="en-US" dirty="0" smtClean="0"/>
              <a:t>&gt;</a:t>
            </a:r>
          </a:p>
          <a:p>
            <a:endParaRPr lang="en-US" dirty="0" smtClean="0"/>
          </a:p>
          <a:p>
            <a:r>
              <a:rPr lang="en-US" dirty="0" smtClean="0"/>
              <a:t>Example to list the current directory in HDFS</a:t>
            </a:r>
          </a:p>
          <a:p>
            <a:r>
              <a:rPr lang="en-US" dirty="0" smtClean="0"/>
              <a:t>	</a:t>
            </a:r>
            <a:r>
              <a:rPr lang="en-US" dirty="0" err="1" smtClean="0"/>
              <a:t>hadoop</a:t>
            </a:r>
            <a:r>
              <a:rPr lang="en-US" dirty="0" smtClean="0"/>
              <a:t> </a:t>
            </a:r>
            <a:r>
              <a:rPr lang="en-US" dirty="0" err="1" smtClean="0"/>
              <a:t>fs</a:t>
            </a:r>
            <a:r>
              <a:rPr lang="en-US" dirty="0" smtClean="0"/>
              <a:t> –</a:t>
            </a:r>
            <a:r>
              <a:rPr lang="en-US" dirty="0" err="1" smtClean="0"/>
              <a:t>ls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Example to create a directory in HDFS</a:t>
            </a:r>
          </a:p>
          <a:p>
            <a:r>
              <a:rPr lang="en-US" dirty="0" smtClean="0"/>
              <a:t>	</a:t>
            </a:r>
            <a:r>
              <a:rPr lang="en-US" dirty="0" err="1" smtClean="0"/>
              <a:t>hadoop</a:t>
            </a:r>
            <a:r>
              <a:rPr lang="en-US" dirty="0" smtClean="0"/>
              <a:t> </a:t>
            </a:r>
            <a:r>
              <a:rPr lang="en-US" dirty="0" err="1" smtClean="0"/>
              <a:t>fs</a:t>
            </a:r>
            <a:r>
              <a:rPr lang="en-US" dirty="0" smtClean="0"/>
              <a:t> –</a:t>
            </a:r>
            <a:r>
              <a:rPr lang="en-US" dirty="0" err="1" smtClean="0"/>
              <a:t>mkdir</a:t>
            </a:r>
            <a:r>
              <a:rPr lang="en-US" dirty="0" smtClean="0"/>
              <a:t> &lt;dir&gt;</a:t>
            </a:r>
          </a:p>
          <a:p>
            <a:endParaRPr lang="en-US" dirty="0" smtClean="0"/>
          </a:p>
          <a:p>
            <a:r>
              <a:rPr lang="en-US" dirty="0" smtClean="0"/>
              <a:t>Example to copy file to </a:t>
            </a:r>
            <a:r>
              <a:rPr lang="en-US" dirty="0" err="1" smtClean="0"/>
              <a:t>hdfs</a:t>
            </a:r>
            <a:endParaRPr lang="en-US" dirty="0" smtClean="0"/>
          </a:p>
          <a:p>
            <a:r>
              <a:rPr lang="en-US" dirty="0" smtClean="0"/>
              <a:t>	</a:t>
            </a:r>
            <a:r>
              <a:rPr lang="en-US" dirty="0" err="1" smtClean="0"/>
              <a:t>haoop</a:t>
            </a:r>
            <a:r>
              <a:rPr lang="en-US" dirty="0" smtClean="0"/>
              <a:t> </a:t>
            </a:r>
            <a:r>
              <a:rPr lang="en-US" dirty="0" err="1" smtClean="0"/>
              <a:t>fs</a:t>
            </a:r>
            <a:r>
              <a:rPr lang="en-US" dirty="0" smtClean="0"/>
              <a:t>  </a:t>
            </a:r>
            <a:r>
              <a:rPr lang="en-US" dirty="0" err="1" smtClean="0"/>
              <a:t>copyFromLocal</a:t>
            </a:r>
            <a:r>
              <a:rPr lang="en-US" dirty="0" smtClean="0"/>
              <a:t> </a:t>
            </a:r>
            <a:r>
              <a:rPr lang="en-US" dirty="0" smtClean="0"/>
              <a:t>   </a:t>
            </a:r>
            <a:r>
              <a:rPr lang="en-US" dirty="0" err="1" smtClean="0"/>
              <a:t>localfile</a:t>
            </a:r>
            <a:r>
              <a:rPr lang="en-US" dirty="0" smtClean="0"/>
              <a:t>  </a:t>
            </a:r>
            <a:r>
              <a:rPr lang="en-US" dirty="0" smtClean="0"/>
              <a:t>to </a:t>
            </a:r>
            <a:r>
              <a:rPr lang="en-US" dirty="0" err="1" smtClean="0"/>
              <a:t>hdfs</a:t>
            </a:r>
            <a:r>
              <a:rPr lang="en-US" dirty="0" smtClean="0"/>
              <a:t>  location</a:t>
            </a:r>
          </a:p>
          <a:p>
            <a:r>
              <a:rPr lang="en-US" dirty="0" smtClean="0"/>
              <a:t>Example to copy file from </a:t>
            </a:r>
            <a:r>
              <a:rPr lang="en-US" dirty="0" err="1" smtClean="0"/>
              <a:t>hdfs</a:t>
            </a:r>
            <a:endParaRPr lang="en-US" dirty="0" smtClean="0"/>
          </a:p>
          <a:p>
            <a:r>
              <a:rPr lang="en-US" dirty="0" smtClean="0"/>
              <a:t>	</a:t>
            </a:r>
            <a:r>
              <a:rPr lang="en-US" dirty="0" err="1" smtClean="0"/>
              <a:t>hadoop</a:t>
            </a:r>
            <a:r>
              <a:rPr lang="en-US" dirty="0" smtClean="0"/>
              <a:t> </a:t>
            </a:r>
            <a:r>
              <a:rPr lang="en-US" dirty="0" err="1" smtClean="0"/>
              <a:t>fs</a:t>
            </a:r>
            <a:r>
              <a:rPr lang="en-US" dirty="0" smtClean="0"/>
              <a:t> </a:t>
            </a:r>
            <a:r>
              <a:rPr lang="en-US" dirty="0" err="1" smtClean="0"/>
              <a:t>copyToLocal</a:t>
            </a:r>
            <a:r>
              <a:rPr lang="en-US" dirty="0" smtClean="0"/>
              <a:t>  </a:t>
            </a:r>
            <a:r>
              <a:rPr lang="en-US" dirty="0" err="1" smtClean="0"/>
              <a:t>hdfsfile</a:t>
            </a:r>
            <a:r>
              <a:rPr lang="en-US" dirty="0" smtClean="0"/>
              <a:t>  to </a:t>
            </a:r>
            <a:r>
              <a:rPr lang="en-US" dirty="0" err="1" smtClean="0"/>
              <a:t>locatl</a:t>
            </a:r>
            <a:r>
              <a:rPr lang="en-US" dirty="0" smtClean="0"/>
              <a:t> location</a:t>
            </a:r>
          </a:p>
          <a:p>
            <a:endParaRPr lang="en-US" dirty="0" smtClean="0"/>
          </a:p>
          <a:p>
            <a:r>
              <a:rPr lang="en-US" dirty="0" smtClean="0"/>
              <a:t>Example to copy file to </a:t>
            </a:r>
            <a:r>
              <a:rPr lang="en-US" dirty="0" err="1" smtClean="0"/>
              <a:t>hdfs</a:t>
            </a:r>
            <a:endParaRPr lang="en-US" dirty="0" smtClean="0"/>
          </a:p>
          <a:p>
            <a:r>
              <a:rPr lang="en-US" dirty="0" smtClean="0"/>
              <a:t>	</a:t>
            </a:r>
            <a:r>
              <a:rPr lang="en-US" dirty="0" err="1" smtClean="0"/>
              <a:t>hadoop</a:t>
            </a:r>
            <a:r>
              <a:rPr lang="en-US" dirty="0" smtClean="0"/>
              <a:t> </a:t>
            </a:r>
            <a:r>
              <a:rPr lang="en-US" dirty="0" err="1" smtClean="0"/>
              <a:t>fs</a:t>
            </a:r>
            <a:r>
              <a:rPr lang="en-US" dirty="0" smtClean="0"/>
              <a:t> –put </a:t>
            </a:r>
            <a:r>
              <a:rPr lang="en-US" dirty="0" err="1" smtClean="0"/>
              <a:t>localfile</a:t>
            </a:r>
            <a:r>
              <a:rPr lang="en-US" dirty="0" smtClean="0"/>
              <a:t> to </a:t>
            </a:r>
            <a:r>
              <a:rPr lang="en-US" dirty="0" err="1" smtClean="0"/>
              <a:t>hdfsfile</a:t>
            </a:r>
            <a:endParaRPr lang="en-US" dirty="0" smtClean="0"/>
          </a:p>
          <a:p>
            <a:r>
              <a:rPr lang="en-US" dirty="0" smtClean="0"/>
              <a:t>Example to copy form </a:t>
            </a:r>
            <a:r>
              <a:rPr lang="en-US" dirty="0" err="1" smtClean="0"/>
              <a:t>hdfs</a:t>
            </a:r>
            <a:endParaRPr lang="en-US" dirty="0" smtClean="0"/>
          </a:p>
          <a:p>
            <a:r>
              <a:rPr lang="en-US" dirty="0" smtClean="0"/>
              <a:t>	</a:t>
            </a:r>
            <a:r>
              <a:rPr lang="en-US" dirty="0" err="1" smtClean="0"/>
              <a:t>hadoop</a:t>
            </a:r>
            <a:r>
              <a:rPr lang="en-US" dirty="0" smtClean="0"/>
              <a:t> </a:t>
            </a:r>
            <a:r>
              <a:rPr lang="en-US" dirty="0" err="1" smtClean="0"/>
              <a:t>fs</a:t>
            </a:r>
            <a:r>
              <a:rPr lang="en-US" dirty="0" smtClean="0"/>
              <a:t>  -get  </a:t>
            </a:r>
            <a:r>
              <a:rPr lang="en-US" dirty="0" err="1" smtClean="0"/>
              <a:t>hdfs</a:t>
            </a:r>
            <a:r>
              <a:rPr lang="en-US" dirty="0" smtClean="0"/>
              <a:t> to local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52400" y="685800"/>
            <a:ext cx="449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 smtClean="0">
                <a:solidFill>
                  <a:srgbClr val="002060"/>
                </a:solidFill>
              </a:rPr>
              <a:t>Hdfc</a:t>
            </a:r>
            <a:r>
              <a:rPr lang="en-US" sz="2400" b="1" dirty="0" smtClean="0">
                <a:solidFill>
                  <a:srgbClr val="002060"/>
                </a:solidFill>
              </a:rPr>
              <a:t> commands</a:t>
            </a:r>
            <a:endParaRPr lang="en-US" sz="2400" b="1" dirty="0">
              <a:solidFill>
                <a:srgbClr val="00206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09600" y="1828800"/>
            <a:ext cx="83058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Show the content of the file</a:t>
            </a:r>
          </a:p>
          <a:p>
            <a:r>
              <a:rPr lang="en-US" dirty="0" smtClean="0"/>
              <a:t>	</a:t>
            </a:r>
            <a:r>
              <a:rPr lang="en-US" dirty="0" err="1" smtClean="0"/>
              <a:t>hdoop</a:t>
            </a:r>
            <a:r>
              <a:rPr lang="en-US" dirty="0" smtClean="0"/>
              <a:t>  </a:t>
            </a:r>
            <a:r>
              <a:rPr lang="en-US" dirty="0" err="1" smtClean="0"/>
              <a:t>fs</a:t>
            </a:r>
            <a:r>
              <a:rPr lang="en-US" dirty="0" smtClean="0"/>
              <a:t>  -cat   filename.txt</a:t>
            </a:r>
          </a:p>
          <a:p>
            <a:endParaRPr lang="en-US" dirty="0" smtClean="0"/>
          </a:p>
          <a:p>
            <a:r>
              <a:rPr lang="en-US" dirty="0" smtClean="0"/>
              <a:t>Other commands</a:t>
            </a:r>
          </a:p>
          <a:p>
            <a:r>
              <a:rPr lang="en-US" dirty="0" smtClean="0"/>
              <a:t>	</a:t>
            </a:r>
            <a:r>
              <a:rPr lang="en-US" dirty="0" err="1" smtClean="0"/>
              <a:t>chmod</a:t>
            </a:r>
            <a:r>
              <a:rPr lang="en-US" dirty="0" smtClean="0"/>
              <a:t> cp , du , </a:t>
            </a:r>
            <a:r>
              <a:rPr lang="en-US" dirty="0" err="1" smtClean="0"/>
              <a:t>rm</a:t>
            </a:r>
            <a:r>
              <a:rPr lang="en-US" dirty="0" smtClean="0"/>
              <a:t> ,tail</a:t>
            </a:r>
          </a:p>
          <a:p>
            <a:endParaRPr lang="en-US" dirty="0" smtClean="0"/>
          </a:p>
          <a:p>
            <a:r>
              <a:rPr lang="en-US" dirty="0" err="1" smtClean="0"/>
              <a:t>Hdfc</a:t>
            </a:r>
            <a:r>
              <a:rPr lang="en-US" dirty="0" smtClean="0"/>
              <a:t> command to set </a:t>
            </a:r>
            <a:r>
              <a:rPr lang="en-US" dirty="0" err="1" smtClean="0"/>
              <a:t>replcation</a:t>
            </a:r>
            <a:endParaRPr lang="en-US" dirty="0" smtClean="0"/>
          </a:p>
          <a:p>
            <a:r>
              <a:rPr lang="en-US" dirty="0" smtClean="0"/>
              <a:t>	</a:t>
            </a:r>
            <a:r>
              <a:rPr lang="en-US" dirty="0" err="1" smtClean="0"/>
              <a:t>setrep</a:t>
            </a:r>
            <a:endParaRPr lang="en-US" dirty="0" smtClean="0"/>
          </a:p>
          <a:p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0" y="838200"/>
            <a:ext cx="381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 smtClean="0">
                <a:solidFill>
                  <a:srgbClr val="002060"/>
                </a:solidFill>
              </a:rPr>
              <a:t>MapReduce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0" y="1371600"/>
            <a:ext cx="8763000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 smtClean="0"/>
          </a:p>
          <a:p>
            <a:r>
              <a:rPr lang="en-US" dirty="0" err="1" smtClean="0"/>
              <a:t>MapReduce</a:t>
            </a:r>
            <a:r>
              <a:rPr lang="en-US" dirty="0" smtClean="0"/>
              <a:t> is a programming paradigm that runs in the background of </a:t>
            </a:r>
            <a:r>
              <a:rPr lang="en-US" dirty="0" err="1" smtClean="0"/>
              <a:t>Hadoop</a:t>
            </a:r>
            <a:r>
              <a:rPr lang="en-US" dirty="0" smtClean="0"/>
              <a:t> to provide scalability and easy data-processing solutions</a:t>
            </a:r>
          </a:p>
          <a:p>
            <a:endParaRPr lang="en-US" dirty="0" smtClean="0"/>
          </a:p>
          <a:p>
            <a:r>
              <a:rPr lang="en-US" dirty="0" smtClean="0"/>
              <a:t> </a:t>
            </a:r>
            <a:r>
              <a:rPr lang="en-US" dirty="0" err="1" smtClean="0"/>
              <a:t>MapReduce</a:t>
            </a:r>
            <a:r>
              <a:rPr lang="en-US" dirty="0" smtClean="0"/>
              <a:t> divides a task into small parts and assigns them to many computers. </a:t>
            </a:r>
          </a:p>
          <a:p>
            <a:endParaRPr lang="en-US" dirty="0" smtClean="0"/>
          </a:p>
          <a:p>
            <a:r>
              <a:rPr lang="en-US" dirty="0" smtClean="0"/>
              <a:t>Later, the results are collected at one place and integrated to form the result dataset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 The Map task takes a set of data and converts it into another set of data, where individual elements are broken down into </a:t>
            </a:r>
            <a:r>
              <a:rPr lang="en-US" dirty="0" err="1" smtClean="0"/>
              <a:t>tuples</a:t>
            </a:r>
            <a:r>
              <a:rPr lang="en-US" dirty="0" smtClean="0"/>
              <a:t> (key-value pairs). 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The Reduce task takes the output from the Map as an input and combines those data </a:t>
            </a:r>
            <a:r>
              <a:rPr lang="en-US" dirty="0" err="1" smtClean="0"/>
              <a:t>tuples</a:t>
            </a:r>
            <a:r>
              <a:rPr lang="en-US" dirty="0" smtClean="0"/>
              <a:t> (key-value pairs) into a smaller set of </a:t>
            </a:r>
            <a:r>
              <a:rPr lang="en-US" dirty="0" err="1" smtClean="0"/>
              <a:t>tuples</a:t>
            </a:r>
            <a:r>
              <a:rPr lang="en-US" dirty="0" smtClean="0"/>
              <a:t>. </a:t>
            </a:r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9600" y="1524000"/>
            <a:ext cx="7822991" cy="4029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11896" y="1066800"/>
            <a:ext cx="7398916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2000" y="1295400"/>
            <a:ext cx="6648450" cy="4539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50207" y="1219200"/>
            <a:ext cx="6345943" cy="3871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3000" y="914400"/>
            <a:ext cx="6200775" cy="50501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5800" y="1219200"/>
            <a:ext cx="7124700" cy="4714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38200" y="1143000"/>
            <a:ext cx="6767513" cy="49083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38200" y="1094047"/>
            <a:ext cx="7077075" cy="44256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04913" y="1343025"/>
            <a:ext cx="6734175" cy="4171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419</TotalTime>
  <Words>519</Words>
  <Application>Microsoft Office PowerPoint</Application>
  <PresentationFormat>On-screen Show (4:3)</PresentationFormat>
  <Paragraphs>144</Paragraphs>
  <Slides>33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4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</dc:creator>
  <cp:lastModifiedBy>admin</cp:lastModifiedBy>
  <cp:revision>42</cp:revision>
  <dcterms:created xsi:type="dcterms:W3CDTF">2009-12-31T19:15:54Z</dcterms:created>
  <dcterms:modified xsi:type="dcterms:W3CDTF">2017-11-20T09:53:27Z</dcterms:modified>
</cp:coreProperties>
</file>