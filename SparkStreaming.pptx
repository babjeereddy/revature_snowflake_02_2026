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amreddybabjee@outlook.com" userId="3e261792aa522278" providerId="LiveId" clId="{D75174B6-F51B-4B49-96A3-F85861D28AC9}"/>
    <pc:docChg chg="modSld">
      <pc:chgData name="ponnamreddybabjee@outlook.com" userId="3e261792aa522278" providerId="LiveId" clId="{D75174B6-F51B-4B49-96A3-F85861D28AC9}" dt="2026-02-23T08:25:56.365" v="1" actId="20577"/>
      <pc:docMkLst>
        <pc:docMk/>
      </pc:docMkLst>
      <pc:sldChg chg="modSp mod">
        <pc:chgData name="ponnamreddybabjee@outlook.com" userId="3e261792aa522278" providerId="LiveId" clId="{D75174B6-F51B-4B49-96A3-F85861D28AC9}" dt="2026-02-23T08:25:56.365" v="1" actId="20577"/>
        <pc:sldMkLst>
          <pc:docMk/>
          <pc:sldMk cId="0" sldId="259"/>
        </pc:sldMkLst>
        <pc:spChg chg="mod">
          <ac:chgData name="ponnamreddybabjee@outlook.com" userId="3e261792aa522278" providerId="LiveId" clId="{D75174B6-F51B-4B49-96A3-F85861D28AC9}" dt="2026-02-23T08:25:56.365" v="1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6EF65-9A3C-4D20-AF54-E4116D40D2B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63B4E-0C25-4462-B70B-F73D7D753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598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63B4E-0C25-4462-B70B-F73D7D753A1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435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7833C-16C4-438C-807A-664BE9C0E98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61D78-1AF7-41C4-91CD-008643D109E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457200"/>
            <a:ext cx="8534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Batch Processing</a:t>
            </a:r>
          </a:p>
          <a:p>
            <a:r>
              <a:rPr lang="en-US" b="1" dirty="0"/>
              <a:t>Batch processing</a:t>
            </a:r>
            <a:r>
              <a:rPr lang="en-US" dirty="0"/>
              <a:t> means processing data in </a:t>
            </a:r>
            <a:r>
              <a:rPr lang="en-US" b="1" dirty="0"/>
              <a:t>chunks (batches)</a:t>
            </a:r>
            <a:r>
              <a:rPr lang="en-US" dirty="0"/>
              <a:t> at scheduled times.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Characteristics:</a:t>
            </a:r>
          </a:p>
          <a:p>
            <a:r>
              <a:rPr lang="en-US" dirty="0"/>
              <a:t>Processes </a:t>
            </a:r>
            <a:r>
              <a:rPr lang="en-US" b="1" dirty="0"/>
              <a:t>a large volume</a:t>
            </a:r>
            <a:r>
              <a:rPr lang="en-US" dirty="0"/>
              <a:t> of data at once</a:t>
            </a:r>
          </a:p>
          <a:p>
            <a:r>
              <a:rPr lang="en-US" dirty="0"/>
              <a:t>Runs </a:t>
            </a:r>
            <a:r>
              <a:rPr lang="en-US" b="1" dirty="0"/>
              <a:t>on a schedule</a:t>
            </a:r>
            <a:r>
              <a:rPr lang="en-US" dirty="0"/>
              <a:t> (e.g., hourly, daily)</a:t>
            </a:r>
          </a:p>
          <a:p>
            <a:r>
              <a:rPr lang="en-US" dirty="0"/>
              <a:t>Used for </a:t>
            </a:r>
            <a:r>
              <a:rPr lang="en-US" b="1" dirty="0"/>
              <a:t>historical</a:t>
            </a:r>
            <a:r>
              <a:rPr lang="en-US" dirty="0"/>
              <a:t> or </a:t>
            </a:r>
            <a:r>
              <a:rPr lang="en-US" b="1" dirty="0"/>
              <a:t>non-time-critical</a:t>
            </a:r>
            <a:r>
              <a:rPr lang="en-US" dirty="0"/>
              <a:t> data</a:t>
            </a:r>
          </a:p>
          <a:p>
            <a:r>
              <a:rPr lang="en-US" dirty="0"/>
              <a:t>High </a:t>
            </a:r>
            <a:r>
              <a:rPr lang="en-US" b="1" dirty="0"/>
              <a:t>throughput</a:t>
            </a:r>
            <a:r>
              <a:rPr lang="en-US" dirty="0"/>
              <a:t>, but higher </a:t>
            </a:r>
            <a:r>
              <a:rPr lang="en-US" b="1" dirty="0"/>
              <a:t>latency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run a job every night at 2 AM to analyze yesterday’s website traffic logs.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" y="381000"/>
            <a:ext cx="8991600" cy="410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What is Structured Streaming?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Structured Streaming is a scalable and fault-tolerant stream processing engine built on the Spark SQL engine. You can express your streaming computation the same way you would express a batch computation on static data.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Why do we need Streaming?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In the modern world, data isn't just static.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Fraud Detection: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Identifying a stolen credit card must happen in seconds, not hours.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Stock Markets: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Prices change every millisecond.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IoT Sensors: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Temperature alerts in a factory need immediate action.</a:t>
            </a:r>
          </a:p>
          <a:p>
            <a:pPr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rgbClr val="2E2B29"/>
              </a:solidFill>
              <a:latin typeface="Inter"/>
            </a:endParaRPr>
          </a:p>
          <a:p>
            <a:pPr>
              <a:spcBef>
                <a:spcPts val="600"/>
              </a:spcBef>
            </a:pPr>
            <a:r>
              <a:rPr lang="en-IN" b="1" i="0" dirty="0">
                <a:solidFill>
                  <a:srgbClr val="252523"/>
                </a:solidFill>
                <a:effectLst/>
                <a:latin typeface="monaSans"/>
              </a:rPr>
              <a:t>Batch vs. Streaming</a:t>
            </a:r>
          </a:p>
          <a:p>
            <a:pPr algn="l">
              <a:spcBef>
                <a:spcPts val="600"/>
              </a:spcBef>
            </a:pPr>
            <a:endParaRPr lang="en-US" b="0" i="0" dirty="0">
              <a:solidFill>
                <a:srgbClr val="2E2B29"/>
              </a:solidFill>
              <a:effectLst/>
              <a:latin typeface="Inter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AE0CA4-C17C-AF97-D2AD-D83475446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35353"/>
              </p:ext>
            </p:extLst>
          </p:nvPr>
        </p:nvGraphicFramePr>
        <p:xfrm>
          <a:off x="152400" y="4114800"/>
          <a:ext cx="8458200" cy="201168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95751168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164442088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128412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b="1">
                          <a:solidFill>
                            <a:srgbClr val="252523"/>
                          </a:solidFill>
                          <a:effectLst/>
                        </a:rPr>
                        <a:t>Feature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b="1">
                          <a:solidFill>
                            <a:srgbClr val="252523"/>
                          </a:solidFill>
                          <a:effectLst/>
                        </a:rPr>
                        <a:t>Batch Processing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b="1">
                          <a:solidFill>
                            <a:srgbClr val="252523"/>
                          </a:solidFill>
                          <a:effectLst/>
                        </a:rPr>
                        <a:t>Streaming Processing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164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solidFill>
                            <a:srgbClr val="2E2B29"/>
                          </a:solidFill>
                          <a:effectLst/>
                        </a:rPr>
                        <a:t>Data Scope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Fixed set of data (e.g., yesterday's logs)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Continuous, never-ending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63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solidFill>
                            <a:srgbClr val="2E2B29"/>
                          </a:solidFill>
                          <a:effectLst/>
                        </a:rPr>
                        <a:t>Latency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High (Minutes to Hours)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Low (Seconds to Milliseconds)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47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solidFill>
                            <a:srgbClr val="2E2B29"/>
                          </a:solidFill>
                          <a:effectLst/>
                        </a:rPr>
                        <a:t>Processing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All data at once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Incremental (bits at a time)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5037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457200"/>
            <a:ext cx="8305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key idea in Structured Streaming is to treat a live data stream as a table(unbounded)  that is being continuously appended and you can write queries on it just like you would with a batch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Every data item that is arriving on the stream is like a new row being appended to the Input Table.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146" name="Picture 2" descr="Stream as a Tab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438400"/>
            <a:ext cx="82296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304800"/>
            <a:ext cx="8991600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Micro-batch Concept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Instead of processing records one-by-one ,Spark groups data into tiny "batches" (e.g., every 1 second).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Collect data for X seconds.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Run a Spark job on that small batch.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Update the results.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Repeat.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Key Components: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Input Source: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Where data comes from (Kafka, Files, Sockets).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Micro-batch Engine: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The brain that triggers the job.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State Management: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Remembers previous data (e.g., current count of "Apple" stocks).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Checkpointing: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Saves progress to disk (S3/HDFS) so if the server crashes, it can restart from where it left off.</a:t>
            </a:r>
          </a:p>
          <a:p>
            <a:br>
              <a:rPr lang="en-US" dirty="0"/>
            </a:br>
            <a:endParaRPr lang="en-US" b="0" i="0" dirty="0">
              <a:solidFill>
                <a:srgbClr val="2E2B29"/>
              </a:solidFill>
              <a:effectLst/>
              <a:latin typeface="Inter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533400"/>
            <a:ext cx="7848600" cy="312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IN" b="1" i="0" dirty="0">
                <a:solidFill>
                  <a:srgbClr val="252523"/>
                </a:solidFill>
                <a:effectLst/>
                <a:latin typeface="monaSans"/>
              </a:rPr>
              <a:t>Streaming Input Sources</a:t>
            </a:r>
          </a:p>
          <a:p>
            <a:pPr algn="l">
              <a:spcBef>
                <a:spcPts val="600"/>
              </a:spcBef>
            </a:pPr>
            <a:r>
              <a:rPr lang="en-IN" b="1" i="0" dirty="0">
                <a:solidFill>
                  <a:srgbClr val="252523"/>
                </a:solidFill>
                <a:effectLst/>
                <a:latin typeface="monaSans"/>
              </a:rPr>
              <a:t>1. File Source</a:t>
            </a:r>
          </a:p>
          <a:p>
            <a:pPr algn="l">
              <a:spcBef>
                <a:spcPts val="600"/>
              </a:spcBef>
            </a:pPr>
            <a:r>
              <a:rPr lang="en-IN" b="0" i="0" dirty="0">
                <a:solidFill>
                  <a:srgbClr val="2E2B29"/>
                </a:solidFill>
                <a:effectLst/>
                <a:latin typeface="Inter"/>
              </a:rPr>
              <a:t>Reads files written in a directory. Spark monitors the folder for new files.</a:t>
            </a:r>
            <a:br>
              <a:rPr lang="en-IN" b="0" i="0" dirty="0">
                <a:solidFill>
                  <a:srgbClr val="2E2B29"/>
                </a:solidFill>
                <a:effectLst/>
                <a:latin typeface="Inter"/>
              </a:rPr>
            </a:br>
            <a:r>
              <a:rPr lang="en-IN" b="0" i="1" dirty="0">
                <a:solidFill>
                  <a:srgbClr val="2E2B29"/>
                </a:solidFill>
                <a:effectLst/>
                <a:latin typeface="Inter"/>
              </a:rPr>
              <a:t>Formats: CSV, JSON, Parquet, Text.</a:t>
            </a:r>
            <a:endParaRPr lang="en-IN" b="0" i="0" dirty="0">
              <a:solidFill>
                <a:srgbClr val="2E2B29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</a:pPr>
            <a:r>
              <a:rPr lang="en-IN" b="1" i="0" dirty="0">
                <a:solidFill>
                  <a:srgbClr val="252523"/>
                </a:solidFill>
                <a:effectLst/>
                <a:latin typeface="monaSans"/>
              </a:rPr>
              <a:t>2. Socket Source (For Testing)</a:t>
            </a:r>
          </a:p>
          <a:p>
            <a:pPr algn="l">
              <a:spcBef>
                <a:spcPts val="600"/>
              </a:spcBef>
            </a:pPr>
            <a:r>
              <a:rPr lang="en-IN" b="0" i="0" dirty="0">
                <a:solidFill>
                  <a:srgbClr val="2E2B29"/>
                </a:solidFill>
                <a:effectLst/>
                <a:latin typeface="Inter"/>
              </a:rPr>
              <a:t>Reads text data from a network connection. Used mostly for learning/debugging.</a:t>
            </a:r>
          </a:p>
          <a:p>
            <a:pPr algn="l">
              <a:spcBef>
                <a:spcPts val="600"/>
              </a:spcBef>
            </a:pPr>
            <a:r>
              <a:rPr lang="en-IN" b="1" i="0" dirty="0">
                <a:solidFill>
                  <a:srgbClr val="252523"/>
                </a:solidFill>
                <a:effectLst/>
                <a:latin typeface="monaSans"/>
              </a:rPr>
              <a:t>3. Kafka Source (Production Standard)</a:t>
            </a:r>
          </a:p>
          <a:p>
            <a:pPr algn="l">
              <a:spcBef>
                <a:spcPts val="600"/>
              </a:spcBef>
            </a:pPr>
            <a:r>
              <a:rPr lang="en-IN" b="0" i="0" dirty="0">
                <a:solidFill>
                  <a:srgbClr val="2E2B29"/>
                </a:solidFill>
                <a:effectLst/>
                <a:latin typeface="Inter"/>
              </a:rPr>
              <a:t>The most popular source. Spark acts as a consumer to Kafka topics.</a:t>
            </a:r>
          </a:p>
          <a:p>
            <a:pPr algn="l">
              <a:spcBef>
                <a:spcPts val="600"/>
              </a:spcBef>
            </a:pPr>
            <a:r>
              <a:rPr lang="en-IN" b="1" i="0" dirty="0">
                <a:solidFill>
                  <a:srgbClr val="2E2B29"/>
                </a:solidFill>
                <a:effectLst/>
                <a:latin typeface="Inter"/>
              </a:rPr>
              <a:t>Diagram: Data Monitoring</a:t>
            </a:r>
            <a:endParaRPr lang="en-IN" b="0" i="0" dirty="0">
              <a:solidFill>
                <a:srgbClr val="2E2B29"/>
              </a:solidFill>
              <a:effectLst/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2E4CA-3EE8-8EA5-8994-3F43830283AD}"/>
              </a:ext>
            </a:extLst>
          </p:cNvPr>
          <p:cNvSpPr txBox="1"/>
          <p:nvPr/>
        </p:nvSpPr>
        <p:spPr>
          <a:xfrm>
            <a:off x="457200" y="40386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E2B29"/>
                </a:solidFill>
                <a:effectLst/>
                <a:latin typeface="baselGrotesk"/>
              </a:rPr>
              <a:t>Folder/Source Spark Monitoring Result Table [File A] ------&gt; [Trigger] --------&gt; [ Row 1-10 ] [File B] ------&gt; [Trigger] --------&gt; [ Row 11-20]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644E0-AD6D-B170-1C44-AFB3974EF06E}"/>
              </a:ext>
            </a:extLst>
          </p:cNvPr>
          <p:cNvSpPr txBox="1"/>
          <p:nvPr/>
        </p:nvSpPr>
        <p:spPr>
          <a:xfrm>
            <a:off x="228600" y="152400"/>
            <a:ext cx="662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Streaming Trigger Modes</a:t>
            </a:r>
          </a:p>
          <a:p>
            <a:pPr algn="l"/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Triggers define </a:t>
            </a: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when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Spark should look for new data.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AE11D9-8D8D-7F9C-8A43-6969106F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991219"/>
              </p:ext>
            </p:extLst>
          </p:nvPr>
        </p:nvGraphicFramePr>
        <p:xfrm>
          <a:off x="304800" y="1066801"/>
          <a:ext cx="8686800" cy="3117574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79063852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69129430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568828027"/>
                    </a:ext>
                  </a:extLst>
                </a:gridCol>
              </a:tblGrid>
              <a:tr h="21784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>
                          <a:solidFill>
                            <a:srgbClr val="252523"/>
                          </a:solidFill>
                          <a:effectLst/>
                        </a:rPr>
                        <a:t>Trigger Type</a:t>
                      </a:r>
                    </a:p>
                  </a:txBody>
                  <a:tcPr marL="80821" marR="80821" marT="40410" marB="40410"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>
                          <a:solidFill>
                            <a:srgbClr val="252523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80821" marR="80821" marT="40410" marB="40410"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>
                          <a:solidFill>
                            <a:srgbClr val="252523"/>
                          </a:solidFill>
                          <a:effectLst/>
                        </a:rPr>
                        <a:t>Code Example</a:t>
                      </a:r>
                    </a:p>
                  </a:txBody>
                  <a:tcPr marL="80821" marR="80821" marT="40410" marB="40410"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56960"/>
                  </a:ext>
                </a:extLst>
              </a:tr>
              <a:tr h="68848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1">
                          <a:solidFill>
                            <a:srgbClr val="2E2B29"/>
                          </a:solidFill>
                          <a:effectLst/>
                        </a:rPr>
                        <a:t>Default</a:t>
                      </a:r>
                      <a:endParaRPr lang="en-IN" sz="1600">
                        <a:effectLst/>
                      </a:endParaRP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>
                          <a:effectLst/>
                        </a:rPr>
                        <a:t>Runs the next batch as soon as the previous one finishes.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>
                          <a:effectLst/>
                        </a:rPr>
                        <a:t>.trigger(processingTime='0 seconds')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27316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1">
                          <a:solidFill>
                            <a:srgbClr val="2E2B29"/>
                          </a:solidFill>
                          <a:effectLst/>
                        </a:rPr>
                        <a:t>Fixed Interval</a:t>
                      </a:r>
                      <a:endParaRPr lang="en-IN" sz="1600">
                        <a:effectLst/>
                      </a:endParaRP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Runs every X seconds/minutes.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>
                          <a:effectLst/>
                        </a:rPr>
                        <a:t>.trigger(processingTime='10 seconds')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573217"/>
                  </a:ext>
                </a:extLst>
              </a:tr>
              <a:tr h="84743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1">
                          <a:solidFill>
                            <a:srgbClr val="2E2B29"/>
                          </a:solidFill>
                          <a:effectLst/>
                        </a:rPr>
                        <a:t>Available Now (Once)</a:t>
                      </a:r>
                      <a:endParaRPr lang="en-IN" sz="1600">
                        <a:effectLst/>
                      </a:endParaRP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>
                          <a:effectLst/>
                        </a:rPr>
                        <a:t>Processes all available data, then stops. Great for daily jobs.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>
                          <a:effectLst/>
                        </a:rPr>
                        <a:t>.trigger(availableNow=True)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147637"/>
                  </a:ext>
                </a:extLst>
              </a:tr>
              <a:tr h="68848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1">
                          <a:solidFill>
                            <a:srgbClr val="2E2B29"/>
                          </a:solidFill>
                          <a:effectLst/>
                        </a:rPr>
                        <a:t>Continuous</a:t>
                      </a:r>
                      <a:endParaRPr lang="en-IN" sz="1600">
                        <a:effectLst/>
                      </a:endParaRP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>
                          <a:effectLst/>
                        </a:rPr>
                        <a:t>Ultra-low latency (~1ms). (Experimental/Advanced).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dirty="0">
                          <a:effectLst/>
                        </a:rPr>
                        <a:t>.trigger(continuous='1 second')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82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7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CD6A75-0888-7A78-B366-165CC15CBA24}"/>
              </a:ext>
            </a:extLst>
          </p:cNvPr>
          <p:cNvSpPr txBox="1"/>
          <p:nvPr/>
        </p:nvSpPr>
        <p:spPr>
          <a:xfrm>
            <a:off x="228600" y="228600"/>
            <a:ext cx="8534400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52523"/>
                </a:solidFill>
                <a:effectLst/>
                <a:latin typeface="monaSans"/>
              </a:rPr>
              <a:t>Output Modes</a:t>
            </a:r>
          </a:p>
          <a:p>
            <a:pPr algn="l"/>
            <a:endParaRPr lang="en-IN" b="1" dirty="0">
              <a:solidFill>
                <a:srgbClr val="252523"/>
              </a:solidFill>
              <a:latin typeface="monaSans"/>
            </a:endParaRPr>
          </a:p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1. Append Mode (Default)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Only </a:t>
            </a: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new rows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added to the Result Table since the last trigger will be written.</a:t>
            </a:r>
          </a:p>
          <a:p>
            <a:pPr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E2B29"/>
                </a:solidFill>
                <a:effectLst/>
                <a:latin typeface="Inter"/>
              </a:rPr>
              <a:t>Use case: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Logging, moving files.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2. Complete Mode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entire updated Result Table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will be written to the sink every time.</a:t>
            </a:r>
          </a:p>
          <a:p>
            <a:pPr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E2B29"/>
                </a:solidFill>
                <a:effectLst/>
                <a:latin typeface="Inter"/>
              </a:rPr>
              <a:t>Use case: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Aggregations (e.g., Total Word Count).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3. Update Mode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Only the </a:t>
            </a: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rows that were updated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in the Result Table since the last trigger will be written.</a:t>
            </a:r>
          </a:p>
          <a:p>
            <a:pPr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E2B29"/>
                </a:solidFill>
                <a:effectLst/>
                <a:latin typeface="Inter"/>
              </a:rPr>
              <a:t>Use case: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Real-time dashboards showing changing counts.</a:t>
            </a:r>
          </a:p>
          <a:p>
            <a:pPr algn="l"/>
            <a:endParaRPr lang="en-IN" b="1" i="0" dirty="0">
              <a:solidFill>
                <a:srgbClr val="252523"/>
              </a:solidFill>
              <a:effectLst/>
              <a:latin typeface="mona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B44968-43E3-9A6C-057C-B2919075B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267200"/>
            <a:ext cx="7391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6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4535F1-BC79-2B34-CFC3-A6B019983E47}"/>
              </a:ext>
            </a:extLst>
          </p:cNvPr>
          <p:cNvSpPr txBox="1"/>
          <p:nvPr/>
        </p:nvSpPr>
        <p:spPr>
          <a:xfrm>
            <a:off x="228600" y="381000"/>
            <a:ext cx="891540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Watermarking (Handling Late Data)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The Problem: Late Data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Imagine a sensor sends data at 10:00 AM, but due to bad network, Spark receives it at 10:15 AM.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Event Time: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When the data was generated (10:00).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Processing Time: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 When Spark saw the data (10:15).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If we don't handle this, Spark will wait forever for late data, and the RAM (State) will explode!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The Solution: Watermark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A watermark is a threshold. It tells Spark: "I will wait for data up to 10 minutes late. Anything older, ignore it."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2A8C9-E592-D1D1-6B44-07E8D2CD13BE}"/>
              </a:ext>
            </a:extLst>
          </p:cNvPr>
          <p:cNvSpPr txBox="1"/>
          <p:nvPr/>
        </p:nvSpPr>
        <p:spPr>
          <a:xfrm>
            <a:off x="304800" y="3791075"/>
            <a:ext cx="662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2E2B29"/>
                </a:solidFill>
                <a:effectLst/>
                <a:latin typeface="baselGrotesk"/>
              </a:rPr>
              <a:t>df.withWatermark</a:t>
            </a:r>
            <a:r>
              <a:rPr lang="en-US" b="0" i="0" dirty="0">
                <a:solidFill>
                  <a:srgbClr val="2E2B29"/>
                </a:solidFill>
                <a:effectLst/>
                <a:latin typeface="baselGrotesk"/>
              </a:rPr>
              <a:t>("</a:t>
            </a:r>
            <a:r>
              <a:rPr lang="en-US" b="0" i="0" dirty="0" err="1">
                <a:solidFill>
                  <a:srgbClr val="2E2B29"/>
                </a:solidFill>
                <a:effectLst/>
                <a:latin typeface="baselGrotesk"/>
              </a:rPr>
              <a:t>event_time</a:t>
            </a:r>
            <a:r>
              <a:rPr lang="en-US" b="0" i="0" dirty="0">
                <a:solidFill>
                  <a:srgbClr val="2E2B29"/>
                </a:solidFill>
                <a:effectLst/>
                <a:latin typeface="baselGrotesk"/>
              </a:rPr>
              <a:t>", "10 minutes") \ .</a:t>
            </a:r>
            <a:r>
              <a:rPr lang="en-US" b="0" i="0" dirty="0" err="1">
                <a:solidFill>
                  <a:srgbClr val="2E2B29"/>
                </a:solidFill>
                <a:effectLst/>
                <a:latin typeface="baselGrotesk"/>
              </a:rPr>
              <a:t>groupBy</a:t>
            </a:r>
            <a:r>
              <a:rPr lang="en-US" b="0" i="0" dirty="0">
                <a:solidFill>
                  <a:srgbClr val="2E2B29"/>
                </a:solidFill>
                <a:effectLst/>
                <a:latin typeface="baselGrotesk"/>
              </a:rPr>
              <a:t>(window("</a:t>
            </a:r>
            <a:r>
              <a:rPr lang="en-US" b="0" i="0" dirty="0" err="1">
                <a:solidFill>
                  <a:srgbClr val="2E2B29"/>
                </a:solidFill>
                <a:effectLst/>
                <a:latin typeface="baselGrotesk"/>
              </a:rPr>
              <a:t>event_time</a:t>
            </a:r>
            <a:r>
              <a:rPr lang="en-US" b="0" i="0" dirty="0">
                <a:solidFill>
                  <a:srgbClr val="2E2B29"/>
                </a:solidFill>
                <a:effectLst/>
                <a:latin typeface="baselGrotesk"/>
              </a:rPr>
              <a:t>", "5 minutes")) \ .count()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87CED-A8AE-C630-9B0F-3150FB793E7D}"/>
              </a:ext>
            </a:extLst>
          </p:cNvPr>
          <p:cNvSpPr txBox="1"/>
          <p:nvPr/>
        </p:nvSpPr>
        <p:spPr>
          <a:xfrm>
            <a:off x="341376" y="4648200"/>
            <a:ext cx="6989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E2B29"/>
                </a:solidFill>
                <a:effectLst/>
                <a:latin typeface="baselGrotesk"/>
              </a:rPr>
              <a:t>Current Time: 10:30 Watermark: 10 minutes (10:20) [10:25 Data] -&gt; ACCEPTED (After 10:20) [10:15 Data] -&gt; REJECTED (Too old, state cleared)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77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6D27EA-F383-654C-852A-CD84D85868E0}"/>
              </a:ext>
            </a:extLst>
          </p:cNvPr>
          <p:cNvSpPr txBox="1"/>
          <p:nvPr/>
        </p:nvSpPr>
        <p:spPr>
          <a:xfrm>
            <a:off x="228600" y="304800"/>
            <a:ext cx="876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52523"/>
                </a:solidFill>
                <a:effectLst/>
                <a:latin typeface="monaSans"/>
              </a:rPr>
              <a:t>Streaming Sinks (The Destinations)</a:t>
            </a:r>
          </a:p>
          <a:p>
            <a:pPr algn="l"/>
            <a:endParaRPr lang="en-IN" b="1" dirty="0">
              <a:solidFill>
                <a:srgbClr val="252523"/>
              </a:solidFill>
              <a:latin typeface="monaSans"/>
            </a:endParaRPr>
          </a:p>
          <a:p>
            <a:pPr algn="l"/>
            <a:r>
              <a:rPr lang="en-US" i="0" dirty="0">
                <a:solidFill>
                  <a:srgbClr val="252523"/>
                </a:solidFill>
                <a:effectLst/>
                <a:latin typeface="monaSans"/>
              </a:rPr>
              <a:t>If the Source is where data starts, the Sink is where the data ends up after being processed. In Spark, you define a sink using the .</a:t>
            </a:r>
            <a:r>
              <a:rPr lang="en-US" i="0" dirty="0" err="1">
                <a:solidFill>
                  <a:srgbClr val="252523"/>
                </a:solidFill>
                <a:effectLst/>
                <a:latin typeface="monaSans"/>
              </a:rPr>
              <a:t>writeStream</a:t>
            </a:r>
            <a:r>
              <a:rPr lang="en-US" i="0" dirty="0">
                <a:solidFill>
                  <a:srgbClr val="252523"/>
                </a:solidFill>
                <a:effectLst/>
                <a:latin typeface="monaSans"/>
              </a:rPr>
              <a:t> method.</a:t>
            </a:r>
            <a:endParaRPr lang="en-IN" i="0" dirty="0">
              <a:solidFill>
                <a:srgbClr val="252523"/>
              </a:solidFill>
              <a:effectLst/>
              <a:latin typeface="monaSan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E9C327-EC35-D904-6337-CE6296A74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923516"/>
              </p:ext>
            </p:extLst>
          </p:nvPr>
        </p:nvGraphicFramePr>
        <p:xfrm>
          <a:off x="195072" y="1579563"/>
          <a:ext cx="8305800" cy="2840036"/>
        </p:xfrm>
        <a:graphic>
          <a:graphicData uri="http://schemas.openxmlformats.org/drawingml/2006/table">
            <a:tbl>
              <a:tblPr/>
              <a:tblGrid>
                <a:gridCol w="1862328">
                  <a:extLst>
                    <a:ext uri="{9D8B030D-6E8A-4147-A177-3AD203B41FA5}">
                      <a16:colId xmlns:a16="http://schemas.microsoft.com/office/drawing/2014/main" val="2770075009"/>
                    </a:ext>
                  </a:extLst>
                </a:gridCol>
                <a:gridCol w="4081272">
                  <a:extLst>
                    <a:ext uri="{9D8B030D-6E8A-4147-A177-3AD203B41FA5}">
                      <a16:colId xmlns:a16="http://schemas.microsoft.com/office/drawing/2014/main" val="386158073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4078464463"/>
                    </a:ext>
                  </a:extLst>
                </a:gridCol>
              </a:tblGrid>
              <a:tr h="331338"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b="1">
                          <a:solidFill>
                            <a:srgbClr val="252523"/>
                          </a:solidFill>
                          <a:effectLst/>
                        </a:rPr>
                        <a:t>Sink Type</a:t>
                      </a:r>
                    </a:p>
                  </a:txBody>
                  <a:tcPr marL="75433" marR="75433" marT="37716" marB="37716"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b="1">
                          <a:solidFill>
                            <a:srgbClr val="252523"/>
                          </a:solidFill>
                          <a:effectLst/>
                        </a:rPr>
                        <a:t>Use Case</a:t>
                      </a:r>
                    </a:p>
                  </a:txBody>
                  <a:tcPr marL="75433" marR="75433" marT="37716" marB="37716"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b="1">
                          <a:solidFill>
                            <a:srgbClr val="252523"/>
                          </a:solidFill>
                          <a:effectLst/>
                        </a:rPr>
                        <a:t>Production Ready?</a:t>
                      </a:r>
                    </a:p>
                  </a:txBody>
                  <a:tcPr marL="75433" marR="75433" marT="37716" marB="37716"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305931"/>
                  </a:ext>
                </a:extLst>
              </a:tr>
              <a:tr h="33133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 b="1">
                          <a:solidFill>
                            <a:srgbClr val="2E2B29"/>
                          </a:solidFill>
                          <a:effectLst/>
                        </a:rPr>
                        <a:t>Console</a:t>
                      </a:r>
                      <a:endParaRPr lang="en-IN" sz="1500">
                        <a:effectLst/>
                      </a:endParaRP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>
                          <a:effectLst/>
                        </a:rPr>
                        <a:t>Debugging and testing logic.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No (it prints to the screen).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621974"/>
                  </a:ext>
                </a:extLst>
              </a:tr>
              <a:tr h="473339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 b="1">
                          <a:solidFill>
                            <a:srgbClr val="2E2B29"/>
                          </a:solidFill>
                          <a:effectLst/>
                        </a:rPr>
                        <a:t>File</a:t>
                      </a:r>
                      <a:endParaRPr lang="en-IN" sz="1500">
                        <a:effectLst/>
                      </a:endParaRP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Saving data to HDFS, S3, or local disk.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 b="1">
                          <a:solidFill>
                            <a:srgbClr val="2E2B29"/>
                          </a:solidFill>
                          <a:effectLst/>
                        </a:rPr>
                        <a:t>Yes</a:t>
                      </a:r>
                      <a:r>
                        <a:rPr lang="en-IN" sz="1500">
                          <a:effectLst/>
                        </a:rPr>
                        <a:t> (very common).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984170"/>
                  </a:ext>
                </a:extLst>
              </a:tr>
              <a:tr h="615341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 b="1">
                          <a:solidFill>
                            <a:srgbClr val="2E2B29"/>
                          </a:solidFill>
                          <a:effectLst/>
                        </a:rPr>
                        <a:t>Kafka</a:t>
                      </a:r>
                      <a:endParaRPr lang="en-IN" sz="1500">
                        <a:effectLst/>
                      </a:endParaRP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Sending data to another streaming service.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 b="1" dirty="0">
                          <a:solidFill>
                            <a:srgbClr val="2E2B29"/>
                          </a:solidFill>
                          <a:effectLst/>
                        </a:rPr>
                        <a:t>Yes</a:t>
                      </a:r>
                      <a:r>
                        <a:rPr lang="en-IN" sz="1500" dirty="0">
                          <a:effectLst/>
                        </a:rPr>
                        <a:t> (standard for pipelines).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33957"/>
                  </a:ext>
                </a:extLst>
              </a:tr>
              <a:tr h="473339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 b="1">
                          <a:solidFill>
                            <a:srgbClr val="2E2B29"/>
                          </a:solidFill>
                          <a:effectLst/>
                        </a:rPr>
                        <a:t>Memory</a:t>
                      </a:r>
                      <a:endParaRPr lang="en-IN" sz="1500">
                        <a:effectLst/>
                      </a:endParaRP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Interactive testing (view data with SQL).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>
                          <a:effectLst/>
                        </a:rPr>
                        <a:t>No (stored in RAM).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768695"/>
                  </a:ext>
                </a:extLst>
              </a:tr>
              <a:tr h="615341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 b="1">
                          <a:solidFill>
                            <a:srgbClr val="2E2B29"/>
                          </a:solidFill>
                          <a:effectLst/>
                        </a:rPr>
                        <a:t>ForeachBatch</a:t>
                      </a:r>
                      <a:endParaRPr lang="en-IN" sz="1500">
                        <a:effectLst/>
                      </a:endParaRP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Writing to Databases (Postgres, MongoDB, etc.)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500" b="1" dirty="0">
                          <a:solidFill>
                            <a:srgbClr val="2E2B29"/>
                          </a:solidFill>
                          <a:effectLst/>
                        </a:rPr>
                        <a:t>Yes</a:t>
                      </a:r>
                      <a:r>
                        <a:rPr lang="en-IN" sz="1500" dirty="0">
                          <a:effectLst/>
                        </a:rPr>
                        <a:t> (very flexible).</a:t>
                      </a:r>
                    </a:p>
                  </a:txBody>
                  <a:tcPr marL="75433" marR="75433" marT="37716" marB="3771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13312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28494225-3900-8312-261C-C007EC43E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1579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89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6D27EA-F383-654C-852A-CD84D85868E0}"/>
              </a:ext>
            </a:extLst>
          </p:cNvPr>
          <p:cNvSpPr txBox="1"/>
          <p:nvPr/>
        </p:nvSpPr>
        <p:spPr>
          <a:xfrm>
            <a:off x="228600" y="304800"/>
            <a:ext cx="8763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52523"/>
                </a:solidFill>
                <a:effectLst/>
                <a:latin typeface="monaSans"/>
              </a:rPr>
              <a:t>1. Console Sink (For Learning)</a:t>
            </a:r>
          </a:p>
          <a:p>
            <a:pPr algn="l"/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This is what students will use 90% of the time during your class. It prints the micro-batch results directly to the terminal.</a:t>
            </a:r>
          </a:p>
          <a:p>
            <a:pPr algn="l"/>
            <a:endParaRPr lang="en-US" b="1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2. File Sink (The Data Lake)</a:t>
            </a:r>
          </a:p>
          <a:p>
            <a:pPr algn="l"/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Stores the stream as physical files (Parquet, CSV, JSON).</a:t>
            </a:r>
          </a:p>
          <a:p>
            <a:pPr algn="l"/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Requirement: You must provide a </a:t>
            </a:r>
            <a:r>
              <a:rPr lang="en-US" b="0" i="0" dirty="0" err="1">
                <a:solidFill>
                  <a:srgbClr val="2E2B29"/>
                </a:solidFill>
                <a:effectLst/>
                <a:latin typeface="Inter"/>
              </a:rPr>
              <a:t>checkpointLocation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. If the stream stops, Spark uses this folder to remember which files it already wrote.</a:t>
            </a:r>
          </a:p>
          <a:p>
            <a:pPr algn="l"/>
            <a:endParaRPr lang="en-US" b="1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3. Kafka Sink</a:t>
            </a:r>
          </a:p>
          <a:p>
            <a:pPr algn="l"/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Used when Spark is just one step in a larger pipeline. It pushes the result back into a Kafka Topic.</a:t>
            </a:r>
          </a:p>
          <a:p>
            <a:pPr algn="l"/>
            <a:endParaRPr lang="en-US" b="1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4. Memory Sink (Interactive Debugging)</a:t>
            </a:r>
          </a:p>
          <a:p>
            <a:pPr algn="l"/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The data is stored in a temporary table in Spark's memory. You can then run standard SQL queries against it while the stream is running.</a:t>
            </a:r>
          </a:p>
          <a:p>
            <a:pPr algn="l"/>
            <a:endParaRPr lang="en-US" b="1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5. </a:t>
            </a:r>
            <a:r>
              <a:rPr lang="en-US" b="1" i="0" dirty="0" err="1">
                <a:solidFill>
                  <a:srgbClr val="2E2B29"/>
                </a:solidFill>
                <a:effectLst/>
                <a:latin typeface="Inter"/>
              </a:rPr>
              <a:t>ForeachBatch</a:t>
            </a:r>
            <a:r>
              <a:rPr lang="en-US" b="1" i="0" dirty="0">
                <a:solidFill>
                  <a:srgbClr val="2E2B29"/>
                </a:solidFill>
                <a:effectLst/>
                <a:latin typeface="Inter"/>
              </a:rPr>
              <a:t> Sink </a:t>
            </a:r>
          </a:p>
          <a:p>
            <a:pPr algn="l"/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Standard sinks only support specific formats (CSV, Kafka, etc.). If you want to write to a Database (JDBC) or a NoSQL store, you use </a:t>
            </a:r>
            <a:r>
              <a:rPr lang="en-US" b="0" i="0" dirty="0" err="1">
                <a:solidFill>
                  <a:srgbClr val="2E2B29"/>
                </a:solidFill>
                <a:effectLst/>
                <a:latin typeface="Inter"/>
              </a:rPr>
              <a:t>foreachBatch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. It gives you the micro-batch as a standard Batch </a:t>
            </a:r>
            <a:r>
              <a:rPr lang="en-US" b="0" i="0" dirty="0" err="1">
                <a:solidFill>
                  <a:srgbClr val="2E2B29"/>
                </a:solidFill>
                <a:effectLst/>
                <a:latin typeface="Inter"/>
              </a:rPr>
              <a:t>DataFrame</a:t>
            </a:r>
            <a:r>
              <a:rPr lang="en-US" b="0" i="0" dirty="0">
                <a:solidFill>
                  <a:srgbClr val="2E2B29"/>
                </a:solidFill>
                <a:effectLst/>
                <a:latin typeface="Inter"/>
              </a:rPr>
              <a:t>.</a:t>
            </a:r>
          </a:p>
          <a:p>
            <a:pPr algn="l"/>
            <a:endParaRPr lang="en-US" dirty="0">
              <a:solidFill>
                <a:srgbClr val="2E2B29"/>
              </a:solidFill>
              <a:latin typeface="Inter"/>
            </a:endParaRPr>
          </a:p>
          <a:p>
            <a:pPr algn="l"/>
            <a:endParaRPr lang="en-US" b="0" i="0" dirty="0">
              <a:solidFill>
                <a:srgbClr val="2E2B29"/>
              </a:solidFill>
              <a:effectLst/>
              <a:latin typeface="Inter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8494225-3900-8312-261C-C007EC43E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1579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521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6D27EA-F383-654C-852A-CD84D85868E0}"/>
              </a:ext>
            </a:extLst>
          </p:cNvPr>
          <p:cNvSpPr txBox="1"/>
          <p:nvPr/>
        </p:nvSpPr>
        <p:spPr>
          <a:xfrm>
            <a:off x="228600" y="304800"/>
            <a:ext cx="876300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2E2B29"/>
                </a:solidFill>
                <a:latin typeface="Inter"/>
              </a:rPr>
              <a:t>What is Checkpointing?</a:t>
            </a:r>
          </a:p>
          <a:p>
            <a:pPr algn="l"/>
            <a:r>
              <a:rPr lang="en-US" dirty="0">
                <a:solidFill>
                  <a:srgbClr val="2E2B29"/>
                </a:solidFill>
                <a:latin typeface="Inter"/>
              </a:rPr>
              <a:t>Imagine you are playing a video game. If you play for 5 hours and the power goes out, you don't want to start from Level 1 again. You want to start from your last Save Point.</a:t>
            </a:r>
          </a:p>
          <a:p>
            <a:pPr algn="l"/>
            <a:endParaRPr lang="en-US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dirty="0">
                <a:solidFill>
                  <a:srgbClr val="2E2B29"/>
                </a:solidFill>
                <a:latin typeface="Inter"/>
              </a:rPr>
              <a:t>Checkpointing is the "Save Point" for Spark. It saves the current progress of the stream to a reliable storage (like HDFS, S3, or Azure Blob Storage).</a:t>
            </a:r>
          </a:p>
          <a:p>
            <a:pPr algn="l"/>
            <a:endParaRPr lang="en-US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dirty="0">
                <a:solidFill>
                  <a:srgbClr val="2E2B29"/>
                </a:solidFill>
                <a:latin typeface="Inter"/>
              </a:rPr>
              <a:t>Why do we need it?</a:t>
            </a:r>
          </a:p>
          <a:p>
            <a:pPr algn="l"/>
            <a:r>
              <a:rPr lang="en-US" b="1" dirty="0">
                <a:solidFill>
                  <a:srgbClr val="2E2B29"/>
                </a:solidFill>
                <a:latin typeface="Inter"/>
              </a:rPr>
              <a:t>Fault Tolerance: </a:t>
            </a:r>
            <a:r>
              <a:rPr lang="en-US" dirty="0">
                <a:solidFill>
                  <a:srgbClr val="2E2B29"/>
                </a:solidFill>
                <a:latin typeface="Inter"/>
              </a:rPr>
              <a:t>If a server crashes or the Spark driver fails, Spark looks at the checkpoint to see where it left off.</a:t>
            </a:r>
          </a:p>
          <a:p>
            <a:pPr algn="l"/>
            <a:endParaRPr lang="en-US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b="1" dirty="0">
                <a:solidFill>
                  <a:srgbClr val="2E2B29"/>
                </a:solidFill>
                <a:latin typeface="Inter"/>
              </a:rPr>
              <a:t>State Persistence: </a:t>
            </a:r>
            <a:r>
              <a:rPr lang="en-US" dirty="0">
                <a:solidFill>
                  <a:srgbClr val="2E2B29"/>
                </a:solidFill>
                <a:latin typeface="Inter"/>
              </a:rPr>
              <a:t>If you are counting words (Aggregation), Spark needs to remember the counts. The checkpoint stores these intermediate numbers.</a:t>
            </a:r>
          </a:p>
          <a:p>
            <a:pPr algn="l"/>
            <a:endParaRPr lang="en-US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b="1" dirty="0">
                <a:solidFill>
                  <a:srgbClr val="2E2B29"/>
                </a:solidFill>
                <a:latin typeface="Inter"/>
              </a:rPr>
              <a:t>Preventing Duplicates: </a:t>
            </a:r>
            <a:r>
              <a:rPr lang="en-US" dirty="0">
                <a:solidFill>
                  <a:srgbClr val="2E2B29"/>
                </a:solidFill>
                <a:latin typeface="Inter"/>
              </a:rPr>
              <a:t>By knowing exactly which data was already processed, Spark avoids processing the same data twice upon restart.</a:t>
            </a:r>
          </a:p>
          <a:p>
            <a:pPr algn="l"/>
            <a:endParaRPr lang="en-US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dirty="0">
                <a:solidFill>
                  <a:srgbClr val="2E2B29"/>
                </a:solidFill>
                <a:latin typeface="Inter"/>
              </a:rPr>
              <a:t>When you provide a </a:t>
            </a:r>
            <a:r>
              <a:rPr lang="en-US" dirty="0" err="1">
                <a:solidFill>
                  <a:srgbClr val="2E2B29"/>
                </a:solidFill>
                <a:latin typeface="Inter"/>
              </a:rPr>
              <a:t>checkpointLocation</a:t>
            </a:r>
            <a:r>
              <a:rPr lang="en-US" dirty="0">
                <a:solidFill>
                  <a:srgbClr val="2E2B29"/>
                </a:solidFill>
                <a:latin typeface="Inter"/>
              </a:rPr>
              <a:t>, Spark creates a folder with these sub-folders:</a:t>
            </a:r>
          </a:p>
          <a:p>
            <a:pPr algn="l"/>
            <a:endParaRPr lang="en-US" dirty="0">
              <a:solidFill>
                <a:srgbClr val="2E2B29"/>
              </a:solidFill>
              <a:latin typeface="Inter"/>
            </a:endParaRPr>
          </a:p>
          <a:p>
            <a:pPr algn="l"/>
            <a:r>
              <a:rPr lang="en-US" sz="1600" b="1" dirty="0">
                <a:solidFill>
                  <a:srgbClr val="2E2B29"/>
                </a:solidFill>
                <a:latin typeface="Inter"/>
              </a:rPr>
              <a:t>/offsets</a:t>
            </a:r>
            <a:r>
              <a:rPr lang="en-US" sz="1600" dirty="0">
                <a:solidFill>
                  <a:srgbClr val="2E2B29"/>
                </a:solidFill>
                <a:latin typeface="Inter"/>
              </a:rPr>
              <a:t>: Records "How much data have I read from the source?" (e.g., I read up to line 500 in the CSV).</a:t>
            </a:r>
          </a:p>
          <a:p>
            <a:pPr algn="l"/>
            <a:r>
              <a:rPr lang="en-US" sz="1600" b="1" dirty="0">
                <a:solidFill>
                  <a:srgbClr val="2E2B29"/>
                </a:solidFill>
                <a:latin typeface="Inter"/>
              </a:rPr>
              <a:t>/commits: </a:t>
            </a:r>
            <a:r>
              <a:rPr lang="en-US" sz="1600" dirty="0">
                <a:solidFill>
                  <a:srgbClr val="2E2B29"/>
                </a:solidFill>
                <a:latin typeface="Inter"/>
              </a:rPr>
              <a:t>Records "I have successfully written this batch to the sink."</a:t>
            </a:r>
          </a:p>
          <a:p>
            <a:pPr algn="l"/>
            <a:r>
              <a:rPr lang="en-US" sz="1600" b="1" dirty="0">
                <a:solidFill>
                  <a:srgbClr val="2E2B29"/>
                </a:solidFill>
                <a:latin typeface="Inter"/>
              </a:rPr>
              <a:t>/state: Stores </a:t>
            </a:r>
            <a:r>
              <a:rPr lang="en-US" sz="1600" dirty="0">
                <a:solidFill>
                  <a:srgbClr val="2E2B29"/>
                </a:solidFill>
                <a:latin typeface="Inter"/>
              </a:rPr>
              <a:t>the actual data for aggregations (e.g., "Apple" count is 52).</a:t>
            </a:r>
          </a:p>
          <a:p>
            <a:pPr algn="l"/>
            <a:r>
              <a:rPr lang="en-US" sz="1600" b="1" dirty="0">
                <a:solidFill>
                  <a:srgbClr val="2E2B29"/>
                </a:solidFill>
                <a:latin typeface="Inter"/>
              </a:rPr>
              <a:t>/metadata: </a:t>
            </a:r>
            <a:r>
              <a:rPr lang="en-US" sz="1600" dirty="0">
                <a:solidFill>
                  <a:srgbClr val="2E2B29"/>
                </a:solidFill>
                <a:latin typeface="Inter"/>
              </a:rPr>
              <a:t>Stores the unique ID of the streaming query.</a:t>
            </a:r>
          </a:p>
          <a:p>
            <a:pPr algn="l"/>
            <a:endParaRPr lang="en-US" b="0" i="0" dirty="0">
              <a:solidFill>
                <a:srgbClr val="2E2B29"/>
              </a:solidFill>
              <a:effectLst/>
              <a:latin typeface="Inter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8494225-3900-8312-261C-C007EC43E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1579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965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1438</Words>
  <Application>Microsoft Office PowerPoint</Application>
  <PresentationFormat>On-screen Show (4:3)</PresentationFormat>
  <Paragraphs>153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baselGrotesk</vt:lpstr>
      <vt:lpstr>Calibri</vt:lpstr>
      <vt:lpstr>Inter</vt:lpstr>
      <vt:lpstr>monaSans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babjee reddy</dc:creator>
  <cp:lastModifiedBy>ponnamreddybabjee@outlook.com</cp:lastModifiedBy>
  <cp:revision>2</cp:revision>
  <dcterms:created xsi:type="dcterms:W3CDTF">2025-04-16T03:47:16Z</dcterms:created>
  <dcterms:modified xsi:type="dcterms:W3CDTF">2026-02-23T16:05:42Z</dcterms:modified>
</cp:coreProperties>
</file>